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52" d="100"/>
          <a:sy n="52" d="100"/>
        </p:scale>
        <p:origin x="8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0906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0.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3.svg"/><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6.svg"/><Relationship Id="rId4" Type="http://schemas.openxmlformats.org/officeDocument/2006/relationships/image" Target="../media/image25.sv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svg"/><Relationship Id="rId7" Type="http://schemas.openxmlformats.org/officeDocument/2006/relationships/image" Target="../media/image42.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 Id="rId9"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47.svg"/><Relationship Id="rId4" Type="http://schemas.openxmlformats.org/officeDocument/2006/relationships/image" Target="../media/image46.sv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91550" y="1596033"/>
            <a:ext cx="1104900" cy="1264146"/>
          </a:xfrm>
          <a:prstGeom prst="rect">
            <a:avLst/>
          </a:prstGeom>
        </p:spPr>
      </p:pic>
      <p:sp>
        <p:nvSpPr>
          <p:cNvPr id="3" name="Text 0"/>
          <p:cNvSpPr/>
          <p:nvPr/>
        </p:nvSpPr>
        <p:spPr>
          <a:xfrm>
            <a:off x="5164849" y="3088779"/>
            <a:ext cx="7958152" cy="323850"/>
          </a:xfrm>
          <a:prstGeom prst="rect">
            <a:avLst/>
          </a:prstGeom>
          <a:noFill/>
          <a:ln/>
        </p:spPr>
        <p:txBody>
          <a:bodyPr wrap="square" lIns="25400" tIns="25400" rIns="25400" bIns="25400" rtlCol="0" anchor="t">
            <a:normAutofit lnSpcReduction="10000"/>
          </a:bodyPr>
          <a:lstStyle/>
          <a:p>
            <a:pPr marL="0" indent="0" algn="ctr">
              <a:buNone/>
            </a:pPr>
            <a:r>
              <a:rPr lang="en-US" sz="1950" kern="0" spc="39" dirty="0">
                <a:solidFill>
                  <a:srgbClr val="1A1A1A"/>
                </a:solidFill>
                <a:latin typeface="Georgia" pitchFamily="34" charset="0"/>
                <a:ea typeface="Georgia" pitchFamily="34" charset="-122"/>
                <a:cs typeface="Georgia" pitchFamily="34" charset="-120"/>
              </a:rPr>
              <a:t>SVKM's NMIMS, School of Technology Management &amp; Engineering</a:t>
            </a:r>
            <a:endParaRPr lang="en-US" sz="1950" dirty="0"/>
          </a:p>
        </p:txBody>
      </p:sp>
      <p:sp>
        <p:nvSpPr>
          <p:cNvPr id="4" name="Text 1"/>
          <p:cNvSpPr/>
          <p:nvPr/>
        </p:nvSpPr>
        <p:spPr>
          <a:xfrm>
            <a:off x="7457621" y="3450729"/>
            <a:ext cx="3372609"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dirty="0">
                <a:solidFill>
                  <a:srgbClr val="4A4A4A"/>
                </a:solidFill>
                <a:latin typeface="Georgia" pitchFamily="34" charset="0"/>
                <a:ea typeface="Georgia" pitchFamily="34" charset="-122"/>
                <a:cs typeface="Georgia" pitchFamily="34" charset="-120"/>
              </a:rPr>
              <a:t>Department of Computer Science</a:t>
            </a:r>
            <a:endParaRPr lang="en-US" sz="1800" dirty="0"/>
          </a:p>
        </p:txBody>
      </p:sp>
      <p:sp>
        <p:nvSpPr>
          <p:cNvPr id="5" name="Shape 2"/>
          <p:cNvSpPr/>
          <p:nvPr/>
        </p:nvSpPr>
        <p:spPr>
          <a:xfrm>
            <a:off x="6129933" y="3974604"/>
            <a:ext cx="6028134" cy="876300"/>
          </a:xfrm>
          <a:prstGeom prst="rect">
            <a:avLst/>
          </a:prstGeom>
          <a:ln w="9525">
            <a:solidFill>
              <a:srgbClr val="7A1F2B"/>
            </a:solidFill>
            <a:prstDash val="solid"/>
          </a:ln>
        </p:spPr>
        <p:txBody>
          <a:bodyPr/>
          <a:lstStyle/>
          <a:p>
            <a:endParaRPr lang="en-US"/>
          </a:p>
        </p:txBody>
      </p:sp>
      <p:sp>
        <p:nvSpPr>
          <p:cNvPr id="6" name="Text 3"/>
          <p:cNvSpPr/>
          <p:nvPr/>
        </p:nvSpPr>
        <p:spPr>
          <a:xfrm>
            <a:off x="6258586" y="4069854"/>
            <a:ext cx="5770828" cy="295275"/>
          </a:xfrm>
          <a:prstGeom prst="rect">
            <a:avLst/>
          </a:prstGeom>
          <a:noFill/>
          <a:ln/>
        </p:spPr>
        <p:txBody>
          <a:bodyPr wrap="square" lIns="25400" tIns="25400" rIns="25400" bIns="25400" rtlCol="0" anchor="t">
            <a:normAutofit fontScale="85000" lnSpcReduction="10000"/>
          </a:bodyPr>
          <a:lstStyle/>
          <a:p>
            <a:pPr marL="0" indent="0" algn="ctr">
              <a:buNone/>
            </a:pPr>
            <a:r>
              <a:rPr lang="en-US" sz="1800" b="1" kern="0" spc="144" dirty="0">
                <a:solidFill>
                  <a:srgbClr val="7A1F2B"/>
                </a:solidFill>
                <a:latin typeface="Georgia" pitchFamily="34" charset="0"/>
                <a:ea typeface="Georgia" pitchFamily="34" charset="-122"/>
                <a:cs typeface="Georgia" pitchFamily="34" charset="-120"/>
              </a:rPr>
              <a:t>REVIEW 1 · TOPIC APPROVAL &amp; FEASIBILITY</a:t>
            </a:r>
            <a:endParaRPr lang="en-US" sz="1800" dirty="0"/>
          </a:p>
        </p:txBody>
      </p:sp>
      <p:sp>
        <p:nvSpPr>
          <p:cNvPr id="7" name="Text 4"/>
          <p:cNvSpPr/>
          <p:nvPr/>
        </p:nvSpPr>
        <p:spPr>
          <a:xfrm>
            <a:off x="8249975" y="4860429"/>
            <a:ext cx="1788051"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dirty="0">
                <a:solidFill>
                  <a:srgbClr val="555555"/>
                </a:solidFill>
                <a:latin typeface="Georgia" pitchFamily="34" charset="0"/>
                <a:ea typeface="Georgia" pitchFamily="34" charset="-122"/>
                <a:cs typeface="Georgia" pitchFamily="34" charset="-120"/>
              </a:rPr>
              <a:t>A Presentation on</a:t>
            </a:r>
            <a:endParaRPr lang="en-US" sz="1800" dirty="0"/>
          </a:p>
        </p:txBody>
      </p:sp>
      <p:sp>
        <p:nvSpPr>
          <p:cNvPr id="8" name="Text 5"/>
          <p:cNvSpPr/>
          <p:nvPr/>
        </p:nvSpPr>
        <p:spPr>
          <a:xfrm>
            <a:off x="6229594" y="5212854"/>
            <a:ext cx="5828812" cy="1144488"/>
          </a:xfrm>
          <a:prstGeom prst="rect">
            <a:avLst/>
          </a:prstGeom>
          <a:noFill/>
          <a:ln/>
        </p:spPr>
        <p:txBody>
          <a:bodyPr wrap="square" lIns="25400" tIns="25400" rIns="25400" bIns="25400" rtlCol="0" anchor="t">
            <a:normAutofit lnSpcReduction="10000"/>
          </a:bodyPr>
          <a:lstStyle/>
          <a:p>
            <a:pPr marL="0" indent="0" algn="ctr">
              <a:lnSpc>
                <a:spcPct val="116160"/>
              </a:lnSpc>
              <a:buNone/>
            </a:pPr>
            <a:r>
              <a:rPr lang="en-US" sz="3300" b="1" dirty="0">
                <a:solidFill>
                  <a:srgbClr val="1A1A1A"/>
                </a:solidFill>
                <a:latin typeface="Georgia" pitchFamily="34" charset="0"/>
                <a:ea typeface="Georgia" pitchFamily="34" charset="-122"/>
                <a:cs typeface="Georgia" pitchFamily="34" charset="-120"/>
              </a:rPr>
              <a:t>"Qmail: A Post-Quantum-Secure Email Platform"</a:t>
            </a:r>
            <a:endParaRPr lang="en-US" sz="3300" dirty="0"/>
          </a:p>
        </p:txBody>
      </p:sp>
      <p:sp>
        <p:nvSpPr>
          <p:cNvPr id="9" name="Shape 6"/>
          <p:cNvSpPr/>
          <p:nvPr/>
        </p:nvSpPr>
        <p:spPr>
          <a:xfrm>
            <a:off x="8839200" y="6719292"/>
            <a:ext cx="609600" cy="19050"/>
          </a:xfrm>
          <a:prstGeom prst="rect">
            <a:avLst/>
          </a:prstGeom>
          <a:solidFill>
            <a:srgbClr val="A89C8C"/>
          </a:solidFill>
          <a:ln/>
        </p:spPr>
        <p:txBody>
          <a:bodyPr/>
          <a:lstStyle/>
          <a:p>
            <a:endParaRPr lang="en-US"/>
          </a:p>
        </p:txBody>
      </p:sp>
      <p:sp>
        <p:nvSpPr>
          <p:cNvPr id="10" name="Text 7"/>
          <p:cNvSpPr/>
          <p:nvPr/>
        </p:nvSpPr>
        <p:spPr>
          <a:xfrm>
            <a:off x="8972401" y="7119342"/>
            <a:ext cx="343049"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dirty="0">
                <a:solidFill>
                  <a:srgbClr val="555555"/>
                </a:solidFill>
                <a:latin typeface="Georgia" pitchFamily="34" charset="0"/>
                <a:ea typeface="Georgia" pitchFamily="34" charset="-122"/>
                <a:cs typeface="Georgia" pitchFamily="34" charset="-120"/>
              </a:rPr>
              <a:t>By</a:t>
            </a:r>
            <a:endParaRPr lang="en-US" sz="1800" dirty="0"/>
          </a:p>
        </p:txBody>
      </p:sp>
      <p:sp>
        <p:nvSpPr>
          <p:cNvPr id="11" name="Text 8"/>
          <p:cNvSpPr/>
          <p:nvPr/>
        </p:nvSpPr>
        <p:spPr>
          <a:xfrm>
            <a:off x="6491890" y="7471767"/>
            <a:ext cx="5304071" cy="342900"/>
          </a:xfrm>
          <a:prstGeom prst="rect">
            <a:avLst/>
          </a:prstGeom>
          <a:noFill/>
          <a:ln/>
        </p:spPr>
        <p:txBody>
          <a:bodyPr wrap="square" lIns="25400" tIns="25400" rIns="25400" bIns="25400" rtlCol="0" anchor="t">
            <a:normAutofit lnSpcReduction="10000"/>
          </a:bodyPr>
          <a:lstStyle/>
          <a:p>
            <a:pPr marL="0" indent="0" algn="ctr">
              <a:buNone/>
            </a:pPr>
            <a:r>
              <a:rPr lang="en-US" sz="2100" dirty="0">
                <a:solidFill>
                  <a:srgbClr val="1A1A1A"/>
                </a:solidFill>
                <a:latin typeface="Georgia" pitchFamily="34" charset="0"/>
                <a:ea typeface="Georgia" pitchFamily="34" charset="-122"/>
                <a:cs typeface="Georgia" pitchFamily="34" charset="-120"/>
              </a:rPr>
              <a:t>Lavesh Patil · Om Dhangar · Kundan Patil</a:t>
            </a:r>
            <a:endParaRPr lang="en-US" sz="2100" dirty="0"/>
          </a:p>
        </p:txBody>
      </p:sp>
      <p:sp>
        <p:nvSpPr>
          <p:cNvPr id="12" name="Text 9"/>
          <p:cNvSpPr/>
          <p:nvPr/>
        </p:nvSpPr>
        <p:spPr>
          <a:xfrm>
            <a:off x="7995404" y="8157567"/>
            <a:ext cx="2297192"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dirty="0">
                <a:solidFill>
                  <a:srgbClr val="555555"/>
                </a:solidFill>
                <a:latin typeface="Georgia" pitchFamily="34" charset="0"/>
                <a:ea typeface="Georgia" pitchFamily="34" charset="-122"/>
                <a:cs typeface="Georgia" pitchFamily="34" charset="-120"/>
              </a:rPr>
              <a:t>Under the Guidance of</a:t>
            </a:r>
            <a:endParaRPr lang="en-US" sz="1800" dirty="0"/>
          </a:p>
        </p:txBody>
      </p:sp>
      <p:sp>
        <p:nvSpPr>
          <p:cNvPr id="13" name="Text 10"/>
          <p:cNvSpPr/>
          <p:nvPr/>
        </p:nvSpPr>
        <p:spPr>
          <a:xfrm>
            <a:off x="8354750" y="8490942"/>
            <a:ext cx="1578501" cy="295275"/>
          </a:xfrm>
          <a:prstGeom prst="rect">
            <a:avLst/>
          </a:prstGeom>
          <a:noFill/>
          <a:ln/>
        </p:spPr>
        <p:txBody>
          <a:bodyPr wrap="square" lIns="25400" tIns="25400" rIns="25400" bIns="25400" rtlCol="0" anchor="t">
            <a:normAutofit fontScale="85000" lnSpcReduction="10000"/>
          </a:bodyPr>
          <a:lstStyle/>
          <a:p>
            <a:pPr marL="0" indent="0" algn="ctr">
              <a:buNone/>
            </a:pPr>
            <a:r>
              <a:rPr lang="en-US" sz="1800" b="1" dirty="0">
                <a:solidFill>
                  <a:srgbClr val="1A1A1A"/>
                </a:solidFill>
                <a:latin typeface="Georgia" pitchFamily="34" charset="0"/>
                <a:ea typeface="Georgia" pitchFamily="34" charset="-122"/>
                <a:cs typeface="Georgia" pitchFamily="34" charset="-120"/>
              </a:rPr>
              <a:t>[Guide Name]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625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02</a:t>
            </a:r>
            <a:endParaRPr lang="en-US" sz="1800" dirty="0"/>
          </a:p>
        </p:txBody>
      </p:sp>
      <p:sp>
        <p:nvSpPr>
          <p:cNvPr id="3" name="Text 1"/>
          <p:cNvSpPr/>
          <p:nvPr/>
        </p:nvSpPr>
        <p:spPr>
          <a:xfrm>
            <a:off x="1429345" y="476250"/>
            <a:ext cx="161926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OBJECTIVE</a:t>
            </a:r>
            <a:endParaRPr lang="en-US" sz="1800" dirty="0"/>
          </a:p>
        </p:txBody>
      </p:sp>
      <p:sp>
        <p:nvSpPr>
          <p:cNvPr id="4" name="Shape 2"/>
          <p:cNvSpPr/>
          <p:nvPr/>
        </p:nvSpPr>
        <p:spPr>
          <a:xfrm>
            <a:off x="3053804" y="600075"/>
            <a:ext cx="14243596" cy="9525"/>
          </a:xfrm>
          <a:prstGeom prst="rect">
            <a:avLst/>
          </a:prstGeom>
          <a:solidFill>
            <a:srgbClr val="A89C8C"/>
          </a:solidFill>
          <a:ln/>
        </p:spPr>
        <p:txBody>
          <a:bodyPr/>
          <a:lstStyle/>
          <a:p>
            <a:endParaRPr lang="en-US"/>
          </a:p>
        </p:txBody>
      </p:sp>
      <p:sp>
        <p:nvSpPr>
          <p:cNvPr id="5" name="Text 3"/>
          <p:cNvSpPr/>
          <p:nvPr/>
        </p:nvSpPr>
        <p:spPr>
          <a:xfrm>
            <a:off x="990600" y="942975"/>
            <a:ext cx="7395314" cy="6096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Objective of the Project</a:t>
            </a:r>
            <a:endParaRPr lang="en-US" sz="3750" dirty="0"/>
          </a:p>
        </p:txBody>
      </p:sp>
      <p:sp>
        <p:nvSpPr>
          <p:cNvPr id="6" name="Text 4"/>
          <p:cNvSpPr/>
          <p:nvPr/>
        </p:nvSpPr>
        <p:spPr>
          <a:xfrm>
            <a:off x="990600" y="1647825"/>
            <a:ext cx="14441424" cy="32385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2400" dirty="0">
                <a:solidFill>
                  <a:srgbClr val="333333"/>
                </a:solidFill>
                <a:latin typeface="Georgia" pitchFamily="34" charset="0"/>
                <a:ea typeface="Georgia" pitchFamily="34" charset="-122"/>
                <a:cs typeface="Georgia" pitchFamily="34" charset="-120"/>
              </a:rPr>
              <a:t>Every email sent today is locked with a kind of math no ordinary computer can break. A new kind of computer is being built that might change that. If it succeeds, it will not just read tomorrow's email, it could reach back and read anything encrypted the old way, including messages sent years before that computer existed. Qmail's objective for this review is to build a working email app, one you can actually register on and send real mail with, that locks every message using a newer kind of math instead, one that this new kind of computer does not currently have a way through. It runs entirely on free and open tools, so the build itself is something anyone in this room could check.</a:t>
            </a:r>
            <a:endParaRPr lang="en-US" sz="2400" dirty="0"/>
          </a:p>
        </p:txBody>
      </p:sp>
      <p:sp>
        <p:nvSpPr>
          <p:cNvPr id="7" name="Shape 5"/>
          <p:cNvSpPr/>
          <p:nvPr/>
        </p:nvSpPr>
        <p:spPr>
          <a:xfrm>
            <a:off x="990600" y="5419725"/>
            <a:ext cx="5079950" cy="19050"/>
          </a:xfrm>
          <a:prstGeom prst="rect">
            <a:avLst/>
          </a:prstGeom>
          <a:solidFill>
            <a:srgbClr val="A89C8C"/>
          </a:solidFill>
          <a:ln/>
        </p:spPr>
        <p:txBody>
          <a:bodyPr/>
          <a:lstStyle/>
          <a:p>
            <a:endParaRPr lang="en-US"/>
          </a:p>
        </p:txBody>
      </p:sp>
      <p:sp>
        <p:nvSpPr>
          <p:cNvPr id="8" name="Shape 6"/>
          <p:cNvSpPr/>
          <p:nvPr/>
        </p:nvSpPr>
        <p:spPr>
          <a:xfrm>
            <a:off x="990600" y="5762625"/>
            <a:ext cx="647700" cy="647700"/>
          </a:xfrm>
          <a:prstGeom prst="ellipse">
            <a:avLst/>
          </a:prstGeom>
          <a:ln w="19050">
            <a:solidFill>
              <a:srgbClr val="7A1F2B"/>
            </a:solidFill>
            <a:prstDash val="solid"/>
          </a:ln>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81100" y="5953125"/>
            <a:ext cx="266700" cy="266700"/>
          </a:xfrm>
          <a:prstGeom prst="rect">
            <a:avLst/>
          </a:prstGeom>
        </p:spPr>
      </p:pic>
      <p:sp>
        <p:nvSpPr>
          <p:cNvPr id="10" name="Text 7"/>
          <p:cNvSpPr/>
          <p:nvPr/>
        </p:nvSpPr>
        <p:spPr>
          <a:xfrm>
            <a:off x="990600" y="6638925"/>
            <a:ext cx="5587945"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A1A1A"/>
                </a:solidFill>
                <a:latin typeface="Georgia" pitchFamily="34" charset="0"/>
                <a:ea typeface="Georgia" pitchFamily="34" charset="-122"/>
                <a:cs typeface="Georgia" pitchFamily="34" charset="-120"/>
              </a:rPr>
              <a:t>Identity issuance</a:t>
            </a:r>
            <a:endParaRPr lang="en-US" sz="2025" dirty="0"/>
          </a:p>
        </p:txBody>
      </p:sp>
      <p:sp>
        <p:nvSpPr>
          <p:cNvPr id="11" name="Text 8"/>
          <p:cNvSpPr/>
          <p:nvPr/>
        </p:nvSpPr>
        <p:spPr>
          <a:xfrm>
            <a:off x="990600" y="7162800"/>
            <a:ext cx="5232349" cy="1109663"/>
          </a:xfrm>
          <a:prstGeom prst="rect">
            <a:avLst/>
          </a:prstGeom>
          <a:noFill/>
          <a:ln/>
        </p:spPr>
        <p:txBody>
          <a:bodyPr wrap="square" lIns="25400" tIns="25400" rIns="25400" bIns="25400" rtlCol="0" anchor="t">
            <a:normAutofit fontScale="92500"/>
          </a:bodyPr>
          <a:lstStyle/>
          <a:p>
            <a:pPr marL="0" indent="0" algn="l">
              <a:lnSpc>
                <a:spcPct val="133929"/>
              </a:lnSpc>
              <a:buNone/>
            </a:pPr>
            <a:r>
              <a:rPr lang="en-US" sz="1875" dirty="0">
                <a:solidFill>
                  <a:srgbClr val="3A3A3A"/>
                </a:solidFill>
                <a:latin typeface="Georgia" pitchFamily="34" charset="0"/>
                <a:ea typeface="Georgia" pitchFamily="34" charset="-122"/>
                <a:cs typeface="Georgia" pitchFamily="34" charset="-120"/>
              </a:rPr>
              <a:t>When someone creates a new account, Qmail instantly generates their secret security keys behind the scenes, with no separate setup step needed.</a:t>
            </a:r>
            <a:endParaRPr lang="en-US" sz="1875" dirty="0"/>
          </a:p>
        </p:txBody>
      </p:sp>
      <p:sp>
        <p:nvSpPr>
          <p:cNvPr id="12" name="Shape 9"/>
          <p:cNvSpPr/>
          <p:nvPr/>
        </p:nvSpPr>
        <p:spPr>
          <a:xfrm>
            <a:off x="6603950" y="5419725"/>
            <a:ext cx="5079950" cy="19050"/>
          </a:xfrm>
          <a:prstGeom prst="rect">
            <a:avLst/>
          </a:prstGeom>
          <a:solidFill>
            <a:srgbClr val="A89C8C"/>
          </a:solidFill>
          <a:ln/>
        </p:spPr>
        <p:txBody>
          <a:bodyPr/>
          <a:lstStyle/>
          <a:p>
            <a:endParaRPr lang="en-US"/>
          </a:p>
        </p:txBody>
      </p:sp>
      <p:sp>
        <p:nvSpPr>
          <p:cNvPr id="13" name="Shape 10"/>
          <p:cNvSpPr/>
          <p:nvPr/>
        </p:nvSpPr>
        <p:spPr>
          <a:xfrm>
            <a:off x="6603950" y="5762625"/>
            <a:ext cx="647700" cy="647700"/>
          </a:xfrm>
          <a:prstGeom prst="ellipse">
            <a:avLst/>
          </a:prstGeom>
          <a:ln w="19050">
            <a:solidFill>
              <a:srgbClr val="7A1F2B"/>
            </a:solidFill>
            <a:prstDash val="solid"/>
          </a:ln>
        </p:spPr>
        <p:txBody>
          <a:bodyPr/>
          <a:lstStyle/>
          <a:p>
            <a:endParaRPr lang="en-US"/>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94450" y="5953125"/>
            <a:ext cx="266700" cy="266700"/>
          </a:xfrm>
          <a:prstGeom prst="rect">
            <a:avLst/>
          </a:prstGeom>
        </p:spPr>
      </p:pic>
      <p:sp>
        <p:nvSpPr>
          <p:cNvPr id="15" name="Text 11"/>
          <p:cNvSpPr/>
          <p:nvPr/>
        </p:nvSpPr>
        <p:spPr>
          <a:xfrm>
            <a:off x="6603950" y="6638925"/>
            <a:ext cx="5587945"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A1A1A"/>
                </a:solidFill>
                <a:latin typeface="Georgia" pitchFamily="34" charset="0"/>
                <a:ea typeface="Georgia" pitchFamily="34" charset="-122"/>
                <a:cs typeface="Georgia" pitchFamily="34" charset="-120"/>
              </a:rPr>
              <a:t>Compose, send, receive</a:t>
            </a:r>
            <a:endParaRPr lang="en-US" sz="2025" dirty="0"/>
          </a:p>
        </p:txBody>
      </p:sp>
      <p:sp>
        <p:nvSpPr>
          <p:cNvPr id="16" name="Text 12"/>
          <p:cNvSpPr/>
          <p:nvPr/>
        </p:nvSpPr>
        <p:spPr>
          <a:xfrm>
            <a:off x="6603950" y="7162800"/>
            <a:ext cx="5232349" cy="1109663"/>
          </a:xfrm>
          <a:prstGeom prst="rect">
            <a:avLst/>
          </a:prstGeom>
          <a:noFill/>
          <a:ln/>
        </p:spPr>
        <p:txBody>
          <a:bodyPr wrap="square" lIns="25400" tIns="25400" rIns="25400" bIns="25400" rtlCol="0" anchor="t">
            <a:normAutofit fontScale="92500"/>
          </a:bodyPr>
          <a:lstStyle/>
          <a:p>
            <a:pPr marL="0" indent="0" algn="l">
              <a:lnSpc>
                <a:spcPct val="133929"/>
              </a:lnSpc>
              <a:buNone/>
            </a:pPr>
            <a:r>
              <a:rPr lang="en-US" sz="1875" dirty="0">
                <a:solidFill>
                  <a:srgbClr val="3A3A3A"/>
                </a:solidFill>
                <a:latin typeface="Georgia" pitchFamily="34" charset="0"/>
                <a:ea typeface="Georgia" pitchFamily="34" charset="-122"/>
                <a:cs typeface="Georgia" pitchFamily="34" charset="-120"/>
              </a:rPr>
              <a:t>Every message is automatically locked (encrypted) and signed for authenticity. The user just writes an email; Qmail handles all the security invisibly.</a:t>
            </a:r>
            <a:endParaRPr lang="en-US" sz="1875" dirty="0"/>
          </a:p>
        </p:txBody>
      </p:sp>
      <p:sp>
        <p:nvSpPr>
          <p:cNvPr id="17" name="Shape 13"/>
          <p:cNvSpPr/>
          <p:nvPr/>
        </p:nvSpPr>
        <p:spPr>
          <a:xfrm>
            <a:off x="12217301" y="5419725"/>
            <a:ext cx="5079950" cy="19050"/>
          </a:xfrm>
          <a:prstGeom prst="rect">
            <a:avLst/>
          </a:prstGeom>
          <a:solidFill>
            <a:srgbClr val="A89C8C"/>
          </a:solidFill>
          <a:ln/>
        </p:spPr>
        <p:txBody>
          <a:bodyPr/>
          <a:lstStyle/>
          <a:p>
            <a:endParaRPr lang="en-US"/>
          </a:p>
        </p:txBody>
      </p:sp>
      <p:sp>
        <p:nvSpPr>
          <p:cNvPr id="18" name="Shape 14"/>
          <p:cNvSpPr/>
          <p:nvPr/>
        </p:nvSpPr>
        <p:spPr>
          <a:xfrm>
            <a:off x="12217301" y="5762625"/>
            <a:ext cx="647700" cy="647700"/>
          </a:xfrm>
          <a:prstGeom prst="ellipse">
            <a:avLst/>
          </a:prstGeom>
          <a:ln w="19050">
            <a:solidFill>
              <a:srgbClr val="7A1F2B"/>
            </a:solidFill>
            <a:prstDash val="solid"/>
          </a:ln>
        </p:spPr>
        <p:txBody>
          <a:bodyPr/>
          <a:lstStyle/>
          <a:p>
            <a:endParaRPr lang="en-US"/>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407801" y="5953125"/>
            <a:ext cx="266700" cy="266700"/>
          </a:xfrm>
          <a:prstGeom prst="rect">
            <a:avLst/>
          </a:prstGeom>
        </p:spPr>
      </p:pic>
      <p:sp>
        <p:nvSpPr>
          <p:cNvPr id="20" name="Text 15"/>
          <p:cNvSpPr/>
          <p:nvPr/>
        </p:nvSpPr>
        <p:spPr>
          <a:xfrm>
            <a:off x="12217301" y="6638925"/>
            <a:ext cx="5587945"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A1A1A"/>
                </a:solidFill>
                <a:latin typeface="Georgia" pitchFamily="34" charset="0"/>
                <a:ea typeface="Georgia" pitchFamily="34" charset="-122"/>
                <a:cs typeface="Georgia" pitchFamily="34" charset="-120"/>
              </a:rPr>
              <a:t>On-device key management</a:t>
            </a:r>
            <a:endParaRPr lang="en-US" sz="2025" dirty="0"/>
          </a:p>
        </p:txBody>
      </p:sp>
      <p:sp>
        <p:nvSpPr>
          <p:cNvPr id="21" name="Text 16"/>
          <p:cNvSpPr/>
          <p:nvPr/>
        </p:nvSpPr>
        <p:spPr>
          <a:xfrm>
            <a:off x="12217301" y="7162800"/>
            <a:ext cx="5232349" cy="1109663"/>
          </a:xfrm>
          <a:prstGeom prst="rect">
            <a:avLst/>
          </a:prstGeom>
          <a:noFill/>
          <a:ln/>
        </p:spPr>
        <p:txBody>
          <a:bodyPr wrap="square" lIns="25400" tIns="25400" rIns="25400" bIns="25400" rtlCol="0" anchor="t">
            <a:normAutofit fontScale="92500"/>
          </a:bodyPr>
          <a:lstStyle/>
          <a:p>
            <a:pPr marL="0" indent="0" algn="l">
              <a:lnSpc>
                <a:spcPct val="133929"/>
              </a:lnSpc>
              <a:buNone/>
            </a:pPr>
            <a:r>
              <a:rPr lang="en-US" sz="1875" dirty="0">
                <a:solidFill>
                  <a:srgbClr val="3A3A3A"/>
                </a:solidFill>
                <a:latin typeface="Georgia" pitchFamily="34" charset="0"/>
                <a:ea typeface="Georgia" pitchFamily="34" charset="-122"/>
                <a:cs typeface="Georgia" pitchFamily="34" charset="-120"/>
              </a:rPr>
              <a:t>Keys are created, stored, and used entirely on the user's own device, with no manual exchange step. Private keys never leave the device that made them.</a:t>
            </a:r>
            <a:endParaRPr lang="en-US" sz="1875" dirty="0"/>
          </a:p>
        </p:txBody>
      </p:sp>
      <p:sp>
        <p:nvSpPr>
          <p:cNvPr id="22" name="Shape 17"/>
          <p:cNvSpPr/>
          <p:nvPr/>
        </p:nvSpPr>
        <p:spPr>
          <a:xfrm>
            <a:off x="990600" y="8653463"/>
            <a:ext cx="16306800" cy="19050"/>
          </a:xfrm>
          <a:prstGeom prst="rect">
            <a:avLst/>
          </a:prstGeom>
          <a:solidFill>
            <a:srgbClr val="A89C8C"/>
          </a:solidFill>
          <a:ln/>
        </p:spPr>
        <p:txBody>
          <a:bodyPr/>
          <a:lstStyle/>
          <a:p>
            <a:endParaRPr lang="en-US"/>
          </a:p>
        </p:txBody>
      </p:sp>
      <p:sp>
        <p:nvSpPr>
          <p:cNvPr id="23" name="Shape 18"/>
          <p:cNvSpPr/>
          <p:nvPr/>
        </p:nvSpPr>
        <p:spPr>
          <a:xfrm>
            <a:off x="2609850" y="8958263"/>
            <a:ext cx="552450" cy="552450"/>
          </a:xfrm>
          <a:prstGeom prst="ellipse">
            <a:avLst/>
          </a:prstGeom>
          <a:ln w="19050">
            <a:solidFill>
              <a:srgbClr val="7A1F2B"/>
            </a:solidFill>
            <a:prstDash val="solid"/>
          </a:ln>
        </p:spPr>
        <p:txBody>
          <a:bodyPr/>
          <a:lstStyle/>
          <a:p>
            <a:endParaRPr lang="en-US"/>
          </a:p>
        </p:txBody>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71775" y="9120188"/>
            <a:ext cx="228600" cy="228600"/>
          </a:xfrm>
          <a:prstGeom prst="rect">
            <a:avLst/>
          </a:prstGeom>
        </p:spPr>
      </p:pic>
      <p:sp>
        <p:nvSpPr>
          <p:cNvPr id="25" name="Text 19"/>
          <p:cNvSpPr/>
          <p:nvPr/>
        </p:nvSpPr>
        <p:spPr>
          <a:xfrm>
            <a:off x="2429768" y="9625013"/>
            <a:ext cx="912465" cy="295275"/>
          </a:xfrm>
          <a:prstGeom prst="rect">
            <a:avLst/>
          </a:prstGeom>
          <a:noFill/>
          <a:ln/>
        </p:spPr>
        <p:txBody>
          <a:bodyPr wrap="square" lIns="25400" tIns="25400" rIns="25400" bIns="25400" rtlCol="0" anchor="t">
            <a:normAutofit fontScale="85000" lnSpcReduction="10000"/>
          </a:bodyPr>
          <a:lstStyle/>
          <a:p>
            <a:pPr marL="0" indent="0" algn="ctr">
              <a:buNone/>
            </a:pPr>
            <a:r>
              <a:rPr lang="en-US" sz="1800" b="1" dirty="0">
                <a:solidFill>
                  <a:srgbClr val="1A1A1A"/>
                </a:solidFill>
                <a:latin typeface="Georgia" pitchFamily="34" charset="0"/>
                <a:ea typeface="Georgia" pitchFamily="34" charset="-122"/>
                <a:cs typeface="Georgia" pitchFamily="34" charset="-120"/>
              </a:rPr>
              <a:t>Register</a:t>
            </a:r>
            <a:endParaRPr lang="en-US" sz="1800" dirty="0"/>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67275" y="9263063"/>
            <a:ext cx="209550" cy="209550"/>
          </a:xfrm>
          <a:prstGeom prst="rect">
            <a:avLst/>
          </a:prstGeom>
        </p:spPr>
      </p:pic>
      <p:sp>
        <p:nvSpPr>
          <p:cNvPr id="27" name="Shape 20"/>
          <p:cNvSpPr/>
          <p:nvPr/>
        </p:nvSpPr>
        <p:spPr>
          <a:xfrm>
            <a:off x="6781800" y="8958263"/>
            <a:ext cx="552450" cy="552450"/>
          </a:xfrm>
          <a:prstGeom prst="ellipse">
            <a:avLst/>
          </a:prstGeom>
          <a:ln w="19050">
            <a:solidFill>
              <a:srgbClr val="7A1F2B"/>
            </a:solidFill>
            <a:prstDash val="solid"/>
          </a:ln>
        </p:spPr>
        <p:txBody>
          <a:bodyPr/>
          <a:lstStyle/>
          <a:p>
            <a:endParaRPr lang="en-US"/>
          </a:p>
        </p:txBody>
      </p:sp>
      <p:pic>
        <p:nvPicPr>
          <p:cNvPr id="2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43725" y="9120188"/>
            <a:ext cx="228600" cy="228600"/>
          </a:xfrm>
          <a:prstGeom prst="rect">
            <a:avLst/>
          </a:prstGeom>
        </p:spPr>
      </p:pic>
      <p:sp>
        <p:nvSpPr>
          <p:cNvPr id="29" name="Text 21"/>
          <p:cNvSpPr/>
          <p:nvPr/>
        </p:nvSpPr>
        <p:spPr>
          <a:xfrm>
            <a:off x="6552605" y="9625013"/>
            <a:ext cx="1010692" cy="295275"/>
          </a:xfrm>
          <a:prstGeom prst="rect">
            <a:avLst/>
          </a:prstGeom>
          <a:noFill/>
          <a:ln/>
        </p:spPr>
        <p:txBody>
          <a:bodyPr wrap="square" lIns="25400" tIns="25400" rIns="25400" bIns="25400" rtlCol="0" anchor="t">
            <a:normAutofit fontScale="85000" lnSpcReduction="10000"/>
          </a:bodyPr>
          <a:lstStyle/>
          <a:p>
            <a:pPr marL="0" indent="0" algn="ctr">
              <a:buNone/>
            </a:pPr>
            <a:r>
              <a:rPr lang="en-US" sz="1800" b="1" dirty="0">
                <a:solidFill>
                  <a:srgbClr val="1A1A1A"/>
                </a:solidFill>
                <a:latin typeface="Georgia" pitchFamily="34" charset="0"/>
                <a:ea typeface="Georgia" pitchFamily="34" charset="-122"/>
                <a:cs typeface="Georgia" pitchFamily="34" charset="-120"/>
              </a:rPr>
              <a:t>Compose</a:t>
            </a:r>
            <a:endParaRPr lang="en-US" sz="1800" dirty="0"/>
          </a:p>
        </p:txBody>
      </p:sp>
      <p:pic>
        <p:nvPicPr>
          <p:cNvPr id="30"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039225" y="9263063"/>
            <a:ext cx="209550" cy="209550"/>
          </a:xfrm>
          <a:prstGeom prst="rect">
            <a:avLst/>
          </a:prstGeom>
        </p:spPr>
      </p:pic>
      <p:sp>
        <p:nvSpPr>
          <p:cNvPr id="31" name="Shape 22"/>
          <p:cNvSpPr/>
          <p:nvPr/>
        </p:nvSpPr>
        <p:spPr>
          <a:xfrm>
            <a:off x="10953750" y="8958263"/>
            <a:ext cx="552450" cy="552450"/>
          </a:xfrm>
          <a:prstGeom prst="ellipse">
            <a:avLst/>
          </a:prstGeom>
          <a:ln w="19050">
            <a:solidFill>
              <a:srgbClr val="7A1F2B"/>
            </a:solidFill>
            <a:prstDash val="solid"/>
          </a:ln>
        </p:spPr>
        <p:txBody>
          <a:bodyPr/>
          <a:lstStyle/>
          <a:p>
            <a:endParaRPr lang="en-US"/>
          </a:p>
        </p:txBody>
      </p:sp>
      <p:pic>
        <p:nvPicPr>
          <p:cNvPr id="32"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115675" y="9120188"/>
            <a:ext cx="228600" cy="228600"/>
          </a:xfrm>
          <a:prstGeom prst="rect">
            <a:avLst/>
          </a:prstGeom>
        </p:spPr>
      </p:pic>
      <p:sp>
        <p:nvSpPr>
          <p:cNvPr id="33" name="Text 23"/>
          <p:cNvSpPr/>
          <p:nvPr/>
        </p:nvSpPr>
        <p:spPr>
          <a:xfrm>
            <a:off x="10392102" y="9625013"/>
            <a:ext cx="1675745" cy="295275"/>
          </a:xfrm>
          <a:prstGeom prst="rect">
            <a:avLst/>
          </a:prstGeom>
          <a:noFill/>
          <a:ln/>
        </p:spPr>
        <p:txBody>
          <a:bodyPr wrap="square" lIns="25400" tIns="25400" rIns="25400" bIns="25400" rtlCol="0" anchor="t">
            <a:normAutofit fontScale="85000" lnSpcReduction="10000"/>
          </a:bodyPr>
          <a:lstStyle/>
          <a:p>
            <a:pPr marL="0" indent="0" algn="ctr">
              <a:buNone/>
            </a:pPr>
            <a:r>
              <a:rPr lang="en-US" sz="1800" b="1" dirty="0">
                <a:solidFill>
                  <a:srgbClr val="1A1A1A"/>
                </a:solidFill>
                <a:latin typeface="Georgia" pitchFamily="34" charset="0"/>
                <a:ea typeface="Georgia" pitchFamily="34" charset="-122"/>
                <a:cs typeface="Georgia" pitchFamily="34" charset="-120"/>
              </a:rPr>
              <a:t>Encrypt &amp; Sign</a:t>
            </a:r>
            <a:endParaRPr lang="en-US" sz="1800" dirty="0"/>
          </a:p>
        </p:txBody>
      </p:sp>
      <p:pic>
        <p:nvPicPr>
          <p:cNvPr id="34"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211175" y="9263063"/>
            <a:ext cx="209550" cy="209550"/>
          </a:xfrm>
          <a:prstGeom prst="rect">
            <a:avLst/>
          </a:prstGeom>
        </p:spPr>
      </p:pic>
      <p:sp>
        <p:nvSpPr>
          <p:cNvPr id="35" name="Shape 24"/>
          <p:cNvSpPr/>
          <p:nvPr/>
        </p:nvSpPr>
        <p:spPr>
          <a:xfrm>
            <a:off x="15125700" y="8958263"/>
            <a:ext cx="552450" cy="552450"/>
          </a:xfrm>
          <a:prstGeom prst="ellipse">
            <a:avLst/>
          </a:prstGeom>
          <a:ln w="19050">
            <a:solidFill>
              <a:srgbClr val="7A1F2B"/>
            </a:solidFill>
            <a:prstDash val="solid"/>
          </a:ln>
        </p:spPr>
        <p:txBody>
          <a:bodyPr/>
          <a:lstStyle/>
          <a:p>
            <a:endParaRPr lang="en-US"/>
          </a:p>
        </p:txBody>
      </p:sp>
      <p:pic>
        <p:nvPicPr>
          <p:cNvPr id="36"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287625" y="9120188"/>
            <a:ext cx="228600" cy="228600"/>
          </a:xfrm>
          <a:prstGeom prst="rect">
            <a:avLst/>
          </a:prstGeom>
        </p:spPr>
      </p:pic>
      <p:sp>
        <p:nvSpPr>
          <p:cNvPr id="37" name="Text 25"/>
          <p:cNvSpPr/>
          <p:nvPr/>
        </p:nvSpPr>
        <p:spPr>
          <a:xfrm>
            <a:off x="14513637" y="9625013"/>
            <a:ext cx="1776427" cy="295275"/>
          </a:xfrm>
          <a:prstGeom prst="rect">
            <a:avLst/>
          </a:prstGeom>
          <a:noFill/>
          <a:ln/>
        </p:spPr>
        <p:txBody>
          <a:bodyPr wrap="square" lIns="25400" tIns="25400" rIns="25400" bIns="25400" rtlCol="0" anchor="t">
            <a:normAutofit fontScale="85000" lnSpcReduction="10000"/>
          </a:bodyPr>
          <a:lstStyle/>
          <a:p>
            <a:pPr marL="0" indent="0" algn="ctr">
              <a:buNone/>
            </a:pPr>
            <a:r>
              <a:rPr lang="en-US" sz="1800" b="1" dirty="0">
                <a:solidFill>
                  <a:srgbClr val="1A1A1A"/>
                </a:solidFill>
                <a:latin typeface="Georgia" pitchFamily="34" charset="0"/>
                <a:ea typeface="Georgia" pitchFamily="34" charset="-122"/>
                <a:cs typeface="Georgia" pitchFamily="34" charset="-120"/>
              </a:rPr>
              <a:t>Deliver &amp; Verify</a:t>
            </a:r>
            <a:endParaRPr lang="en-US" sz="1800" dirty="0"/>
          </a:p>
        </p:txBody>
      </p:sp>
      <p:pic>
        <p:nvPicPr>
          <p:cNvPr id="38" name="Image 10" descr="preencoded.png"/>
          <p:cNvPicPr>
            <a:picLocks noChangeAspect="1"/>
          </p:cNvPicPr>
          <p:nvPr/>
        </p:nvPicPr>
        <p:blipFill>
          <a:blip r:embed="rId13"/>
          <a:stretch>
            <a:fillRect/>
          </a:stretch>
        </p:blipFill>
        <p:spPr>
          <a:xfrm>
            <a:off x="17183100" y="9801225"/>
            <a:ext cx="114300" cy="2571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61057"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03</a:t>
            </a:r>
            <a:endParaRPr lang="en-US" sz="1800" dirty="0"/>
          </a:p>
        </p:txBody>
      </p:sp>
      <p:sp>
        <p:nvSpPr>
          <p:cNvPr id="3" name="Text 1"/>
          <p:cNvSpPr/>
          <p:nvPr/>
        </p:nvSpPr>
        <p:spPr>
          <a:xfrm>
            <a:off x="1427857" y="476250"/>
            <a:ext cx="3083659"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LITERATURE SURVEY</a:t>
            </a:r>
            <a:endParaRPr lang="en-US" sz="1800" dirty="0"/>
          </a:p>
        </p:txBody>
      </p:sp>
      <p:sp>
        <p:nvSpPr>
          <p:cNvPr id="4" name="Shape 2"/>
          <p:cNvSpPr/>
          <p:nvPr/>
        </p:nvSpPr>
        <p:spPr>
          <a:xfrm>
            <a:off x="4383584" y="600075"/>
            <a:ext cx="12913816"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The Standards and Research Qmail Builds On</a:t>
            </a:r>
            <a:endParaRPr lang="en-US" sz="3750" dirty="0"/>
          </a:p>
        </p:txBody>
      </p:sp>
      <p:sp>
        <p:nvSpPr>
          <p:cNvPr id="6" name="Shape 4"/>
          <p:cNvSpPr/>
          <p:nvPr/>
        </p:nvSpPr>
        <p:spPr>
          <a:xfrm>
            <a:off x="990600" y="2238375"/>
            <a:ext cx="5334000" cy="3258741"/>
          </a:xfrm>
          <a:prstGeom prst="rect">
            <a:avLst/>
          </a:prstGeom>
          <a:ln w="9525">
            <a:solidFill>
              <a:srgbClr val="A89C8C"/>
            </a:solidFill>
            <a:prstDash val="solid"/>
          </a:ln>
        </p:spPr>
        <p:txBody>
          <a:bodyPr/>
          <a:lstStyle/>
          <a:p>
            <a:endParaRPr lang="en-US"/>
          </a:p>
        </p:txBody>
      </p:sp>
      <p:sp>
        <p:nvSpPr>
          <p:cNvPr id="7" name="Shape 5"/>
          <p:cNvSpPr/>
          <p:nvPr/>
        </p:nvSpPr>
        <p:spPr>
          <a:xfrm>
            <a:off x="1190625" y="2419350"/>
            <a:ext cx="552450" cy="552450"/>
          </a:xfrm>
          <a:prstGeom prst="ellipse">
            <a:avLst/>
          </a:prstGeom>
          <a:ln w="19050">
            <a:solidFill>
              <a:srgbClr val="7A1F2B"/>
            </a:solidFill>
            <a:prstDash val="solid"/>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2550" y="2581275"/>
            <a:ext cx="228600" cy="228600"/>
          </a:xfrm>
          <a:prstGeom prst="rect">
            <a:avLst/>
          </a:prstGeom>
        </p:spPr>
      </p:pic>
      <p:sp>
        <p:nvSpPr>
          <p:cNvPr id="9" name="Text 6"/>
          <p:cNvSpPr/>
          <p:nvPr/>
        </p:nvSpPr>
        <p:spPr>
          <a:xfrm>
            <a:off x="1857375" y="2590800"/>
            <a:ext cx="3646006"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b="1" kern="0" spc="30" dirty="0">
                <a:solidFill>
                  <a:srgbClr val="7A1F2B"/>
                </a:solidFill>
                <a:latin typeface="Georgia" pitchFamily="34" charset="0"/>
                <a:ea typeface="Georgia" pitchFamily="34" charset="-122"/>
                <a:cs typeface="Georgia" pitchFamily="34" charset="-120"/>
              </a:rPr>
              <a:t>NIST FIPS 203/204/205 (AUG 2024)</a:t>
            </a:r>
            <a:endParaRPr lang="en-US" sz="1500" dirty="0"/>
          </a:p>
        </p:txBody>
      </p:sp>
      <p:sp>
        <p:nvSpPr>
          <p:cNvPr id="10" name="Text 7"/>
          <p:cNvSpPr/>
          <p:nvPr/>
        </p:nvSpPr>
        <p:spPr>
          <a:xfrm>
            <a:off x="1190625" y="3067050"/>
            <a:ext cx="5081969" cy="638175"/>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75" b="1" dirty="0">
                <a:solidFill>
                  <a:srgbClr val="1A1A1A"/>
                </a:solidFill>
                <a:latin typeface="Georgia" pitchFamily="34" charset="0"/>
                <a:ea typeface="Georgia" pitchFamily="34" charset="-122"/>
                <a:cs typeface="Georgia" pitchFamily="34" charset="-120"/>
              </a:rPr>
              <a:t>ML-KEM, ML-DSA, and SLH-DSA become official standards</a:t>
            </a:r>
            <a:endParaRPr lang="en-US" sz="1875" dirty="0"/>
          </a:p>
        </p:txBody>
      </p:sp>
      <p:sp>
        <p:nvSpPr>
          <p:cNvPr id="11" name="Text 8"/>
          <p:cNvSpPr/>
          <p:nvPr/>
        </p:nvSpPr>
        <p:spPr>
          <a:xfrm>
            <a:off x="1190625" y="3762375"/>
            <a:ext cx="5081969" cy="970359"/>
          </a:xfrm>
          <a:prstGeom prst="rect">
            <a:avLst/>
          </a:prstGeom>
          <a:noFill/>
          <a:ln/>
        </p:spPr>
        <p:txBody>
          <a:bodyPr wrap="square" lIns="25400" tIns="25400" rIns="25400" bIns="25400" rtlCol="0" anchor="t">
            <a:normAutofit fontScale="92500"/>
          </a:bodyPr>
          <a:lstStyle/>
          <a:p>
            <a:pPr marL="0" indent="0" algn="l">
              <a:lnSpc>
                <a:spcPct val="120889"/>
              </a:lnSpc>
              <a:buNone/>
            </a:pPr>
            <a:r>
              <a:rPr lang="en-US" sz="1800" dirty="0">
                <a:solidFill>
                  <a:srgbClr val="333333"/>
                </a:solidFill>
                <a:latin typeface="Georgia" pitchFamily="34" charset="0"/>
                <a:ea typeface="Georgia" pitchFamily="34" charset="-122"/>
                <a:cs typeface="Georgia" pitchFamily="34" charset="-120"/>
              </a:rPr>
              <a:t>These three standards closed an 8-year public review process. Calling Qmail's methods "NIST-approved" is a verified fact, not a marketing phrase.</a:t>
            </a:r>
            <a:endParaRPr lang="en-US" sz="1800" dirty="0"/>
          </a:p>
        </p:txBody>
      </p:sp>
      <p:sp>
        <p:nvSpPr>
          <p:cNvPr id="12" name="Shape 9"/>
          <p:cNvSpPr/>
          <p:nvPr/>
        </p:nvSpPr>
        <p:spPr>
          <a:xfrm>
            <a:off x="6477000" y="2238375"/>
            <a:ext cx="5334000" cy="3258741"/>
          </a:xfrm>
          <a:prstGeom prst="rect">
            <a:avLst/>
          </a:prstGeom>
          <a:ln w="9525">
            <a:solidFill>
              <a:srgbClr val="A89C8C"/>
            </a:solidFill>
            <a:prstDash val="solid"/>
          </a:ln>
        </p:spPr>
        <p:txBody>
          <a:bodyPr/>
          <a:lstStyle/>
          <a:p>
            <a:endParaRPr lang="en-US"/>
          </a:p>
        </p:txBody>
      </p:sp>
      <p:sp>
        <p:nvSpPr>
          <p:cNvPr id="13" name="Shape 10"/>
          <p:cNvSpPr/>
          <p:nvPr/>
        </p:nvSpPr>
        <p:spPr>
          <a:xfrm>
            <a:off x="6677025" y="2419350"/>
            <a:ext cx="552450" cy="552450"/>
          </a:xfrm>
          <a:prstGeom prst="ellipse">
            <a:avLst/>
          </a:prstGeom>
          <a:ln w="19050">
            <a:solidFill>
              <a:srgbClr val="7A1F2B"/>
            </a:solidFill>
            <a:prstDash val="solid"/>
          </a:ln>
        </p:spPr>
        <p:txBody>
          <a:bodyPr/>
          <a:lstStyle/>
          <a:p>
            <a:endParaRPr lang="en-US"/>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38950" y="2581275"/>
            <a:ext cx="228600" cy="228600"/>
          </a:xfrm>
          <a:prstGeom prst="rect">
            <a:avLst/>
          </a:prstGeom>
        </p:spPr>
      </p:pic>
      <p:sp>
        <p:nvSpPr>
          <p:cNvPr id="15" name="Text 11"/>
          <p:cNvSpPr/>
          <p:nvPr/>
        </p:nvSpPr>
        <p:spPr>
          <a:xfrm>
            <a:off x="7343775" y="2590800"/>
            <a:ext cx="2881640"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b="1" kern="0" spc="30" dirty="0">
                <a:solidFill>
                  <a:srgbClr val="7A1F2B"/>
                </a:solidFill>
                <a:latin typeface="Georgia" pitchFamily="34" charset="0"/>
                <a:ea typeface="Georgia" pitchFamily="34" charset="-122"/>
                <a:cs typeface="Georgia" pitchFamily="34" charset="-120"/>
              </a:rPr>
              <a:t>IETF RFC 9980 (JUNE 2026)</a:t>
            </a:r>
            <a:endParaRPr lang="en-US" sz="1500" dirty="0"/>
          </a:p>
        </p:txBody>
      </p:sp>
      <p:sp>
        <p:nvSpPr>
          <p:cNvPr id="16" name="Text 12"/>
          <p:cNvSpPr/>
          <p:nvPr/>
        </p:nvSpPr>
        <p:spPr>
          <a:xfrm>
            <a:off x="6677025" y="3067050"/>
            <a:ext cx="5081969" cy="638175"/>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75" b="1" dirty="0">
                <a:solidFill>
                  <a:srgbClr val="1A1A1A"/>
                </a:solidFill>
                <a:latin typeface="Georgia" pitchFamily="34" charset="0"/>
                <a:ea typeface="Georgia" pitchFamily="34" charset="-122"/>
                <a:cs typeface="Georgia" pitchFamily="34" charset="-120"/>
              </a:rPr>
              <a:t>PQC in OpenPGP: the world's mail format migrates</a:t>
            </a:r>
            <a:endParaRPr lang="en-US" sz="1875" dirty="0"/>
          </a:p>
        </p:txBody>
      </p:sp>
      <p:sp>
        <p:nvSpPr>
          <p:cNvPr id="17" name="Text 13"/>
          <p:cNvSpPr/>
          <p:nvPr/>
        </p:nvSpPr>
        <p:spPr>
          <a:xfrm>
            <a:off x="6677025" y="3762375"/>
            <a:ext cx="5081969" cy="1591866"/>
          </a:xfrm>
          <a:prstGeom prst="rect">
            <a:avLst/>
          </a:prstGeom>
          <a:noFill/>
          <a:ln/>
        </p:spPr>
        <p:txBody>
          <a:bodyPr wrap="square" lIns="25400" tIns="25400" rIns="25400" bIns="25400" rtlCol="0" anchor="t">
            <a:normAutofit lnSpcReduction="10000"/>
          </a:bodyPr>
          <a:lstStyle/>
          <a:p>
            <a:pPr marL="0" indent="0" algn="l">
              <a:lnSpc>
                <a:spcPct val="120889"/>
              </a:lnSpc>
              <a:buNone/>
            </a:pPr>
            <a:r>
              <a:rPr lang="en-US" sz="1800" dirty="0">
                <a:solidFill>
                  <a:srgbClr val="333333"/>
                </a:solidFill>
                <a:latin typeface="Georgia" pitchFamily="34" charset="0"/>
                <a:ea typeface="Georgia" pitchFamily="34" charset="-122"/>
                <a:cs typeface="Georgia" pitchFamily="34" charset="-120"/>
              </a:rPr>
              <a:t>PGP, the encryption format email has used for decades, now officially supports these same quantum-safe methods. It's the clearest sign the whole industry is moving the same direction as Qmail.</a:t>
            </a:r>
            <a:endParaRPr lang="en-US" sz="1800" dirty="0"/>
          </a:p>
        </p:txBody>
      </p:sp>
      <p:sp>
        <p:nvSpPr>
          <p:cNvPr id="18" name="Shape 14"/>
          <p:cNvSpPr/>
          <p:nvPr/>
        </p:nvSpPr>
        <p:spPr>
          <a:xfrm>
            <a:off x="11963400" y="2238375"/>
            <a:ext cx="5334000" cy="3258741"/>
          </a:xfrm>
          <a:prstGeom prst="rect">
            <a:avLst/>
          </a:prstGeom>
          <a:ln w="9525">
            <a:solidFill>
              <a:srgbClr val="A89C8C"/>
            </a:solidFill>
            <a:prstDash val="solid"/>
          </a:ln>
        </p:spPr>
        <p:txBody>
          <a:bodyPr/>
          <a:lstStyle/>
          <a:p>
            <a:endParaRPr lang="en-US"/>
          </a:p>
        </p:txBody>
      </p:sp>
      <p:sp>
        <p:nvSpPr>
          <p:cNvPr id="19" name="Shape 15"/>
          <p:cNvSpPr/>
          <p:nvPr/>
        </p:nvSpPr>
        <p:spPr>
          <a:xfrm>
            <a:off x="12163425" y="2419350"/>
            <a:ext cx="552450" cy="552450"/>
          </a:xfrm>
          <a:prstGeom prst="ellipse">
            <a:avLst/>
          </a:prstGeom>
          <a:ln w="19050">
            <a:solidFill>
              <a:srgbClr val="7A1F2B"/>
            </a:solidFill>
            <a:prstDash val="solid"/>
          </a:ln>
        </p:spPr>
        <p:txBody>
          <a:bodyPr/>
          <a:lstStyle/>
          <a:p>
            <a:endParaRPr lang="en-US"/>
          </a:p>
        </p:txBody>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325350" y="2581275"/>
            <a:ext cx="228600" cy="228600"/>
          </a:xfrm>
          <a:prstGeom prst="rect">
            <a:avLst/>
          </a:prstGeom>
        </p:spPr>
      </p:pic>
      <p:sp>
        <p:nvSpPr>
          <p:cNvPr id="21" name="Text 16"/>
          <p:cNvSpPr/>
          <p:nvPr/>
        </p:nvSpPr>
        <p:spPr>
          <a:xfrm>
            <a:off x="12830175" y="2590800"/>
            <a:ext cx="2427833"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b="1" kern="0" spc="30" dirty="0">
                <a:solidFill>
                  <a:srgbClr val="7A1F2B"/>
                </a:solidFill>
                <a:latin typeface="Georgia" pitchFamily="34" charset="0"/>
                <a:ea typeface="Georgia" pitchFamily="34" charset="-122"/>
                <a:cs typeface="Georgia" pitchFamily="34" charset="-120"/>
              </a:rPr>
              <a:t>ACM DIGITAL LIBRARY</a:t>
            </a:r>
            <a:endParaRPr lang="en-US" sz="1500" dirty="0"/>
          </a:p>
        </p:txBody>
      </p:sp>
      <p:sp>
        <p:nvSpPr>
          <p:cNvPr id="22" name="Text 17"/>
          <p:cNvSpPr/>
          <p:nvPr/>
        </p:nvSpPr>
        <p:spPr>
          <a:xfrm>
            <a:off x="12163425" y="3067050"/>
            <a:ext cx="5427345" cy="338138"/>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75" b="1" dirty="0">
                <a:solidFill>
                  <a:srgbClr val="1A1A1A"/>
                </a:solidFill>
                <a:latin typeface="Georgia" pitchFamily="34" charset="0"/>
                <a:ea typeface="Georgia" pitchFamily="34" charset="-122"/>
                <a:cs typeface="Georgia" pitchFamily="34" charset="-120"/>
              </a:rPr>
              <a:t>PQC bolted onto a real E2E mail client</a:t>
            </a:r>
            <a:endParaRPr lang="en-US" sz="1875" dirty="0"/>
          </a:p>
        </p:txBody>
      </p:sp>
      <p:sp>
        <p:nvSpPr>
          <p:cNvPr id="23" name="Text 18"/>
          <p:cNvSpPr/>
          <p:nvPr/>
        </p:nvSpPr>
        <p:spPr>
          <a:xfrm>
            <a:off x="12163425" y="3462338"/>
            <a:ext cx="5081969" cy="1591866"/>
          </a:xfrm>
          <a:prstGeom prst="rect">
            <a:avLst/>
          </a:prstGeom>
          <a:noFill/>
          <a:ln/>
        </p:spPr>
        <p:txBody>
          <a:bodyPr wrap="square" lIns="25400" tIns="25400" rIns="25400" bIns="25400" rtlCol="0" anchor="t">
            <a:normAutofit lnSpcReduction="10000"/>
          </a:bodyPr>
          <a:lstStyle/>
          <a:p>
            <a:pPr marL="0" indent="0" algn="l">
              <a:lnSpc>
                <a:spcPct val="120889"/>
              </a:lnSpc>
              <a:buNone/>
            </a:pPr>
            <a:r>
              <a:rPr lang="en-US" sz="1800" dirty="0">
                <a:solidFill>
                  <a:srgbClr val="333333"/>
                </a:solidFill>
                <a:latin typeface="Georgia" pitchFamily="34" charset="0"/>
                <a:ea typeface="Georgia" pitchFamily="34" charset="-122"/>
                <a:cs typeface="Georgia" pitchFamily="34" charset="-120"/>
              </a:rPr>
              <a:t>Researchers added quantum-safe signatures and encryption to Delta Chat, a real messaging app. It's the closest existing example of what Qmail is building, an actual working app rather than only a standards document.</a:t>
            </a:r>
            <a:endParaRPr lang="en-US" sz="1800" dirty="0"/>
          </a:p>
        </p:txBody>
      </p:sp>
      <p:sp>
        <p:nvSpPr>
          <p:cNvPr id="24" name="Shape 19"/>
          <p:cNvSpPr/>
          <p:nvPr/>
        </p:nvSpPr>
        <p:spPr>
          <a:xfrm>
            <a:off x="990600" y="5649516"/>
            <a:ext cx="5334000" cy="2947988"/>
          </a:xfrm>
          <a:prstGeom prst="rect">
            <a:avLst/>
          </a:prstGeom>
          <a:ln w="9525">
            <a:solidFill>
              <a:srgbClr val="A89C8C"/>
            </a:solidFill>
            <a:prstDash val="solid"/>
          </a:ln>
        </p:spPr>
        <p:txBody>
          <a:bodyPr/>
          <a:lstStyle/>
          <a:p>
            <a:endParaRPr lang="en-US"/>
          </a:p>
        </p:txBody>
      </p:sp>
      <p:sp>
        <p:nvSpPr>
          <p:cNvPr id="25" name="Shape 20"/>
          <p:cNvSpPr/>
          <p:nvPr/>
        </p:nvSpPr>
        <p:spPr>
          <a:xfrm>
            <a:off x="1190625" y="5830491"/>
            <a:ext cx="552450" cy="552450"/>
          </a:xfrm>
          <a:prstGeom prst="ellipse">
            <a:avLst/>
          </a:prstGeom>
          <a:ln w="19050">
            <a:solidFill>
              <a:srgbClr val="7A1F2B"/>
            </a:solidFill>
            <a:prstDash val="solid"/>
          </a:ln>
        </p:spPr>
        <p:txBody>
          <a:bodyPr/>
          <a:lstStyle/>
          <a:p>
            <a:endParaRPr lang="en-US"/>
          </a:p>
        </p:txBody>
      </p:sp>
      <p:pic>
        <p:nvPicPr>
          <p:cNvPr id="2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52550" y="5992416"/>
            <a:ext cx="228600" cy="228600"/>
          </a:xfrm>
          <a:prstGeom prst="rect">
            <a:avLst/>
          </a:prstGeom>
        </p:spPr>
      </p:pic>
      <p:sp>
        <p:nvSpPr>
          <p:cNvPr id="27" name="Text 21"/>
          <p:cNvSpPr/>
          <p:nvPr/>
        </p:nvSpPr>
        <p:spPr>
          <a:xfrm>
            <a:off x="1857375" y="5897166"/>
            <a:ext cx="4395216" cy="457200"/>
          </a:xfrm>
          <a:prstGeom prst="rect">
            <a:avLst/>
          </a:prstGeom>
          <a:noFill/>
          <a:ln/>
        </p:spPr>
        <p:txBody>
          <a:bodyPr wrap="square" lIns="25400" tIns="25400" rIns="25400" bIns="25400" rtlCol="0" anchor="t">
            <a:normAutofit fontScale="92500" lnSpcReduction="10000"/>
          </a:bodyPr>
          <a:lstStyle/>
          <a:p>
            <a:pPr marL="0" indent="0" algn="l">
              <a:buNone/>
            </a:pPr>
            <a:r>
              <a:rPr lang="en-US" sz="1500" b="1" kern="0" spc="30" dirty="0">
                <a:solidFill>
                  <a:srgbClr val="7A1F2B"/>
                </a:solidFill>
                <a:latin typeface="Georgia" pitchFamily="34" charset="0"/>
                <a:ea typeface="Georgia" pitchFamily="34" charset="-122"/>
                <a:cs typeface="Georgia" pitchFamily="34" charset="-120"/>
              </a:rPr>
              <a:t>TECHNOARETE &amp; IJCRT, 2025 · REGIONAL VENUES</a:t>
            </a:r>
            <a:endParaRPr lang="en-US" sz="1500" dirty="0"/>
          </a:p>
        </p:txBody>
      </p:sp>
      <p:sp>
        <p:nvSpPr>
          <p:cNvPr id="28" name="Text 22"/>
          <p:cNvSpPr/>
          <p:nvPr/>
        </p:nvSpPr>
        <p:spPr>
          <a:xfrm>
            <a:off x="1190625" y="6478191"/>
            <a:ext cx="5081969" cy="638175"/>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75" b="1" dirty="0">
                <a:solidFill>
                  <a:srgbClr val="1A1A1A"/>
                </a:solidFill>
                <a:latin typeface="Georgia" pitchFamily="34" charset="0"/>
                <a:ea typeface="Georgia" pitchFamily="34" charset="-122"/>
                <a:cs typeface="Georgia" pitchFamily="34" charset="-120"/>
              </a:rPr>
              <a:t>Two independent regional prototypes, same year</a:t>
            </a:r>
            <a:endParaRPr lang="en-US" sz="1875" dirty="0"/>
          </a:p>
        </p:txBody>
      </p:sp>
      <p:sp>
        <p:nvSpPr>
          <p:cNvPr id="29" name="Text 23"/>
          <p:cNvSpPr/>
          <p:nvPr/>
        </p:nvSpPr>
        <p:spPr>
          <a:xfrm>
            <a:off x="1190625" y="7173516"/>
            <a:ext cx="5081969" cy="1281113"/>
          </a:xfrm>
          <a:prstGeom prst="rect">
            <a:avLst/>
          </a:prstGeom>
          <a:noFill/>
          <a:ln/>
        </p:spPr>
        <p:txBody>
          <a:bodyPr wrap="square" lIns="25400" tIns="25400" rIns="25400" bIns="25400" rtlCol="0" anchor="t">
            <a:normAutofit lnSpcReduction="10000"/>
          </a:bodyPr>
          <a:lstStyle/>
          <a:p>
            <a:pPr marL="0" indent="0" algn="l">
              <a:lnSpc>
                <a:spcPct val="120889"/>
              </a:lnSpc>
              <a:buNone/>
            </a:pPr>
            <a:r>
              <a:rPr lang="en-US" sz="1800" dirty="0">
                <a:solidFill>
                  <a:srgbClr val="333333"/>
                </a:solidFill>
                <a:latin typeface="Georgia" pitchFamily="34" charset="0"/>
                <a:ea typeface="Georgia" pitchFamily="34" charset="-122"/>
                <a:cs typeface="Georgia" pitchFamily="34" charset="-120"/>
              </a:rPr>
              <a:t>One pairs Kyber and Dilithium with a Flask API; the other uses NTRU and Kyber. Different teams, same goal, recent proof this problem is actively being worked on.</a:t>
            </a:r>
            <a:endParaRPr lang="en-US" sz="1800" dirty="0"/>
          </a:p>
        </p:txBody>
      </p:sp>
      <p:sp>
        <p:nvSpPr>
          <p:cNvPr id="30" name="Shape 24"/>
          <p:cNvSpPr/>
          <p:nvPr/>
        </p:nvSpPr>
        <p:spPr>
          <a:xfrm>
            <a:off x="6477000" y="5649516"/>
            <a:ext cx="5334000" cy="2947988"/>
          </a:xfrm>
          <a:prstGeom prst="rect">
            <a:avLst/>
          </a:prstGeom>
          <a:ln w="9525">
            <a:solidFill>
              <a:srgbClr val="A89C8C"/>
            </a:solidFill>
            <a:prstDash val="solid"/>
          </a:ln>
        </p:spPr>
        <p:txBody>
          <a:bodyPr/>
          <a:lstStyle/>
          <a:p>
            <a:endParaRPr lang="en-US"/>
          </a:p>
        </p:txBody>
      </p:sp>
      <p:sp>
        <p:nvSpPr>
          <p:cNvPr id="31" name="Shape 25"/>
          <p:cNvSpPr/>
          <p:nvPr/>
        </p:nvSpPr>
        <p:spPr>
          <a:xfrm>
            <a:off x="6677025" y="5830491"/>
            <a:ext cx="552450" cy="552450"/>
          </a:xfrm>
          <a:prstGeom prst="ellipse">
            <a:avLst/>
          </a:prstGeom>
          <a:ln w="19050">
            <a:solidFill>
              <a:srgbClr val="7A1F2B"/>
            </a:solidFill>
            <a:prstDash val="solid"/>
          </a:ln>
        </p:spPr>
        <p:txBody>
          <a:bodyPr/>
          <a:lstStyle/>
          <a:p>
            <a:endParaRPr lang="en-US"/>
          </a:p>
        </p:txBody>
      </p:sp>
      <p:pic>
        <p:nvPicPr>
          <p:cNvPr id="3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38950" y="5992416"/>
            <a:ext cx="228600" cy="228600"/>
          </a:xfrm>
          <a:prstGeom prst="rect">
            <a:avLst/>
          </a:prstGeom>
        </p:spPr>
      </p:pic>
      <p:sp>
        <p:nvSpPr>
          <p:cNvPr id="33" name="Text 26"/>
          <p:cNvSpPr/>
          <p:nvPr/>
        </p:nvSpPr>
        <p:spPr>
          <a:xfrm>
            <a:off x="7343775" y="6001941"/>
            <a:ext cx="2500521"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b="1" kern="0" spc="30" dirty="0">
                <a:solidFill>
                  <a:srgbClr val="7A1F2B"/>
                </a:solidFill>
                <a:latin typeface="Georgia" pitchFamily="34" charset="0"/>
                <a:ea typeface="Georgia" pitchFamily="34" charset="-122"/>
                <a:cs typeface="Georgia" pitchFamily="34" charset="-120"/>
              </a:rPr>
              <a:t>IACR EPRINT 2025/1668</a:t>
            </a:r>
            <a:endParaRPr lang="en-US" sz="1500" dirty="0"/>
          </a:p>
        </p:txBody>
      </p:sp>
      <p:sp>
        <p:nvSpPr>
          <p:cNvPr id="34" name="Text 27"/>
          <p:cNvSpPr/>
          <p:nvPr/>
        </p:nvSpPr>
        <p:spPr>
          <a:xfrm>
            <a:off x="6677025" y="6478191"/>
            <a:ext cx="5081969" cy="638175"/>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75" b="1" dirty="0">
                <a:solidFill>
                  <a:srgbClr val="1A1A1A"/>
                </a:solidFill>
                <a:latin typeface="Georgia" pitchFamily="34" charset="0"/>
                <a:ea typeface="Georgia" pitchFamily="34" charset="-122"/>
                <a:cs typeface="Georgia" pitchFamily="34" charset="-120"/>
              </a:rPr>
              <a:t>A field that agrees it's understudied at the app layer</a:t>
            </a:r>
            <a:endParaRPr lang="en-US" sz="1875" dirty="0"/>
          </a:p>
        </p:txBody>
      </p:sp>
      <p:sp>
        <p:nvSpPr>
          <p:cNvPr id="35" name="Text 28"/>
          <p:cNvSpPr/>
          <p:nvPr/>
        </p:nvSpPr>
        <p:spPr>
          <a:xfrm>
            <a:off x="6677025" y="7173516"/>
            <a:ext cx="5081969" cy="1281113"/>
          </a:xfrm>
          <a:prstGeom prst="rect">
            <a:avLst/>
          </a:prstGeom>
          <a:noFill/>
          <a:ln/>
        </p:spPr>
        <p:txBody>
          <a:bodyPr wrap="square" lIns="25400" tIns="25400" rIns="25400" bIns="25400" rtlCol="0" anchor="t">
            <a:normAutofit lnSpcReduction="10000"/>
          </a:bodyPr>
          <a:lstStyle/>
          <a:p>
            <a:pPr marL="0" indent="0" algn="l">
              <a:lnSpc>
                <a:spcPct val="120889"/>
              </a:lnSpc>
              <a:buNone/>
            </a:pPr>
            <a:r>
              <a:rPr lang="en-US" sz="1800" dirty="0">
                <a:solidFill>
                  <a:srgbClr val="333333"/>
                </a:solidFill>
                <a:latin typeface="Georgia" pitchFamily="34" charset="0"/>
                <a:ea typeface="Georgia" pitchFamily="34" charset="-122"/>
                <a:cs typeface="Georgia" pitchFamily="34" charset="-120"/>
              </a:rPr>
              <a:t>A broad review of quantum-safe security across browsing, remote access, email, and messaging apps confirms email security here is still an open research problem.</a:t>
            </a:r>
            <a:endParaRPr lang="en-US" sz="1800" dirty="0"/>
          </a:p>
        </p:txBody>
      </p:sp>
      <p:sp>
        <p:nvSpPr>
          <p:cNvPr id="36" name="Shape 29"/>
          <p:cNvSpPr/>
          <p:nvPr/>
        </p:nvSpPr>
        <p:spPr>
          <a:xfrm>
            <a:off x="11963400" y="5649516"/>
            <a:ext cx="5334000" cy="2947988"/>
          </a:xfrm>
          <a:prstGeom prst="rect">
            <a:avLst/>
          </a:prstGeom>
          <a:ln w="9525">
            <a:solidFill>
              <a:srgbClr val="A89C8C"/>
            </a:solidFill>
            <a:prstDash val="solid"/>
          </a:ln>
        </p:spPr>
        <p:txBody>
          <a:bodyPr/>
          <a:lstStyle/>
          <a:p>
            <a:endParaRPr lang="en-US"/>
          </a:p>
        </p:txBody>
      </p:sp>
      <p:sp>
        <p:nvSpPr>
          <p:cNvPr id="37" name="Shape 30"/>
          <p:cNvSpPr/>
          <p:nvPr/>
        </p:nvSpPr>
        <p:spPr>
          <a:xfrm>
            <a:off x="12163425" y="5830491"/>
            <a:ext cx="552450" cy="552450"/>
          </a:xfrm>
          <a:prstGeom prst="ellipse">
            <a:avLst/>
          </a:prstGeom>
          <a:ln w="19050">
            <a:solidFill>
              <a:srgbClr val="7A1F2B"/>
            </a:solidFill>
            <a:prstDash val="solid"/>
          </a:ln>
        </p:spPr>
        <p:txBody>
          <a:bodyPr/>
          <a:lstStyle/>
          <a:p>
            <a:endParaRPr lang="en-US"/>
          </a:p>
        </p:txBody>
      </p:sp>
      <p:pic>
        <p:nvPicPr>
          <p:cNvPr id="3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325350" y="5992416"/>
            <a:ext cx="228600" cy="228600"/>
          </a:xfrm>
          <a:prstGeom prst="rect">
            <a:avLst/>
          </a:prstGeom>
        </p:spPr>
      </p:pic>
      <p:sp>
        <p:nvSpPr>
          <p:cNvPr id="39" name="Text 31"/>
          <p:cNvSpPr/>
          <p:nvPr/>
        </p:nvSpPr>
        <p:spPr>
          <a:xfrm>
            <a:off x="12830175" y="6001941"/>
            <a:ext cx="3384233"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b="1" kern="0" spc="30" dirty="0">
                <a:solidFill>
                  <a:srgbClr val="7A1F2B"/>
                </a:solidFill>
                <a:latin typeface="Georgia" pitchFamily="34" charset="0"/>
                <a:ea typeface="Georgia" pitchFamily="34" charset="-122"/>
                <a:cs typeface="Georgia" pitchFamily="34" charset="-120"/>
              </a:rPr>
              <a:t>OPEN QUANTUM SAFE / LIBOQS</a:t>
            </a:r>
            <a:endParaRPr lang="en-US" sz="1500" dirty="0"/>
          </a:p>
        </p:txBody>
      </p:sp>
      <p:sp>
        <p:nvSpPr>
          <p:cNvPr id="40" name="Text 32"/>
          <p:cNvSpPr/>
          <p:nvPr/>
        </p:nvSpPr>
        <p:spPr>
          <a:xfrm>
            <a:off x="12163425" y="6478191"/>
            <a:ext cx="5081969" cy="638175"/>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875" b="1" dirty="0">
                <a:solidFill>
                  <a:srgbClr val="1A1A1A"/>
                </a:solidFill>
                <a:latin typeface="Georgia" pitchFamily="34" charset="0"/>
                <a:ea typeface="Georgia" pitchFamily="34" charset="-122"/>
                <a:cs typeface="Georgia" pitchFamily="34" charset="-120"/>
              </a:rPr>
              <a:t>The reference implementation Qmail's crypto layer uses</a:t>
            </a:r>
            <a:endParaRPr lang="en-US" sz="1875" dirty="0"/>
          </a:p>
        </p:txBody>
      </p:sp>
      <p:sp>
        <p:nvSpPr>
          <p:cNvPr id="41" name="Text 33"/>
          <p:cNvSpPr/>
          <p:nvPr/>
        </p:nvSpPr>
        <p:spPr>
          <a:xfrm>
            <a:off x="12163425" y="7173516"/>
            <a:ext cx="5081969" cy="1281113"/>
          </a:xfrm>
          <a:prstGeom prst="rect">
            <a:avLst/>
          </a:prstGeom>
          <a:noFill/>
          <a:ln/>
        </p:spPr>
        <p:txBody>
          <a:bodyPr wrap="square" lIns="25400" tIns="25400" rIns="25400" bIns="25400" rtlCol="0" anchor="t">
            <a:normAutofit lnSpcReduction="10000"/>
          </a:bodyPr>
          <a:lstStyle/>
          <a:p>
            <a:pPr marL="0" indent="0" algn="l">
              <a:lnSpc>
                <a:spcPct val="120889"/>
              </a:lnSpc>
              <a:buNone/>
            </a:pPr>
            <a:r>
              <a:rPr lang="en-US" sz="1800" dirty="0">
                <a:solidFill>
                  <a:srgbClr val="333333"/>
                </a:solidFill>
                <a:latin typeface="Georgia" pitchFamily="34" charset="0"/>
                <a:ea typeface="Georgia" pitchFamily="34" charset="-122"/>
                <a:cs typeface="Georgia" pitchFamily="34" charset="-120"/>
              </a:rPr>
              <a:t>A free, open-source toolkit backed by the Linux Foundation with tested, ready-made code for these methods, both a literature source and proof the build is feasible.</a:t>
            </a:r>
            <a:endParaRPr lang="en-US" sz="1800" dirty="0"/>
          </a:p>
        </p:txBody>
      </p:sp>
      <p:sp>
        <p:nvSpPr>
          <p:cNvPr id="42" name="Shape 34"/>
          <p:cNvSpPr/>
          <p:nvPr/>
        </p:nvSpPr>
        <p:spPr>
          <a:xfrm>
            <a:off x="990600" y="9092803"/>
            <a:ext cx="16306800" cy="19050"/>
          </a:xfrm>
          <a:prstGeom prst="rect">
            <a:avLst/>
          </a:prstGeom>
          <a:solidFill>
            <a:srgbClr val="A89C8C"/>
          </a:solidFill>
          <a:ln/>
        </p:spPr>
        <p:txBody>
          <a:bodyPr/>
          <a:lstStyle/>
          <a:p>
            <a:endParaRPr lang="en-US"/>
          </a:p>
        </p:txBody>
      </p:sp>
      <p:sp>
        <p:nvSpPr>
          <p:cNvPr id="43" name="Text 35"/>
          <p:cNvSpPr/>
          <p:nvPr/>
        </p:nvSpPr>
        <p:spPr>
          <a:xfrm>
            <a:off x="1402110" y="8711803"/>
            <a:ext cx="557361"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591520"/>
                </a:solidFill>
                <a:latin typeface="Georgia" pitchFamily="34" charset="0"/>
                <a:ea typeface="Georgia" pitchFamily="34" charset="-122"/>
                <a:cs typeface="Georgia" pitchFamily="34" charset="-120"/>
              </a:rPr>
              <a:t>2024</a:t>
            </a:r>
            <a:endParaRPr lang="en-US" sz="1650" dirty="0"/>
          </a:p>
        </p:txBody>
      </p:sp>
      <p:sp>
        <p:nvSpPr>
          <p:cNvPr id="44" name="Shape 36"/>
          <p:cNvSpPr/>
          <p:nvPr/>
        </p:nvSpPr>
        <p:spPr>
          <a:xfrm>
            <a:off x="1580852" y="8997553"/>
            <a:ext cx="123825" cy="123825"/>
          </a:xfrm>
          <a:prstGeom prst="ellipse">
            <a:avLst/>
          </a:prstGeom>
          <a:solidFill>
            <a:srgbClr val="7A1F2B"/>
          </a:solidFill>
          <a:ln/>
        </p:spPr>
        <p:txBody>
          <a:bodyPr/>
          <a:lstStyle/>
          <a:p>
            <a:endParaRPr lang="en-US"/>
          </a:p>
        </p:txBody>
      </p:sp>
      <p:sp>
        <p:nvSpPr>
          <p:cNvPr id="45" name="Text 37"/>
          <p:cNvSpPr/>
          <p:nvPr/>
        </p:nvSpPr>
        <p:spPr>
          <a:xfrm>
            <a:off x="423609" y="9188053"/>
            <a:ext cx="2438311" cy="238125"/>
          </a:xfrm>
          <a:prstGeom prst="rect">
            <a:avLst/>
          </a:prstGeom>
          <a:noFill/>
          <a:ln/>
        </p:spPr>
        <p:txBody>
          <a:bodyPr wrap="square" lIns="25400" tIns="25400" rIns="25400" bIns="25400" rtlCol="0" anchor="t">
            <a:normAutofit fontScale="92500"/>
          </a:bodyPr>
          <a:lstStyle/>
          <a:p>
            <a:pPr marL="0" indent="0" algn="ctr">
              <a:buNone/>
            </a:pPr>
            <a:r>
              <a:rPr lang="en-US" sz="1350" dirty="0">
                <a:solidFill>
                  <a:srgbClr val="666666"/>
                </a:solidFill>
                <a:latin typeface="Georgia" pitchFamily="34" charset="0"/>
                <a:ea typeface="Georgia" pitchFamily="34" charset="-122"/>
                <a:cs typeface="Georgia" pitchFamily="34" charset="-120"/>
              </a:rPr>
              <a:t>NIST FIPS 203 / 204 / 205, Aug</a:t>
            </a:r>
            <a:endParaRPr lang="en-US" sz="1350" dirty="0"/>
          </a:p>
        </p:txBody>
      </p:sp>
      <p:sp>
        <p:nvSpPr>
          <p:cNvPr id="46" name="Text 38"/>
          <p:cNvSpPr/>
          <p:nvPr/>
        </p:nvSpPr>
        <p:spPr>
          <a:xfrm>
            <a:off x="8907214" y="8711803"/>
            <a:ext cx="549771"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591520"/>
                </a:solidFill>
                <a:latin typeface="Georgia" pitchFamily="34" charset="0"/>
                <a:ea typeface="Georgia" pitchFamily="34" charset="-122"/>
                <a:cs typeface="Georgia" pitchFamily="34" charset="-120"/>
              </a:rPr>
              <a:t>2025</a:t>
            </a:r>
            <a:endParaRPr lang="en-US" sz="1650" dirty="0"/>
          </a:p>
        </p:txBody>
      </p:sp>
      <p:sp>
        <p:nvSpPr>
          <p:cNvPr id="47" name="Shape 39"/>
          <p:cNvSpPr/>
          <p:nvPr/>
        </p:nvSpPr>
        <p:spPr>
          <a:xfrm>
            <a:off x="9082088" y="8997553"/>
            <a:ext cx="123825" cy="123825"/>
          </a:xfrm>
          <a:prstGeom prst="ellipse">
            <a:avLst/>
          </a:prstGeom>
          <a:solidFill>
            <a:srgbClr val="7A1F2B"/>
          </a:solidFill>
          <a:ln/>
        </p:spPr>
        <p:txBody>
          <a:bodyPr/>
          <a:lstStyle/>
          <a:p>
            <a:endParaRPr lang="en-US"/>
          </a:p>
        </p:txBody>
      </p:sp>
      <p:sp>
        <p:nvSpPr>
          <p:cNvPr id="48" name="Text 40"/>
          <p:cNvSpPr/>
          <p:nvPr/>
        </p:nvSpPr>
        <p:spPr>
          <a:xfrm>
            <a:off x="7809265" y="9188053"/>
            <a:ext cx="2669471" cy="238125"/>
          </a:xfrm>
          <a:prstGeom prst="rect">
            <a:avLst/>
          </a:prstGeom>
          <a:noFill/>
          <a:ln/>
        </p:spPr>
        <p:txBody>
          <a:bodyPr wrap="square" lIns="25400" tIns="25400" rIns="25400" bIns="25400" rtlCol="0" anchor="t">
            <a:normAutofit lnSpcReduction="10000"/>
          </a:bodyPr>
          <a:lstStyle/>
          <a:p>
            <a:pPr marL="0" indent="0" algn="ctr">
              <a:buNone/>
            </a:pPr>
            <a:r>
              <a:rPr lang="en-US" sz="1350" dirty="0">
                <a:solidFill>
                  <a:srgbClr val="666666"/>
                </a:solidFill>
                <a:latin typeface="Georgia" pitchFamily="34" charset="0"/>
                <a:ea typeface="Georgia" pitchFamily="34" charset="-122"/>
                <a:cs typeface="Georgia" pitchFamily="34" charset="-120"/>
              </a:rPr>
              <a:t>Technoarete · IJCRT · IACR ePrint</a:t>
            </a:r>
            <a:endParaRPr lang="en-US" sz="1350" dirty="0"/>
          </a:p>
        </p:txBody>
      </p:sp>
      <p:sp>
        <p:nvSpPr>
          <p:cNvPr id="49" name="Text 41"/>
          <p:cNvSpPr/>
          <p:nvPr/>
        </p:nvSpPr>
        <p:spPr>
          <a:xfrm>
            <a:off x="16404431" y="8711803"/>
            <a:ext cx="557510"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591520"/>
                </a:solidFill>
                <a:latin typeface="Georgia" pitchFamily="34" charset="0"/>
                <a:ea typeface="Georgia" pitchFamily="34" charset="-122"/>
                <a:cs typeface="Georgia" pitchFamily="34" charset="-120"/>
              </a:rPr>
              <a:t>2026</a:t>
            </a:r>
            <a:endParaRPr lang="en-US" sz="1650" dirty="0"/>
          </a:p>
        </p:txBody>
      </p:sp>
      <p:sp>
        <p:nvSpPr>
          <p:cNvPr id="50" name="Shape 42"/>
          <p:cNvSpPr/>
          <p:nvPr/>
        </p:nvSpPr>
        <p:spPr>
          <a:xfrm>
            <a:off x="16583174" y="8997553"/>
            <a:ext cx="123825" cy="123825"/>
          </a:xfrm>
          <a:prstGeom prst="ellipse">
            <a:avLst/>
          </a:prstGeom>
          <a:solidFill>
            <a:srgbClr val="7A1F2B"/>
          </a:solidFill>
          <a:ln/>
        </p:spPr>
        <p:txBody>
          <a:bodyPr/>
          <a:lstStyle/>
          <a:p>
            <a:endParaRPr lang="en-US"/>
          </a:p>
        </p:txBody>
      </p:sp>
      <p:sp>
        <p:nvSpPr>
          <p:cNvPr id="51" name="Text 43"/>
          <p:cNvSpPr/>
          <p:nvPr/>
        </p:nvSpPr>
        <p:spPr>
          <a:xfrm>
            <a:off x="15811969" y="9188053"/>
            <a:ext cx="1666086" cy="238125"/>
          </a:xfrm>
          <a:prstGeom prst="rect">
            <a:avLst/>
          </a:prstGeom>
          <a:noFill/>
          <a:ln/>
        </p:spPr>
        <p:txBody>
          <a:bodyPr wrap="square" lIns="25400" tIns="25400" rIns="25400" bIns="25400" rtlCol="0" anchor="t">
            <a:normAutofit fontScale="92500"/>
          </a:bodyPr>
          <a:lstStyle/>
          <a:p>
            <a:pPr marL="0" indent="0" algn="ctr">
              <a:buNone/>
            </a:pPr>
            <a:r>
              <a:rPr lang="en-US" sz="1350" dirty="0">
                <a:solidFill>
                  <a:srgbClr val="666666"/>
                </a:solidFill>
                <a:latin typeface="Georgia" pitchFamily="34" charset="0"/>
                <a:ea typeface="Georgia" pitchFamily="34" charset="-122"/>
                <a:cs typeface="Georgia" pitchFamily="34" charset="-120"/>
              </a:rPr>
              <a:t>IETF RFC 9980, June</a:t>
            </a:r>
            <a:endParaRPr lang="en-US" sz="1350" dirty="0"/>
          </a:p>
        </p:txBody>
      </p:sp>
      <p:sp>
        <p:nvSpPr>
          <p:cNvPr id="52" name="Shape 44"/>
          <p:cNvSpPr/>
          <p:nvPr/>
        </p:nvSpPr>
        <p:spPr>
          <a:xfrm>
            <a:off x="990600" y="9664303"/>
            <a:ext cx="13716000" cy="19050"/>
          </a:xfrm>
          <a:prstGeom prst="rect">
            <a:avLst/>
          </a:prstGeom>
          <a:solidFill>
            <a:srgbClr val="A89C8C"/>
          </a:solidFill>
          <a:ln/>
        </p:spPr>
        <p:txBody>
          <a:bodyPr/>
          <a:lstStyle/>
          <a:p>
            <a:endParaRPr lang="en-US"/>
          </a:p>
        </p:txBody>
      </p:sp>
      <p:sp>
        <p:nvSpPr>
          <p:cNvPr id="53" name="Text 45"/>
          <p:cNvSpPr/>
          <p:nvPr/>
        </p:nvSpPr>
        <p:spPr>
          <a:xfrm>
            <a:off x="990600" y="9778603"/>
            <a:ext cx="14127480" cy="5524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55555"/>
                </a:solidFill>
                <a:latin typeface="Georgia" pitchFamily="34" charset="0"/>
                <a:ea typeface="Georgia" pitchFamily="34" charset="-122"/>
                <a:cs typeface="Georgia" pitchFamily="34" charset="-120"/>
              </a:rPr>
              <a:t>Most people skip encrypted email because managing keys by hand is confusing, not because they don't care, exactly the friction Qmail's sign-up removes. Both regional prototypes above also run crypto on the server; Qmail keeps every private key on the user's device instead.</a:t>
            </a:r>
            <a:endParaRPr lang="en-US" sz="1800" dirty="0"/>
          </a:p>
        </p:txBody>
      </p:sp>
      <p:pic>
        <p:nvPicPr>
          <p:cNvPr id="54" name="Image 6" descr="preencoded.png"/>
          <p:cNvPicPr>
            <a:picLocks noChangeAspect="1"/>
          </p:cNvPicPr>
          <p:nvPr/>
        </p:nvPicPr>
        <p:blipFill>
          <a:blip r:embed="rId9"/>
          <a:stretch>
            <a:fillRect/>
          </a:stretch>
        </p:blipFill>
        <p:spPr>
          <a:xfrm>
            <a:off x="17183100" y="9801225"/>
            <a:ext cx="114300" cy="2571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6403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04</a:t>
            </a:r>
            <a:endParaRPr lang="en-US" sz="1800" dirty="0"/>
          </a:p>
        </p:txBody>
      </p:sp>
      <p:sp>
        <p:nvSpPr>
          <p:cNvPr id="3" name="Text 1"/>
          <p:cNvSpPr/>
          <p:nvPr/>
        </p:nvSpPr>
        <p:spPr>
          <a:xfrm>
            <a:off x="1430834" y="476250"/>
            <a:ext cx="324982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PROBLEM STATEMENT</a:t>
            </a:r>
            <a:endParaRPr lang="en-US" sz="1800" dirty="0"/>
          </a:p>
        </p:txBody>
      </p:sp>
      <p:sp>
        <p:nvSpPr>
          <p:cNvPr id="4" name="Shape 2"/>
          <p:cNvSpPr/>
          <p:nvPr/>
        </p:nvSpPr>
        <p:spPr>
          <a:xfrm>
            <a:off x="4537621" y="600075"/>
            <a:ext cx="12759779"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fontScale="92500"/>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Harvest Now, Decrypt Later, and Forge It After That</a:t>
            </a:r>
            <a:endParaRPr lang="en-US" sz="3750" dirty="0"/>
          </a:p>
        </p:txBody>
      </p:sp>
      <p:sp>
        <p:nvSpPr>
          <p:cNvPr id="6" name="Shape 4"/>
          <p:cNvSpPr/>
          <p:nvPr/>
        </p:nvSpPr>
        <p:spPr>
          <a:xfrm>
            <a:off x="990600" y="2219325"/>
            <a:ext cx="857250" cy="28575"/>
          </a:xfrm>
          <a:prstGeom prst="rect">
            <a:avLst/>
          </a:prstGeom>
          <a:solidFill>
            <a:srgbClr val="7A1F2B"/>
          </a:solidFill>
          <a:ln/>
        </p:spPr>
        <p:txBody>
          <a:bodyPr/>
          <a:lstStyle/>
          <a:p>
            <a:endParaRPr lang="en-US"/>
          </a:p>
        </p:txBody>
      </p:sp>
      <p:sp>
        <p:nvSpPr>
          <p:cNvPr id="7" name="Shape 5"/>
          <p:cNvSpPr/>
          <p:nvPr/>
        </p:nvSpPr>
        <p:spPr>
          <a:xfrm>
            <a:off x="990600" y="3038475"/>
            <a:ext cx="647700" cy="647700"/>
          </a:xfrm>
          <a:prstGeom prst="ellipse">
            <a:avLst/>
          </a:prstGeom>
          <a:ln w="19050">
            <a:solidFill>
              <a:srgbClr val="7A1F2B"/>
            </a:solidFill>
            <a:prstDash val="solid"/>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81100" y="3228975"/>
            <a:ext cx="266700" cy="266700"/>
          </a:xfrm>
          <a:prstGeom prst="rect">
            <a:avLst/>
          </a:prstGeom>
        </p:spPr>
      </p:pic>
      <p:sp>
        <p:nvSpPr>
          <p:cNvPr id="9" name="Text 6"/>
          <p:cNvSpPr/>
          <p:nvPr/>
        </p:nvSpPr>
        <p:spPr>
          <a:xfrm>
            <a:off x="990600" y="3876675"/>
            <a:ext cx="8444865"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1A1A"/>
                </a:solidFill>
                <a:latin typeface="Georgia" pitchFamily="34" charset="0"/>
                <a:ea typeface="Georgia" pitchFamily="34" charset="-122"/>
                <a:cs typeface="Georgia" pitchFamily="34" charset="-120"/>
              </a:rPr>
              <a:t>Harvest now, decrypt later</a:t>
            </a:r>
            <a:endParaRPr lang="en-US" sz="2400" dirty="0"/>
          </a:p>
        </p:txBody>
      </p:sp>
      <p:sp>
        <p:nvSpPr>
          <p:cNvPr id="10" name="Text 7"/>
          <p:cNvSpPr/>
          <p:nvPr/>
        </p:nvSpPr>
        <p:spPr>
          <a:xfrm>
            <a:off x="990600" y="4410075"/>
            <a:ext cx="7907465" cy="1145381"/>
          </a:xfrm>
          <a:prstGeom prst="rect">
            <a:avLst/>
          </a:prstGeom>
          <a:noFill/>
          <a:ln/>
        </p:spPr>
        <p:txBody>
          <a:bodyPr wrap="square" lIns="25400" tIns="25400" rIns="25400" bIns="25400" rtlCol="0" anchor="t">
            <a:normAutofit lnSpcReduction="10000"/>
          </a:bodyPr>
          <a:lstStyle/>
          <a:p>
            <a:pPr marL="0" indent="0" algn="l">
              <a:lnSpc>
                <a:spcPct val="138393"/>
              </a:lnSpc>
              <a:buNone/>
            </a:pPr>
            <a:r>
              <a:rPr lang="en-US" sz="1875" dirty="0">
                <a:solidFill>
                  <a:srgbClr val="333333"/>
                </a:solidFill>
                <a:latin typeface="Georgia" pitchFamily="34" charset="0"/>
                <a:ea typeface="Georgia" pitchFamily="34" charset="-122"/>
                <a:cs typeface="Georgia" pitchFamily="34" charset="-120"/>
              </a:rPr>
              <a:t>Somewhere right now, a copy of an encrypted email is being quietly saved by someone who cannot read it yet. That is the whole plan. Agencies including CISA and GCHQ have confirmed this is already happening.</a:t>
            </a:r>
            <a:endParaRPr lang="en-US" sz="1875" dirty="0"/>
          </a:p>
        </p:txBody>
      </p:sp>
      <p:sp>
        <p:nvSpPr>
          <p:cNvPr id="11" name="Text 8"/>
          <p:cNvSpPr/>
          <p:nvPr/>
        </p:nvSpPr>
        <p:spPr>
          <a:xfrm>
            <a:off x="990600" y="5707856"/>
            <a:ext cx="7907465" cy="1883569"/>
          </a:xfrm>
          <a:prstGeom prst="rect">
            <a:avLst/>
          </a:prstGeom>
          <a:noFill/>
          <a:ln/>
        </p:spPr>
        <p:txBody>
          <a:bodyPr wrap="square" lIns="25400" tIns="25400" rIns="25400" bIns="25400" rtlCol="0" anchor="t">
            <a:normAutofit lnSpcReduction="10000"/>
          </a:bodyPr>
          <a:lstStyle/>
          <a:p>
            <a:pPr marL="0" indent="0" algn="l">
              <a:lnSpc>
                <a:spcPct val="138393"/>
              </a:lnSpc>
              <a:buNone/>
            </a:pPr>
            <a:r>
              <a:rPr lang="en-US" sz="1875" dirty="0">
                <a:solidFill>
                  <a:srgbClr val="333333"/>
                </a:solidFill>
                <a:latin typeface="Georgia" pitchFamily="34" charset="0"/>
                <a:ea typeface="Georgia" pitchFamily="34" charset="-122"/>
                <a:cs typeface="Georgia" pitchFamily="34" charset="-120"/>
              </a:rPr>
              <a:t>The moment a quantum computer capable of breaking RSA or ECC exists, everything harvested this way becomes readable at once, including mail sent years earlier. Email is a good target for this kind of patience, a legal contract or a medical record often needs to stay private for decades, exactly the timeline a patient attacker can work with.</a:t>
            </a:r>
            <a:endParaRPr lang="en-US" sz="1875" dirty="0"/>
          </a:p>
        </p:txBody>
      </p:sp>
      <p:sp>
        <p:nvSpPr>
          <p:cNvPr id="12" name="Shape 9"/>
          <p:cNvSpPr/>
          <p:nvPr/>
        </p:nvSpPr>
        <p:spPr>
          <a:xfrm>
            <a:off x="9144000" y="3038475"/>
            <a:ext cx="19050" cy="4514850"/>
          </a:xfrm>
          <a:prstGeom prst="rect">
            <a:avLst/>
          </a:prstGeom>
          <a:solidFill>
            <a:srgbClr val="A89C8C"/>
          </a:solidFill>
          <a:ln/>
        </p:spPr>
        <p:txBody>
          <a:bodyPr/>
          <a:lstStyle/>
          <a:p>
            <a:endParaRPr lang="en-US"/>
          </a:p>
        </p:txBody>
      </p:sp>
      <p:sp>
        <p:nvSpPr>
          <p:cNvPr id="13" name="Shape 10"/>
          <p:cNvSpPr/>
          <p:nvPr/>
        </p:nvSpPr>
        <p:spPr>
          <a:xfrm>
            <a:off x="9639300" y="3038475"/>
            <a:ext cx="647700" cy="647700"/>
          </a:xfrm>
          <a:prstGeom prst="ellipse">
            <a:avLst/>
          </a:prstGeom>
          <a:ln w="19050">
            <a:solidFill>
              <a:srgbClr val="7A1F2B"/>
            </a:solidFill>
            <a:prstDash val="solid"/>
          </a:ln>
        </p:spPr>
        <p:txBody>
          <a:bodyPr/>
          <a:lstStyle/>
          <a:p>
            <a:endParaRPr lang="en-US"/>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29800" y="3228975"/>
            <a:ext cx="266700" cy="266700"/>
          </a:xfrm>
          <a:prstGeom prst="rect">
            <a:avLst/>
          </a:prstGeom>
        </p:spPr>
      </p:pic>
      <p:sp>
        <p:nvSpPr>
          <p:cNvPr id="15" name="Text 11"/>
          <p:cNvSpPr/>
          <p:nvPr/>
        </p:nvSpPr>
        <p:spPr>
          <a:xfrm>
            <a:off x="9639300" y="3876675"/>
            <a:ext cx="7900035"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1A1A"/>
                </a:solidFill>
                <a:latin typeface="Georgia" pitchFamily="34" charset="0"/>
                <a:ea typeface="Georgia" pitchFamily="34" charset="-122"/>
                <a:cs typeface="Georgia" pitchFamily="34" charset="-120"/>
              </a:rPr>
              <a:t>Silent forgery, later</a:t>
            </a:r>
            <a:endParaRPr lang="en-US" sz="2400" dirty="0"/>
          </a:p>
        </p:txBody>
      </p:sp>
      <p:sp>
        <p:nvSpPr>
          <p:cNvPr id="16" name="Text 12"/>
          <p:cNvSpPr/>
          <p:nvPr/>
        </p:nvSpPr>
        <p:spPr>
          <a:xfrm>
            <a:off x="9639300" y="4410075"/>
            <a:ext cx="7397306" cy="2252663"/>
          </a:xfrm>
          <a:prstGeom prst="rect">
            <a:avLst/>
          </a:prstGeom>
          <a:noFill/>
          <a:ln/>
        </p:spPr>
        <p:txBody>
          <a:bodyPr wrap="square" lIns="25400" tIns="25400" rIns="25400" bIns="25400" rtlCol="0" anchor="t">
            <a:normAutofit lnSpcReduction="10000"/>
          </a:bodyPr>
          <a:lstStyle/>
          <a:p>
            <a:pPr marL="0" indent="0" algn="l">
              <a:lnSpc>
                <a:spcPct val="138393"/>
              </a:lnSpc>
              <a:buNone/>
            </a:pPr>
            <a:r>
              <a:rPr lang="en-US" sz="1875" dirty="0">
                <a:solidFill>
                  <a:srgbClr val="333333"/>
                </a:solidFill>
                <a:latin typeface="Georgia" pitchFamily="34" charset="0"/>
                <a:ea typeface="Georgia" pitchFamily="34" charset="-122"/>
                <a:cs typeface="Georgia" pitchFamily="34" charset="-120"/>
              </a:rPr>
              <a:t>There is a quieter second version of the same problem. The same future computer that can unlock old messages can also forge a convincing new signature on an old one. An email signed and archived today, meant to prove who sent what and when, could be forged after the fact once quantum computers exist, which is precisely what ML-DSA, the signing method built into Qmail, exists to prevent.</a:t>
            </a:r>
            <a:endParaRPr lang="en-US" sz="1875" dirty="0"/>
          </a:p>
        </p:txBody>
      </p:sp>
      <p:sp>
        <p:nvSpPr>
          <p:cNvPr id="20" name="Rectangle 19">
            <a:extLst>
              <a:ext uri="{FF2B5EF4-FFF2-40B4-BE49-F238E27FC236}">
                <a16:creationId xmlns:a16="http://schemas.microsoft.com/office/drawing/2014/main" id="{922A48E8-BE66-30F4-F4D0-17609662218A}"/>
              </a:ext>
            </a:extLst>
          </p:cNvPr>
          <p:cNvSpPr/>
          <p:nvPr/>
        </p:nvSpPr>
        <p:spPr>
          <a:xfrm>
            <a:off x="990600" y="8200022"/>
            <a:ext cx="3645049" cy="270710"/>
          </a:xfrm>
          <a:prstGeom prst="rect">
            <a:avLst/>
          </a:prstGeom>
          <a:solidFill>
            <a:srgbClr val="1A1A1A"/>
          </a:solidFill>
          <a:ln w="9592" cap="flat">
            <a:noFill/>
            <a:prstDash val="solid"/>
            <a:miter/>
          </a:ln>
        </p:spPr>
        <p:txBody>
          <a:bodyPr/>
          <a:lstStyle/>
          <a:p>
            <a:endParaRPr lang="en-IN"/>
          </a:p>
        </p:txBody>
      </p:sp>
      <p:sp>
        <p:nvSpPr>
          <p:cNvPr id="21" name="Rectangle 20">
            <a:extLst>
              <a:ext uri="{FF2B5EF4-FFF2-40B4-BE49-F238E27FC236}">
                <a16:creationId xmlns:a16="http://schemas.microsoft.com/office/drawing/2014/main" id="{F88BD145-B79F-23A2-B6DF-7E1A001DC3A4}"/>
              </a:ext>
            </a:extLst>
          </p:cNvPr>
          <p:cNvSpPr/>
          <p:nvPr/>
        </p:nvSpPr>
        <p:spPr>
          <a:xfrm>
            <a:off x="4635649" y="8200022"/>
            <a:ext cx="4604272" cy="270710"/>
          </a:xfrm>
          <a:prstGeom prst="rect">
            <a:avLst/>
          </a:prstGeom>
          <a:gradFill>
            <a:gsLst>
              <a:gs pos="0">
                <a:srgbClr val="1A1A1A"/>
              </a:gs>
              <a:gs pos="50000">
                <a:srgbClr val="8C8C8C"/>
              </a:gs>
              <a:gs pos="100000">
                <a:srgbClr val="FFFFFF"/>
              </a:gs>
            </a:gsLst>
            <a:lin ang="0" scaled="1"/>
          </a:gradFill>
          <a:ln w="9592" cap="flat">
            <a:noFill/>
            <a:prstDash val="solid"/>
            <a:miter/>
          </a:ln>
        </p:spPr>
        <p:txBody>
          <a:bodyPr/>
          <a:lstStyle/>
          <a:p>
            <a:endParaRPr lang="en-IN"/>
          </a:p>
        </p:txBody>
      </p:sp>
      <p:sp>
        <p:nvSpPr>
          <p:cNvPr id="22" name="Rectangle 21">
            <a:extLst>
              <a:ext uri="{FF2B5EF4-FFF2-40B4-BE49-F238E27FC236}">
                <a16:creationId xmlns:a16="http://schemas.microsoft.com/office/drawing/2014/main" id="{F53FA810-5B6F-42B0-91BB-A49E16F26D71}"/>
              </a:ext>
            </a:extLst>
          </p:cNvPr>
          <p:cNvSpPr/>
          <p:nvPr/>
        </p:nvSpPr>
        <p:spPr>
          <a:xfrm>
            <a:off x="9239922" y="8200022"/>
            <a:ext cx="3645049" cy="270710"/>
          </a:xfrm>
          <a:prstGeom prst="rect">
            <a:avLst/>
          </a:prstGeom>
          <a:solidFill>
            <a:srgbClr val="FFFFFF"/>
          </a:solidFill>
          <a:ln w="14388" cap="flat">
            <a:solidFill>
              <a:srgbClr val="C9C2B8"/>
            </a:solidFill>
            <a:custDash>
              <a:ds d="300000" sp="375000"/>
            </a:custDash>
            <a:miter/>
          </a:ln>
        </p:spPr>
        <p:txBody>
          <a:bodyPr/>
          <a:lstStyle/>
          <a:p>
            <a:endParaRPr lang="en-IN"/>
          </a:p>
        </p:txBody>
      </p:sp>
      <p:sp>
        <p:nvSpPr>
          <p:cNvPr id="23" name="Rectangle 22">
            <a:extLst>
              <a:ext uri="{FF2B5EF4-FFF2-40B4-BE49-F238E27FC236}">
                <a16:creationId xmlns:a16="http://schemas.microsoft.com/office/drawing/2014/main" id="{FC6A8A58-50C6-037D-CF14-83DEFDDB89FD}"/>
              </a:ext>
            </a:extLst>
          </p:cNvPr>
          <p:cNvSpPr/>
          <p:nvPr/>
        </p:nvSpPr>
        <p:spPr>
          <a:xfrm>
            <a:off x="12884971" y="8200022"/>
            <a:ext cx="4412428" cy="270710"/>
          </a:xfrm>
          <a:prstGeom prst="rect">
            <a:avLst/>
          </a:prstGeom>
          <a:solidFill>
            <a:srgbClr val="8A2A1F"/>
          </a:solidFill>
          <a:ln w="9592" cap="flat">
            <a:noFill/>
            <a:prstDash val="solid"/>
            <a:miter/>
          </a:ln>
        </p:spPr>
        <p:txBody>
          <a:bodyPr/>
          <a:lstStyle/>
          <a:p>
            <a:endParaRPr lang="en-IN"/>
          </a:p>
        </p:txBody>
      </p:sp>
      <p:grpSp>
        <p:nvGrpSpPr>
          <p:cNvPr id="24" name="Image 2" descr="preencoded.png">
            <a:extLst>
              <a:ext uri="{FF2B5EF4-FFF2-40B4-BE49-F238E27FC236}">
                <a16:creationId xmlns:a16="http://schemas.microsoft.com/office/drawing/2014/main" id="{F32867E8-8193-2AD7-BA80-55ED03B9C9CC}"/>
              </a:ext>
            </a:extLst>
          </p:cNvPr>
          <p:cNvGrpSpPr/>
          <p:nvPr/>
        </p:nvGrpSpPr>
        <p:grpSpPr>
          <a:xfrm>
            <a:off x="990600" y="7940921"/>
            <a:ext cx="13422384" cy="209853"/>
            <a:chOff x="990600" y="7940921"/>
            <a:chExt cx="13422384" cy="209853"/>
          </a:xfrm>
        </p:grpSpPr>
        <p:sp>
          <p:nvSpPr>
            <p:cNvPr id="25" name="TextBox 24">
              <a:extLst>
                <a:ext uri="{FF2B5EF4-FFF2-40B4-BE49-F238E27FC236}">
                  <a16:creationId xmlns:a16="http://schemas.microsoft.com/office/drawing/2014/main" id="{92773338-A4DF-79F9-68C4-E0A89D9B668B}"/>
                </a:ext>
              </a:extLst>
            </p:cNvPr>
            <p:cNvSpPr txBox="1"/>
            <p:nvPr/>
          </p:nvSpPr>
          <p:spPr>
            <a:xfrm>
              <a:off x="899160" y="7895201"/>
              <a:ext cx="973480" cy="301293"/>
            </a:xfrm>
            <a:prstGeom prst="rect">
              <a:avLst/>
            </a:prstGeom>
            <a:noFill/>
          </p:spPr>
          <p:txBody>
            <a:bodyPr wrap="none" rtlCol="0">
              <a:spAutoFit/>
            </a:bodyPr>
            <a:lstStyle/>
            <a:p>
              <a:pPr algn="l"/>
              <a:r>
                <a:rPr lang="en-IN" sz="1575" b="1" spc="0" baseline="0">
                  <a:ln/>
                  <a:solidFill>
                    <a:srgbClr val="1A1A1A"/>
                  </a:solidFill>
                  <a:latin typeface="Times New Roman"/>
                  <a:cs typeface="Times New Roman"/>
                  <a:sym typeface="Times New Roman"/>
                  <a:rtl val="0"/>
                </a:rPr>
                <a:t>Intercept</a:t>
              </a:r>
            </a:p>
          </p:txBody>
        </p:sp>
        <p:sp>
          <p:nvSpPr>
            <p:cNvPr id="26" name="TextBox 25">
              <a:extLst>
                <a:ext uri="{FF2B5EF4-FFF2-40B4-BE49-F238E27FC236}">
                  <a16:creationId xmlns:a16="http://schemas.microsoft.com/office/drawing/2014/main" id="{65B55661-4BFC-21EE-0C82-FDF1AF0C097C}"/>
                </a:ext>
              </a:extLst>
            </p:cNvPr>
            <p:cNvSpPr txBox="1"/>
            <p:nvPr/>
          </p:nvSpPr>
          <p:spPr>
            <a:xfrm>
              <a:off x="4640131" y="7895201"/>
              <a:ext cx="861647" cy="301293"/>
            </a:xfrm>
            <a:prstGeom prst="rect">
              <a:avLst/>
            </a:prstGeom>
            <a:noFill/>
          </p:spPr>
          <p:txBody>
            <a:bodyPr wrap="none" rtlCol="0">
              <a:spAutoFit/>
            </a:bodyPr>
            <a:lstStyle/>
            <a:p>
              <a:pPr algn="l"/>
              <a:r>
                <a:rPr lang="en-IN" sz="1575" b="1" spc="0" baseline="0">
                  <a:ln/>
                  <a:solidFill>
                    <a:srgbClr val="555555"/>
                  </a:solidFill>
                  <a:latin typeface="Times New Roman"/>
                  <a:cs typeface="Times New Roman"/>
                  <a:sym typeface="Times New Roman"/>
                  <a:rtl val="0"/>
                </a:rPr>
                <a:t>Archive</a:t>
              </a:r>
            </a:p>
          </p:txBody>
        </p:sp>
        <p:sp>
          <p:nvSpPr>
            <p:cNvPr id="27" name="TextBox 26">
              <a:extLst>
                <a:ext uri="{FF2B5EF4-FFF2-40B4-BE49-F238E27FC236}">
                  <a16:creationId xmlns:a16="http://schemas.microsoft.com/office/drawing/2014/main" id="{A7A04B38-7481-91A8-0616-8072C570E3B2}"/>
                </a:ext>
              </a:extLst>
            </p:cNvPr>
            <p:cNvSpPr txBox="1"/>
            <p:nvPr/>
          </p:nvSpPr>
          <p:spPr>
            <a:xfrm>
              <a:off x="9244404" y="7895201"/>
              <a:ext cx="596966" cy="301293"/>
            </a:xfrm>
            <a:prstGeom prst="rect">
              <a:avLst/>
            </a:prstGeom>
            <a:noFill/>
          </p:spPr>
          <p:txBody>
            <a:bodyPr wrap="none" rtlCol="0">
              <a:spAutoFit/>
            </a:bodyPr>
            <a:lstStyle/>
            <a:p>
              <a:pPr algn="l"/>
              <a:r>
                <a:rPr lang="en-IN" sz="1575" b="1" spc="0" baseline="0">
                  <a:ln/>
                  <a:solidFill>
                    <a:srgbClr val="8A8A8A"/>
                  </a:solidFill>
                  <a:latin typeface="Times New Roman"/>
                  <a:cs typeface="Times New Roman"/>
                  <a:sym typeface="Times New Roman"/>
                  <a:rtl val="0"/>
                </a:rPr>
                <a:t>Wait</a:t>
              </a:r>
            </a:p>
          </p:txBody>
        </p:sp>
        <p:sp>
          <p:nvSpPr>
            <p:cNvPr id="28" name="TextBox 27">
              <a:extLst>
                <a:ext uri="{FF2B5EF4-FFF2-40B4-BE49-F238E27FC236}">
                  <a16:creationId xmlns:a16="http://schemas.microsoft.com/office/drawing/2014/main" id="{431EB120-3DB1-890A-ED9B-D3C5C4329B5B}"/>
                </a:ext>
              </a:extLst>
            </p:cNvPr>
            <p:cNvSpPr txBox="1"/>
            <p:nvPr/>
          </p:nvSpPr>
          <p:spPr>
            <a:xfrm>
              <a:off x="12889454" y="7895201"/>
              <a:ext cx="1614970" cy="301293"/>
            </a:xfrm>
            <a:prstGeom prst="rect">
              <a:avLst/>
            </a:prstGeom>
            <a:noFill/>
          </p:spPr>
          <p:txBody>
            <a:bodyPr wrap="none" rtlCol="0">
              <a:spAutoFit/>
            </a:bodyPr>
            <a:lstStyle/>
            <a:p>
              <a:pPr algn="l"/>
              <a:r>
                <a:rPr lang="en-IN" sz="1575" b="1" spc="0" baseline="0">
                  <a:ln/>
                  <a:solidFill>
                    <a:srgbClr val="8A2A1F"/>
                  </a:solidFill>
                  <a:latin typeface="Times New Roman"/>
                  <a:cs typeface="Times New Roman"/>
                  <a:sym typeface="Times New Roman"/>
                  <a:rtl val="0"/>
                </a:rPr>
                <a:t>Decrypt · Q-Day</a:t>
              </a:r>
            </a:p>
          </p:txBody>
        </p:sp>
      </p:grpSp>
      <p:grpSp>
        <p:nvGrpSpPr>
          <p:cNvPr id="29" name="Image 2" descr="preencoded.png">
            <a:extLst>
              <a:ext uri="{FF2B5EF4-FFF2-40B4-BE49-F238E27FC236}">
                <a16:creationId xmlns:a16="http://schemas.microsoft.com/office/drawing/2014/main" id="{96DAAB6D-32F2-EB57-F7F0-60A56B23C99E}"/>
              </a:ext>
            </a:extLst>
          </p:cNvPr>
          <p:cNvGrpSpPr/>
          <p:nvPr/>
        </p:nvGrpSpPr>
        <p:grpSpPr>
          <a:xfrm>
            <a:off x="990600" y="8542561"/>
            <a:ext cx="15274126" cy="179874"/>
            <a:chOff x="990600" y="8542561"/>
            <a:chExt cx="15274126" cy="179874"/>
          </a:xfrm>
        </p:grpSpPr>
        <p:sp>
          <p:nvSpPr>
            <p:cNvPr id="30" name="TextBox 29">
              <a:extLst>
                <a:ext uri="{FF2B5EF4-FFF2-40B4-BE49-F238E27FC236}">
                  <a16:creationId xmlns:a16="http://schemas.microsoft.com/office/drawing/2014/main" id="{BEC58A7B-17E1-660F-8F58-91D986A27624}"/>
                </a:ext>
              </a:extLst>
            </p:cNvPr>
            <p:cNvSpPr txBox="1"/>
            <p:nvPr/>
          </p:nvSpPr>
          <p:spPr>
            <a:xfrm>
              <a:off x="899160" y="8496841"/>
              <a:ext cx="2335484" cy="271314"/>
            </a:xfrm>
            <a:prstGeom prst="rect">
              <a:avLst/>
            </a:prstGeom>
            <a:noFill/>
          </p:spPr>
          <p:txBody>
            <a:bodyPr wrap="none" rtlCol="0">
              <a:spAutoFit/>
            </a:bodyPr>
            <a:lstStyle/>
            <a:p>
              <a:pPr algn="l"/>
              <a:r>
                <a:rPr lang="en-IN" sz="1350" spc="0" baseline="0">
                  <a:ln/>
                  <a:solidFill>
                    <a:srgbClr val="666666"/>
                  </a:solidFill>
                  <a:latin typeface="Times New Roman"/>
                  <a:cs typeface="Times New Roman"/>
                  <a:sym typeface="Times New Roman"/>
                  <a:rtl val="0"/>
                </a:rPr>
                <a:t>Encrypted mail collected today</a:t>
              </a:r>
            </a:p>
          </p:txBody>
        </p:sp>
        <p:sp>
          <p:nvSpPr>
            <p:cNvPr id="31" name="TextBox 30">
              <a:extLst>
                <a:ext uri="{FF2B5EF4-FFF2-40B4-BE49-F238E27FC236}">
                  <a16:creationId xmlns:a16="http://schemas.microsoft.com/office/drawing/2014/main" id="{A2499CC8-D5CB-4A4E-1BB9-3ADB94B153D7}"/>
                </a:ext>
              </a:extLst>
            </p:cNvPr>
            <p:cNvSpPr txBox="1"/>
            <p:nvPr/>
          </p:nvSpPr>
          <p:spPr>
            <a:xfrm>
              <a:off x="4640131" y="8496841"/>
              <a:ext cx="2695558" cy="271314"/>
            </a:xfrm>
            <a:prstGeom prst="rect">
              <a:avLst/>
            </a:prstGeom>
            <a:noFill/>
          </p:spPr>
          <p:txBody>
            <a:bodyPr wrap="none" rtlCol="0">
              <a:spAutoFit/>
            </a:bodyPr>
            <a:lstStyle/>
            <a:p>
              <a:pPr algn="l"/>
              <a:r>
                <a:rPr lang="en-IN" sz="1350" spc="0" baseline="0">
                  <a:ln/>
                  <a:solidFill>
                    <a:srgbClr val="666666"/>
                  </a:solidFill>
                  <a:latin typeface="Times New Roman"/>
                  <a:cs typeface="Times New Roman"/>
                  <a:sym typeface="Times New Roman"/>
                  <a:rtl val="0"/>
                </a:rPr>
                <a:t>Ciphertext sits in storage, years pass</a:t>
              </a:r>
            </a:p>
          </p:txBody>
        </p:sp>
        <p:sp>
          <p:nvSpPr>
            <p:cNvPr id="32" name="TextBox 31">
              <a:extLst>
                <a:ext uri="{FF2B5EF4-FFF2-40B4-BE49-F238E27FC236}">
                  <a16:creationId xmlns:a16="http://schemas.microsoft.com/office/drawing/2014/main" id="{C71D9D66-14FA-1377-B3BB-41139E4ACFCD}"/>
                </a:ext>
              </a:extLst>
            </p:cNvPr>
            <p:cNvSpPr txBox="1"/>
            <p:nvPr/>
          </p:nvSpPr>
          <p:spPr>
            <a:xfrm>
              <a:off x="9244404" y="8496841"/>
              <a:ext cx="2806000" cy="271314"/>
            </a:xfrm>
            <a:prstGeom prst="rect">
              <a:avLst/>
            </a:prstGeom>
            <a:noFill/>
          </p:spPr>
          <p:txBody>
            <a:bodyPr wrap="none" rtlCol="0">
              <a:spAutoFit/>
            </a:bodyPr>
            <a:lstStyle/>
            <a:p>
              <a:pPr algn="l"/>
              <a:r>
                <a:rPr lang="en-IN" sz="1350" spc="0" baseline="0">
                  <a:ln/>
                  <a:solidFill>
                    <a:srgbClr val="666666"/>
                  </a:solidFill>
                  <a:latin typeface="Times New Roman"/>
                  <a:cs typeface="Times New Roman"/>
                  <a:sym typeface="Times New Roman"/>
                  <a:rtl val="0"/>
                </a:rPr>
                <a:t>Nothing happens, and that is the point</a:t>
              </a:r>
            </a:p>
          </p:txBody>
        </p:sp>
        <p:sp>
          <p:nvSpPr>
            <p:cNvPr id="33" name="TextBox 32">
              <a:extLst>
                <a:ext uri="{FF2B5EF4-FFF2-40B4-BE49-F238E27FC236}">
                  <a16:creationId xmlns:a16="http://schemas.microsoft.com/office/drawing/2014/main" id="{AAA6EEA4-4AAF-8863-84EF-5E06A3A9CF74}"/>
                </a:ext>
              </a:extLst>
            </p:cNvPr>
            <p:cNvSpPr txBox="1"/>
            <p:nvPr/>
          </p:nvSpPr>
          <p:spPr>
            <a:xfrm>
              <a:off x="12889454" y="8496841"/>
              <a:ext cx="3466712" cy="271314"/>
            </a:xfrm>
            <a:prstGeom prst="rect">
              <a:avLst/>
            </a:prstGeom>
            <a:noFill/>
          </p:spPr>
          <p:txBody>
            <a:bodyPr wrap="none" rtlCol="0">
              <a:spAutoFit/>
            </a:bodyPr>
            <a:lstStyle/>
            <a:p>
              <a:pPr algn="l"/>
              <a:r>
                <a:rPr lang="en-IN" sz="1350" spc="0" baseline="0">
                  <a:ln/>
                  <a:solidFill>
                    <a:srgbClr val="8A2A1F"/>
                  </a:solidFill>
                  <a:latin typeface="Times New Roman"/>
                  <a:cs typeface="Times New Roman"/>
                  <a:sym typeface="Times New Roman"/>
                  <a:rtl val="0"/>
                </a:rPr>
                <a:t>Everything harvested becomes readable at once</a:t>
              </a:r>
            </a:p>
          </p:txBody>
        </p:sp>
      </p:grpSp>
      <p:sp>
        <p:nvSpPr>
          <p:cNvPr id="34" name="Freeform: Shape 33">
            <a:extLst>
              <a:ext uri="{FF2B5EF4-FFF2-40B4-BE49-F238E27FC236}">
                <a16:creationId xmlns:a16="http://schemas.microsoft.com/office/drawing/2014/main" id="{86453B1A-4399-7331-C81E-536101687EB0}"/>
              </a:ext>
            </a:extLst>
          </p:cNvPr>
          <p:cNvSpPr/>
          <p:nvPr/>
        </p:nvSpPr>
        <p:spPr>
          <a:xfrm>
            <a:off x="990600" y="9210675"/>
            <a:ext cx="16210877" cy="9023"/>
          </a:xfrm>
          <a:custGeom>
            <a:avLst/>
            <a:gdLst>
              <a:gd name="csX0" fmla="*/ 0 w 16210877"/>
              <a:gd name="csY0" fmla="*/ 0 h 9023"/>
              <a:gd name="csX1" fmla="*/ 16210878 w 16210877"/>
              <a:gd name="csY1" fmla="*/ 0 h 9023"/>
            </a:gdLst>
            <a:ahLst/>
            <a:cxnLst>
              <a:cxn ang="0">
                <a:pos x="csX0" y="csY0"/>
              </a:cxn>
              <a:cxn ang="0">
                <a:pos x="csX1" y="csY1"/>
              </a:cxn>
            </a:cxnLst>
            <a:rect l="l" t="t" r="r" b="b"/>
            <a:pathLst>
              <a:path w="16210877" h="9023">
                <a:moveTo>
                  <a:pt x="0" y="0"/>
                </a:moveTo>
                <a:lnTo>
                  <a:pt x="16210878" y="0"/>
                </a:lnTo>
              </a:path>
            </a:pathLst>
          </a:custGeom>
          <a:ln w="38369" cap="flat">
            <a:solidFill>
              <a:srgbClr val="A89C8C"/>
            </a:solidFill>
            <a:custDash>
              <a:ds d="150000" sp="675000"/>
            </a:custDash>
            <a:miter/>
          </a:ln>
        </p:spPr>
        <p:txBody>
          <a:bodyPr/>
          <a:lstStyle/>
          <a:p>
            <a:endParaRPr lang="en-IN"/>
          </a:p>
        </p:txBody>
      </p:sp>
      <p:sp>
        <p:nvSpPr>
          <p:cNvPr id="35" name="Oval 34">
            <a:extLst>
              <a:ext uri="{FF2B5EF4-FFF2-40B4-BE49-F238E27FC236}">
                <a16:creationId xmlns:a16="http://schemas.microsoft.com/office/drawing/2014/main" id="{999062B3-4F10-F20B-874A-AED3D3C315A4}"/>
              </a:ext>
            </a:extLst>
          </p:cNvPr>
          <p:cNvSpPr/>
          <p:nvPr/>
        </p:nvSpPr>
        <p:spPr>
          <a:xfrm>
            <a:off x="17134332" y="9147509"/>
            <a:ext cx="134291" cy="126331"/>
          </a:xfrm>
          <a:prstGeom prst="ellipse">
            <a:avLst/>
          </a:prstGeom>
          <a:solidFill>
            <a:srgbClr val="8A2A1F"/>
          </a:solidFill>
          <a:ln w="9592" cap="flat">
            <a:noFill/>
            <a:prstDash val="solid"/>
            <a:miter/>
          </a:ln>
        </p:spPr>
        <p:txBody>
          <a:bodyPr/>
          <a:lstStyle/>
          <a:p>
            <a:endParaRPr lang="en-IN"/>
          </a:p>
        </p:txBody>
      </p:sp>
      <p:sp>
        <p:nvSpPr>
          <p:cNvPr id="36" name="TextBox 35">
            <a:extLst>
              <a:ext uri="{FF2B5EF4-FFF2-40B4-BE49-F238E27FC236}">
                <a16:creationId xmlns:a16="http://schemas.microsoft.com/office/drawing/2014/main" id="{8A4A4DFC-32F4-D6E5-8638-36BB3387CE90}"/>
              </a:ext>
            </a:extLst>
          </p:cNvPr>
          <p:cNvSpPr txBox="1"/>
          <p:nvPr/>
        </p:nvSpPr>
        <p:spPr>
          <a:xfrm>
            <a:off x="899160" y="9254830"/>
            <a:ext cx="4144791" cy="271314"/>
          </a:xfrm>
          <a:prstGeom prst="rect">
            <a:avLst/>
          </a:prstGeom>
          <a:noFill/>
        </p:spPr>
        <p:txBody>
          <a:bodyPr wrap="none" rtlCol="0">
            <a:spAutoFit/>
          </a:bodyPr>
          <a:lstStyle/>
          <a:p>
            <a:pPr algn="l"/>
            <a:r>
              <a:rPr lang="en-IN" sz="1350" spc="0" baseline="0">
                <a:ln/>
                <a:solidFill>
                  <a:srgbClr val="666666"/>
                </a:solidFill>
                <a:latin typeface="Times New Roman"/>
                <a:cs typeface="Times New Roman"/>
                <a:sym typeface="Times New Roman"/>
                <a:rtl val="0"/>
              </a:rPr>
              <a:t>Signed today, same Q-Day endpoint: forged after the fact</a:t>
            </a:r>
          </a:p>
        </p:txBody>
      </p:sp>
      <p:pic>
        <p:nvPicPr>
          <p:cNvPr id="18" name="Image 3" descr="preencoded.png"/>
          <p:cNvPicPr>
            <a:picLocks noChangeAspect="1"/>
          </p:cNvPicPr>
          <p:nvPr/>
        </p:nvPicPr>
        <p:blipFill>
          <a:blip r:embed="rId5"/>
          <a:stretch>
            <a:fillRect/>
          </a:stretch>
        </p:blipFill>
        <p:spPr>
          <a:xfrm>
            <a:off x="17183100" y="9801225"/>
            <a:ext cx="114300" cy="2571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55699"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05</a:t>
            </a:r>
            <a:endParaRPr lang="en-US" sz="1800" dirty="0"/>
          </a:p>
        </p:txBody>
      </p:sp>
      <p:sp>
        <p:nvSpPr>
          <p:cNvPr id="3" name="Text 1"/>
          <p:cNvSpPr/>
          <p:nvPr/>
        </p:nvSpPr>
        <p:spPr>
          <a:xfrm>
            <a:off x="1422499" y="476250"/>
            <a:ext cx="324982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PROBLEM STATEMENT</a:t>
            </a:r>
            <a:endParaRPr lang="en-US" sz="1800" dirty="0"/>
          </a:p>
        </p:txBody>
      </p:sp>
      <p:sp>
        <p:nvSpPr>
          <p:cNvPr id="4" name="Shape 2"/>
          <p:cNvSpPr/>
          <p:nvPr/>
        </p:nvSpPr>
        <p:spPr>
          <a:xfrm>
            <a:off x="4529286" y="600075"/>
            <a:ext cx="12768114"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fontScale="85000" lnSpcReduction="10000"/>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Why "We'll Migrate Eventually" Isn't a Safe Answer</a:t>
            </a:r>
            <a:endParaRPr lang="en-US" sz="3750" dirty="0"/>
          </a:p>
        </p:txBody>
      </p:sp>
      <p:sp>
        <p:nvSpPr>
          <p:cNvPr id="6" name="Shape 4"/>
          <p:cNvSpPr/>
          <p:nvPr/>
        </p:nvSpPr>
        <p:spPr>
          <a:xfrm>
            <a:off x="990600" y="2597944"/>
            <a:ext cx="3041898" cy="390525"/>
          </a:xfrm>
          <a:prstGeom prst="rect">
            <a:avLst/>
          </a:prstGeom>
          <a:ln w="9525">
            <a:solidFill>
              <a:srgbClr val="7A1F2B"/>
            </a:solidFill>
            <a:prstDash val="solid"/>
          </a:ln>
        </p:spPr>
        <p:txBody>
          <a:bodyPr/>
          <a:lstStyle/>
          <a:p>
            <a:endParaRPr lang="en-US"/>
          </a:p>
        </p:txBody>
      </p:sp>
      <p:sp>
        <p:nvSpPr>
          <p:cNvPr id="7" name="Text 5"/>
          <p:cNvSpPr/>
          <p:nvPr/>
        </p:nvSpPr>
        <p:spPr>
          <a:xfrm>
            <a:off x="1133475" y="2664619"/>
            <a:ext cx="2847405" cy="295275"/>
          </a:xfrm>
          <a:prstGeom prst="rect">
            <a:avLst/>
          </a:prstGeom>
          <a:noFill/>
          <a:ln/>
        </p:spPr>
        <p:txBody>
          <a:bodyPr wrap="square" lIns="25400" tIns="25400" rIns="25400" bIns="25400" rtlCol="0" anchor="t">
            <a:normAutofit fontScale="85000" lnSpcReduction="10000"/>
          </a:bodyPr>
          <a:lstStyle/>
          <a:p>
            <a:pPr marL="0" indent="0" algn="l">
              <a:buNone/>
            </a:pPr>
            <a:r>
              <a:rPr lang="en-US" sz="1800" b="1" kern="0" spc="144" dirty="0">
                <a:solidFill>
                  <a:srgbClr val="7A1F2B"/>
                </a:solidFill>
                <a:latin typeface="Georgia" pitchFamily="34" charset="0"/>
                <a:ea typeface="Georgia" pitchFamily="34" charset="-122"/>
                <a:cs typeface="Georgia" pitchFamily="34" charset="-120"/>
              </a:rPr>
              <a:t>MIGRATION WINDOW</a:t>
            </a:r>
            <a:endParaRPr lang="en-US" sz="1800" dirty="0"/>
          </a:p>
        </p:txBody>
      </p:sp>
      <p:sp>
        <p:nvSpPr>
          <p:cNvPr id="8" name="Text 6"/>
          <p:cNvSpPr/>
          <p:nvPr/>
        </p:nvSpPr>
        <p:spPr>
          <a:xfrm>
            <a:off x="990600" y="3178969"/>
            <a:ext cx="6451521" cy="1257300"/>
          </a:xfrm>
          <a:prstGeom prst="rect">
            <a:avLst/>
          </a:prstGeom>
          <a:noFill/>
          <a:ln/>
        </p:spPr>
        <p:txBody>
          <a:bodyPr wrap="square" lIns="25400" tIns="25400" rIns="25400" bIns="25400" rtlCol="0" anchor="t">
            <a:normAutofit lnSpcReduction="10000"/>
          </a:bodyPr>
          <a:lstStyle/>
          <a:p>
            <a:pPr marL="0" indent="0" algn="l">
              <a:lnSpc>
                <a:spcPct val="88276"/>
              </a:lnSpc>
              <a:buNone/>
            </a:pPr>
            <a:r>
              <a:rPr lang="en-US" sz="9600" b="1" dirty="0">
                <a:solidFill>
                  <a:srgbClr val="7A1F2B"/>
                </a:solidFill>
                <a:latin typeface="Georgia" pitchFamily="34" charset="0"/>
                <a:ea typeface="Georgia" pitchFamily="34" charset="-122"/>
                <a:cs typeface="Georgia" pitchFamily="34" charset="-120"/>
              </a:rPr>
              <a:t>5–15+</a:t>
            </a:r>
            <a:r>
              <a:rPr lang="en-US" sz="2850" b="1" dirty="0">
                <a:solidFill>
                  <a:srgbClr val="7A1F2B"/>
                </a:solidFill>
                <a:latin typeface="Georgia" pitchFamily="34" charset="0"/>
                <a:ea typeface="Georgia" pitchFamily="34" charset="-122"/>
                <a:cs typeface="Georgia" pitchFamily="34" charset="-120"/>
              </a:rPr>
              <a:t>yrs</a:t>
            </a:r>
            <a:endParaRPr lang="en-US" sz="9600" dirty="0"/>
          </a:p>
        </p:txBody>
      </p:sp>
      <p:sp>
        <p:nvSpPr>
          <p:cNvPr id="9" name="Text 7"/>
          <p:cNvSpPr/>
          <p:nvPr/>
        </p:nvSpPr>
        <p:spPr>
          <a:xfrm>
            <a:off x="990600" y="4607719"/>
            <a:ext cx="3679031" cy="3252788"/>
          </a:xfrm>
          <a:prstGeom prst="rect">
            <a:avLst/>
          </a:prstGeom>
          <a:noFill/>
          <a:ln/>
        </p:spPr>
        <p:txBody>
          <a:bodyPr wrap="square" lIns="25400" tIns="25400" rIns="25400" bIns="25400" rtlCol="0" anchor="t">
            <a:normAutofit fontScale="92500"/>
          </a:bodyPr>
          <a:lstStyle/>
          <a:p>
            <a:pPr marL="0" indent="0" algn="l">
              <a:lnSpc>
                <a:spcPct val="133929"/>
              </a:lnSpc>
              <a:buNone/>
            </a:pPr>
            <a:r>
              <a:rPr lang="en-US" sz="1875" dirty="0">
                <a:solidFill>
                  <a:srgbClr val="1A1A1A"/>
                </a:solidFill>
                <a:latin typeface="Georgia" pitchFamily="34" charset="0"/>
                <a:ea typeface="Georgia" pitchFamily="34" charset="-122"/>
                <a:cs typeface="Georgia" pitchFamily="34" charset="-120"/>
              </a:rPr>
              <a:t>None of this gets solved by waiting for quantum computers to get closer. Realistic estimates put full migration somewhere between five and fifteen plus years out. Whatever gets sent before migration finishes stays exposed forever, there is no going back to re-encrypt something already copied and stored.</a:t>
            </a:r>
            <a:endParaRPr lang="en-US" sz="1875" dirty="0"/>
          </a:p>
        </p:txBody>
      </p:sp>
      <p:sp>
        <p:nvSpPr>
          <p:cNvPr id="10" name="Shape 8"/>
          <p:cNvSpPr/>
          <p:nvPr/>
        </p:nvSpPr>
        <p:spPr>
          <a:xfrm>
            <a:off x="990600" y="8165306"/>
            <a:ext cx="5865019" cy="552450"/>
          </a:xfrm>
          <a:prstGeom prst="rect">
            <a:avLst/>
          </a:prstGeom>
          <a:solidFill>
            <a:srgbClr val="F2E2E3"/>
          </a:solidFill>
          <a:ln w="9525">
            <a:solidFill>
              <a:srgbClr val="7A1F2B"/>
            </a:solidFill>
            <a:prstDash val="solid"/>
          </a:ln>
        </p:spPr>
        <p:txBody>
          <a:bodyPr/>
          <a:lstStyle/>
          <a:p>
            <a:endParaRPr lang="en-US"/>
          </a:p>
        </p:txBody>
      </p:sp>
      <p:sp>
        <p:nvSpPr>
          <p:cNvPr id="11" name="Shape 9"/>
          <p:cNvSpPr/>
          <p:nvPr/>
        </p:nvSpPr>
        <p:spPr>
          <a:xfrm>
            <a:off x="1000125" y="8079581"/>
            <a:ext cx="28575" cy="723900"/>
          </a:xfrm>
          <a:prstGeom prst="rect">
            <a:avLst/>
          </a:prstGeom>
          <a:solidFill>
            <a:srgbClr val="1A1A1A"/>
          </a:solidFill>
          <a:ln/>
        </p:spPr>
        <p:txBody>
          <a:bodyPr/>
          <a:lstStyle/>
          <a:p>
            <a:endParaRPr lang="en-US"/>
          </a:p>
        </p:txBody>
      </p:sp>
      <p:sp>
        <p:nvSpPr>
          <p:cNvPr id="12" name="Text 10"/>
          <p:cNvSpPr/>
          <p:nvPr/>
        </p:nvSpPr>
        <p:spPr>
          <a:xfrm>
            <a:off x="1190625" y="8241506"/>
            <a:ext cx="5628918" cy="438150"/>
          </a:xfrm>
          <a:prstGeom prst="rect">
            <a:avLst/>
          </a:prstGeom>
          <a:noFill/>
          <a:ln/>
        </p:spPr>
        <p:txBody>
          <a:bodyPr wrap="square" lIns="25400" tIns="25400" rIns="25400" bIns="25400" rtlCol="0" anchor="t">
            <a:normAutofit fontScale="92500" lnSpcReduction="10000"/>
          </a:bodyPr>
          <a:lstStyle/>
          <a:p>
            <a:pPr marL="0" indent="0" algn="l">
              <a:buNone/>
            </a:pPr>
            <a:r>
              <a:rPr lang="en-US" sz="1425" b="1" dirty="0">
                <a:solidFill>
                  <a:srgbClr val="591520"/>
                </a:solidFill>
                <a:latin typeface="Georgia" pitchFamily="34" charset="0"/>
                <a:ea typeface="Georgia" pitchFamily="34" charset="-122"/>
                <a:cs typeface="Georgia" pitchFamily="34" charset="-120"/>
              </a:rPr>
              <a:t>Every email sent in this window stays exposed forever, even after migration finishes</a:t>
            </a:r>
            <a:endParaRPr lang="en-US" sz="1425" dirty="0"/>
          </a:p>
        </p:txBody>
      </p:sp>
      <p:sp>
        <p:nvSpPr>
          <p:cNvPr id="13" name="Shape 11"/>
          <p:cNvSpPr/>
          <p:nvPr/>
        </p:nvSpPr>
        <p:spPr>
          <a:xfrm>
            <a:off x="6817519" y="8079581"/>
            <a:ext cx="28575" cy="723900"/>
          </a:xfrm>
          <a:prstGeom prst="rect">
            <a:avLst/>
          </a:prstGeom>
          <a:solidFill>
            <a:srgbClr val="7A1F2B"/>
          </a:solidFill>
          <a:ln/>
        </p:spPr>
        <p:txBody>
          <a:bodyPr/>
          <a:lstStyle/>
          <a:p>
            <a:endParaRPr lang="en-US"/>
          </a:p>
        </p:txBody>
      </p:sp>
      <p:sp>
        <p:nvSpPr>
          <p:cNvPr id="14" name="Text 12"/>
          <p:cNvSpPr/>
          <p:nvPr/>
        </p:nvSpPr>
        <p:spPr>
          <a:xfrm>
            <a:off x="990600" y="8870156"/>
            <a:ext cx="3067616" cy="285750"/>
          </a:xfrm>
          <a:prstGeom prst="rect">
            <a:avLst/>
          </a:prstGeom>
          <a:noFill/>
          <a:ln/>
        </p:spPr>
        <p:txBody>
          <a:bodyPr wrap="square" lIns="25400" tIns="25400" rIns="25400" bIns="25400" rtlCol="0" anchor="t">
            <a:normAutofit fontScale="92500"/>
          </a:bodyPr>
          <a:lstStyle/>
          <a:p>
            <a:pPr marL="0" indent="0" algn="l">
              <a:buNone/>
            </a:pPr>
            <a:r>
              <a:rPr lang="en-US" sz="1650" dirty="0">
                <a:solidFill>
                  <a:srgbClr val="555555"/>
                </a:solidFill>
                <a:latin typeface="Georgia" pitchFamily="34" charset="0"/>
                <a:ea typeface="Georgia" pitchFamily="34" charset="-122"/>
                <a:cs typeface="Georgia" pitchFamily="34" charset="-120"/>
              </a:rPr>
              <a:t>Today, encrypted with RSA/ECC</a:t>
            </a:r>
            <a:endParaRPr lang="en-US" sz="1650" dirty="0"/>
          </a:p>
        </p:txBody>
      </p:sp>
      <p:sp>
        <p:nvSpPr>
          <p:cNvPr id="15" name="Text 13"/>
          <p:cNvSpPr/>
          <p:nvPr/>
        </p:nvSpPr>
        <p:spPr>
          <a:xfrm>
            <a:off x="5031224" y="8870156"/>
            <a:ext cx="1824395" cy="285750"/>
          </a:xfrm>
          <a:prstGeom prst="rect">
            <a:avLst/>
          </a:prstGeom>
          <a:noFill/>
          <a:ln/>
        </p:spPr>
        <p:txBody>
          <a:bodyPr wrap="square" lIns="25400" tIns="25400" rIns="25400" bIns="25400" rtlCol="0" anchor="t">
            <a:normAutofit fontScale="92500"/>
          </a:bodyPr>
          <a:lstStyle/>
          <a:p>
            <a:pPr marL="0" indent="0" algn="r">
              <a:buNone/>
            </a:pPr>
            <a:r>
              <a:rPr lang="en-US" sz="1650" dirty="0">
                <a:solidFill>
                  <a:srgbClr val="555555"/>
                </a:solidFill>
                <a:latin typeface="Georgia" pitchFamily="34" charset="0"/>
                <a:ea typeface="Georgia" pitchFamily="34" charset="-122"/>
                <a:cs typeface="Georgia" pitchFamily="34" charset="-120"/>
              </a:rPr>
              <a:t>Migration complete</a:t>
            </a:r>
            <a:endParaRPr lang="en-US" sz="1650" dirty="0"/>
          </a:p>
        </p:txBody>
      </p:sp>
      <p:sp>
        <p:nvSpPr>
          <p:cNvPr id="16" name="Shape 14"/>
          <p:cNvSpPr/>
          <p:nvPr/>
        </p:nvSpPr>
        <p:spPr>
          <a:xfrm>
            <a:off x="7522369" y="2597944"/>
            <a:ext cx="19050" cy="3369320"/>
          </a:xfrm>
          <a:prstGeom prst="rect">
            <a:avLst/>
          </a:prstGeom>
          <a:solidFill>
            <a:srgbClr val="A89C8C"/>
          </a:solidFill>
          <a:ln/>
        </p:spPr>
        <p:txBody>
          <a:bodyPr/>
          <a:lstStyle/>
          <a:p>
            <a:endParaRPr lang="en-US"/>
          </a:p>
        </p:txBody>
      </p:sp>
      <p:sp>
        <p:nvSpPr>
          <p:cNvPr id="17" name="Text 15"/>
          <p:cNvSpPr/>
          <p:nvPr/>
        </p:nvSpPr>
        <p:spPr>
          <a:xfrm>
            <a:off x="8017669" y="2597944"/>
            <a:ext cx="10207704"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1A1A"/>
                </a:solidFill>
                <a:latin typeface="Georgia" pitchFamily="34" charset="0"/>
                <a:ea typeface="Georgia" pitchFamily="34" charset="-122"/>
                <a:cs typeface="Georgia" pitchFamily="34" charset="-120"/>
              </a:rPr>
              <a:t>The compounding UX failure</a:t>
            </a:r>
            <a:endParaRPr lang="en-US" sz="2400" dirty="0"/>
          </a:p>
        </p:txBody>
      </p:sp>
      <p:sp>
        <p:nvSpPr>
          <p:cNvPr id="18" name="Text 16"/>
          <p:cNvSpPr/>
          <p:nvPr/>
        </p:nvSpPr>
        <p:spPr>
          <a:xfrm>
            <a:off x="8017669" y="3074194"/>
            <a:ext cx="9065133" cy="2931170"/>
          </a:xfrm>
          <a:prstGeom prst="rect">
            <a:avLst/>
          </a:prstGeom>
          <a:noFill/>
          <a:ln/>
        </p:spPr>
        <p:txBody>
          <a:bodyPr wrap="square" lIns="25400" tIns="25400" rIns="25400" bIns="25400" rtlCol="0" anchor="t">
            <a:normAutofit lnSpcReduction="10000"/>
          </a:bodyPr>
          <a:lstStyle/>
          <a:p>
            <a:pPr marL="0" indent="0" algn="l">
              <a:lnSpc>
                <a:spcPct val="135625"/>
              </a:lnSpc>
              <a:buNone/>
            </a:pPr>
            <a:r>
              <a:rPr lang="en-US" sz="2100" dirty="0">
                <a:solidFill>
                  <a:srgbClr val="1A1A1A"/>
                </a:solidFill>
                <a:latin typeface="Georgia" pitchFamily="34" charset="0"/>
                <a:ea typeface="Georgia" pitchFamily="34" charset="-122"/>
                <a:cs typeface="Georgia" pitchFamily="34" charset="-120"/>
              </a:rPr>
              <a:t>Even leaving quantum computers out of it, encrypted email already has a trust problem. Opt-in encryption, PGP or S/MIME, has existed for decades and never caught on, mostly because managing keys by hand is genuinely confusing. So the honest starting point is not email is safe until quantum computers arrive. For most people it was never properly encrypted in the first place, and Qmail's premise is fixing both problems by making quantum-safe encryption something nobody has to think about.</a:t>
            </a:r>
            <a:endParaRPr lang="en-US" sz="2100" dirty="0"/>
          </a:p>
        </p:txBody>
      </p:sp>
      <p:sp>
        <p:nvSpPr>
          <p:cNvPr id="19" name="Shape 17"/>
          <p:cNvSpPr/>
          <p:nvPr/>
        </p:nvSpPr>
        <p:spPr>
          <a:xfrm>
            <a:off x="990600" y="9363075"/>
            <a:ext cx="857250" cy="28575"/>
          </a:xfrm>
          <a:prstGeom prst="rect">
            <a:avLst/>
          </a:prstGeom>
          <a:solidFill>
            <a:srgbClr val="7A1F2B"/>
          </a:solidFill>
          <a:ln/>
        </p:spPr>
        <p:txBody>
          <a:bodyPr/>
          <a:lstStyle/>
          <a:p>
            <a:endParaRPr lang="en-US"/>
          </a:p>
        </p:txBody>
      </p:sp>
      <p:pic>
        <p:nvPicPr>
          <p:cNvPr id="20" name="Image 0" descr="preencoded.png"/>
          <p:cNvPicPr>
            <a:picLocks noChangeAspect="1"/>
          </p:cNvPicPr>
          <p:nvPr/>
        </p:nvPicPr>
        <p:blipFill>
          <a:blip r:embed="rId3"/>
          <a:stretch>
            <a:fillRect/>
          </a:stretch>
        </p:blipFill>
        <p:spPr>
          <a:xfrm>
            <a:off x="17183100" y="9801225"/>
            <a:ext cx="114300" cy="2571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64182"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06</a:t>
            </a:r>
            <a:endParaRPr lang="en-US" sz="1800" dirty="0"/>
          </a:p>
        </p:txBody>
      </p:sp>
      <p:sp>
        <p:nvSpPr>
          <p:cNvPr id="3" name="Text 1"/>
          <p:cNvSpPr/>
          <p:nvPr/>
        </p:nvSpPr>
        <p:spPr>
          <a:xfrm>
            <a:off x="1430982" y="476250"/>
            <a:ext cx="1824067"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MECHANISM</a:t>
            </a:r>
            <a:endParaRPr lang="en-US" sz="1800" dirty="0"/>
          </a:p>
        </p:txBody>
      </p:sp>
      <p:sp>
        <p:nvSpPr>
          <p:cNvPr id="4" name="Shape 2"/>
          <p:cNvSpPr/>
          <p:nvPr/>
        </p:nvSpPr>
        <p:spPr>
          <a:xfrm>
            <a:off x="3241625" y="600075"/>
            <a:ext cx="14055775"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The Math That Breaks and the Math That Doesn't</a:t>
            </a:r>
            <a:endParaRPr lang="en-US" sz="3750" dirty="0"/>
          </a:p>
        </p:txBody>
      </p:sp>
      <p:sp>
        <p:nvSpPr>
          <p:cNvPr id="6" name="Shape 4"/>
          <p:cNvSpPr/>
          <p:nvPr/>
        </p:nvSpPr>
        <p:spPr>
          <a:xfrm>
            <a:off x="990600" y="2219325"/>
            <a:ext cx="857250" cy="28575"/>
          </a:xfrm>
          <a:prstGeom prst="rect">
            <a:avLst/>
          </a:prstGeom>
          <a:solidFill>
            <a:srgbClr val="7A1F2B"/>
          </a:solidFill>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0600" y="2790825"/>
            <a:ext cx="2095500" cy="952500"/>
          </a:xfrm>
          <a:prstGeom prst="rect">
            <a:avLst/>
          </a:prstGeom>
        </p:spPr>
      </p:pic>
      <p:sp>
        <p:nvSpPr>
          <p:cNvPr id="8" name="Text 5"/>
          <p:cNvSpPr/>
          <p:nvPr/>
        </p:nvSpPr>
        <p:spPr>
          <a:xfrm>
            <a:off x="990600" y="3924300"/>
            <a:ext cx="5385435"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How classical computers try and fail</a:t>
            </a:r>
            <a:endParaRPr lang="en-US" sz="1875" dirty="0"/>
          </a:p>
        </p:txBody>
      </p:sp>
      <p:sp>
        <p:nvSpPr>
          <p:cNvPr id="9" name="Text 6"/>
          <p:cNvSpPr/>
          <p:nvPr/>
        </p:nvSpPr>
        <p:spPr>
          <a:xfrm>
            <a:off x="990600" y="4324350"/>
            <a:ext cx="5042726" cy="1765995"/>
          </a:xfrm>
          <a:prstGeom prst="rect">
            <a:avLst/>
          </a:prstGeom>
          <a:noFill/>
          <a:ln/>
        </p:spPr>
        <p:txBody>
          <a:bodyPr wrap="square" lIns="25400" tIns="25400" rIns="25400" bIns="25400" rtlCol="0" anchor="t">
            <a:normAutofit lnSpcReduction="10000"/>
          </a:bodyPr>
          <a:lstStyle/>
          <a:p>
            <a:pPr marL="0" indent="0" algn="l">
              <a:lnSpc>
                <a:spcPct val="126000"/>
              </a:lnSpc>
              <a:buNone/>
            </a:pPr>
            <a:r>
              <a:rPr lang="en-US" sz="1575" dirty="0">
                <a:solidFill>
                  <a:srgbClr val="333333"/>
                </a:solidFill>
                <a:latin typeface="Georgia" pitchFamily="34" charset="0"/>
                <a:ea typeface="Georgia" pitchFamily="34" charset="-122"/>
                <a:cs typeface="Georgia" pitchFamily="34" charset="-120"/>
              </a:rPr>
              <a:t>RSA's security rests on one gap: multiplying two large secret primes is fast, reversing that back into the two primes is not. For a 2048-bit key, the best classical method known, the General Number Field Sieve, would take longer than the current age of the universe, run on every computer on the planet at once.</a:t>
            </a:r>
            <a:endParaRPr lang="en-US" sz="1575" dirty="0"/>
          </a:p>
        </p:txBody>
      </p:sp>
      <p:sp>
        <p:nvSpPr>
          <p:cNvPr id="10" name="Shape 7"/>
          <p:cNvSpPr/>
          <p:nvPr/>
        </p:nvSpPr>
        <p:spPr>
          <a:xfrm>
            <a:off x="6553200" y="2743200"/>
            <a:ext cx="19050" cy="5915025"/>
          </a:xfrm>
          <a:prstGeom prst="rect">
            <a:avLst/>
          </a:prstGeom>
          <a:solidFill>
            <a:srgbClr val="A89C8C"/>
          </a:solidFill>
          <a:ln/>
        </p:spPr>
        <p:txBody>
          <a:bodyPr/>
          <a:lstStyle/>
          <a:p>
            <a:endParaRPr 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58000" y="2505075"/>
            <a:ext cx="3943350" cy="1524000"/>
          </a:xfrm>
          <a:prstGeom prst="rect">
            <a:avLst/>
          </a:prstGeom>
        </p:spPr>
      </p:pic>
      <p:sp>
        <p:nvSpPr>
          <p:cNvPr id="12" name="Text 8"/>
          <p:cNvSpPr/>
          <p:nvPr/>
        </p:nvSpPr>
        <p:spPr>
          <a:xfrm>
            <a:off x="6858000" y="3924300"/>
            <a:ext cx="5050155"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What Shor's algorithm actually does</a:t>
            </a:r>
            <a:endParaRPr lang="en-US" sz="1875" dirty="0"/>
          </a:p>
        </p:txBody>
      </p:sp>
      <p:sp>
        <p:nvSpPr>
          <p:cNvPr id="13" name="Text 9"/>
          <p:cNvSpPr/>
          <p:nvPr/>
        </p:nvSpPr>
        <p:spPr>
          <a:xfrm>
            <a:off x="6858000" y="4324350"/>
            <a:ext cx="4728782" cy="1478012"/>
          </a:xfrm>
          <a:prstGeom prst="rect">
            <a:avLst/>
          </a:prstGeom>
          <a:noFill/>
          <a:ln/>
        </p:spPr>
        <p:txBody>
          <a:bodyPr wrap="square" lIns="25400" tIns="25400" rIns="25400" bIns="25400" rtlCol="0" anchor="t">
            <a:normAutofit fontScale="85000" lnSpcReduction="10000"/>
          </a:bodyPr>
          <a:lstStyle/>
          <a:p>
            <a:pPr marL="0" indent="0" algn="l">
              <a:lnSpc>
                <a:spcPct val="126000"/>
              </a:lnSpc>
              <a:buNone/>
            </a:pPr>
            <a:r>
              <a:rPr lang="en-US" sz="1575" dirty="0">
                <a:solidFill>
                  <a:srgbClr val="333333"/>
                </a:solidFill>
                <a:latin typeface="Georgia" pitchFamily="34" charset="0"/>
                <a:ea typeface="Georgia" pitchFamily="34" charset="-122"/>
                <a:cs typeface="Georgia" pitchFamily="34" charset="-120"/>
              </a:rPr>
              <a:t>In 1994, Peter Shor found a shortcut, but only on a quantum computer. Factoring can be rewritten as finding a hidden repeating pattern; a quantum computer tests every value at once using superposition, then reads the pattern out with the quantum Fourier transform.</a:t>
            </a:r>
            <a:endParaRPr lang="en-US" sz="1575" dirty="0"/>
          </a:p>
        </p:txBody>
      </p:sp>
      <p:sp>
        <p:nvSpPr>
          <p:cNvPr id="14" name="Text 10"/>
          <p:cNvSpPr/>
          <p:nvPr/>
        </p:nvSpPr>
        <p:spPr>
          <a:xfrm>
            <a:off x="6858000" y="5897612"/>
            <a:ext cx="5050155" cy="326082"/>
          </a:xfrm>
          <a:prstGeom prst="rect">
            <a:avLst/>
          </a:prstGeom>
          <a:noFill/>
          <a:ln/>
        </p:spPr>
        <p:txBody>
          <a:bodyPr wrap="square" lIns="25400" tIns="25400" rIns="25400" bIns="25400" rtlCol="0" anchor="t">
            <a:normAutofit lnSpcReduction="10000"/>
          </a:bodyPr>
          <a:lstStyle/>
          <a:p>
            <a:pPr marL="0" indent="0" algn="l">
              <a:lnSpc>
                <a:spcPct val="126000"/>
              </a:lnSpc>
              <a:buNone/>
            </a:pPr>
            <a:r>
              <a:rPr lang="en-US" sz="1575" b="1" dirty="0">
                <a:solidFill>
                  <a:srgbClr val="333333"/>
                </a:solidFill>
                <a:latin typeface="Georgia" pitchFamily="34" charset="0"/>
                <a:ea typeface="Georgia" pitchFamily="34" charset="-122"/>
                <a:cs typeface="Georgia" pitchFamily="34" charset="-120"/>
              </a:rPr>
              <a:t>~8 hours</a:t>
            </a:r>
            <a:endParaRPr lang="en-US" sz="1575" dirty="0"/>
          </a:p>
        </p:txBody>
      </p:sp>
      <p:sp>
        <p:nvSpPr>
          <p:cNvPr id="15" name="Text 11"/>
          <p:cNvSpPr/>
          <p:nvPr/>
        </p:nvSpPr>
        <p:spPr>
          <a:xfrm>
            <a:off x="6858000" y="6318945"/>
            <a:ext cx="4728782" cy="1190030"/>
          </a:xfrm>
          <a:prstGeom prst="rect">
            <a:avLst/>
          </a:prstGeom>
          <a:noFill/>
          <a:ln/>
        </p:spPr>
        <p:txBody>
          <a:bodyPr wrap="square" lIns="25400" tIns="25400" rIns="25400" bIns="25400" rtlCol="0" anchor="t">
            <a:normAutofit fontScale="92500"/>
          </a:bodyPr>
          <a:lstStyle/>
          <a:p>
            <a:pPr marL="0" indent="0" algn="l">
              <a:lnSpc>
                <a:spcPct val="126000"/>
              </a:lnSpc>
              <a:buNone/>
            </a:pPr>
            <a:r>
              <a:rPr lang="en-US" sz="1575" dirty="0">
                <a:solidFill>
                  <a:srgbClr val="333333"/>
                </a:solidFill>
                <a:latin typeface="Georgia" pitchFamily="34" charset="0"/>
                <a:ea typeface="Georgia" pitchFamily="34" charset="-122"/>
                <a:cs typeface="Georgia" pitchFamily="34" charset="-120"/>
              </a:rPr>
              <a:t>Gidney and Ekerå, 2021, estimate to factor a 2048-bit RSA key, on a large fault-tolerant quantum computer that does not exist yet. The same technique breaks the discrete-log problem ECC relies on too.</a:t>
            </a:r>
            <a:endParaRPr lang="en-US" sz="1575" dirty="0"/>
          </a:p>
        </p:txBody>
      </p:sp>
      <p:sp>
        <p:nvSpPr>
          <p:cNvPr id="16" name="Shape 12"/>
          <p:cNvSpPr/>
          <p:nvPr/>
        </p:nvSpPr>
        <p:spPr>
          <a:xfrm>
            <a:off x="12115800" y="2743200"/>
            <a:ext cx="19050" cy="5915025"/>
          </a:xfrm>
          <a:prstGeom prst="rect">
            <a:avLst/>
          </a:prstGeom>
          <a:solidFill>
            <a:srgbClr val="A89C8C"/>
          </a:solidFill>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420600" y="2790825"/>
            <a:ext cx="2095500" cy="952500"/>
          </a:xfrm>
          <a:prstGeom prst="rect">
            <a:avLst/>
          </a:prstGeom>
        </p:spPr>
      </p:pic>
      <p:sp>
        <p:nvSpPr>
          <p:cNvPr id="18" name="Text 13"/>
          <p:cNvSpPr/>
          <p:nvPr/>
        </p:nvSpPr>
        <p:spPr>
          <a:xfrm>
            <a:off x="12420600" y="3924300"/>
            <a:ext cx="4728782" cy="57150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Why lattice problems don't share the weakness</a:t>
            </a:r>
            <a:endParaRPr lang="en-US" sz="1875" dirty="0"/>
          </a:p>
        </p:txBody>
      </p:sp>
      <p:sp>
        <p:nvSpPr>
          <p:cNvPr id="19" name="Text 14"/>
          <p:cNvSpPr/>
          <p:nvPr/>
        </p:nvSpPr>
        <p:spPr>
          <a:xfrm>
            <a:off x="12420600" y="4591050"/>
            <a:ext cx="4728782" cy="2053977"/>
          </a:xfrm>
          <a:prstGeom prst="rect">
            <a:avLst/>
          </a:prstGeom>
          <a:noFill/>
          <a:ln/>
        </p:spPr>
        <p:txBody>
          <a:bodyPr wrap="square" lIns="25400" tIns="25400" rIns="25400" bIns="25400" rtlCol="0" anchor="t">
            <a:normAutofit fontScale="92500" lnSpcReduction="20000"/>
          </a:bodyPr>
          <a:lstStyle/>
          <a:p>
            <a:pPr marL="0" indent="0" algn="l">
              <a:lnSpc>
                <a:spcPct val="126000"/>
              </a:lnSpc>
              <a:buNone/>
            </a:pPr>
            <a:r>
              <a:rPr lang="en-US" sz="1575" dirty="0">
                <a:solidFill>
                  <a:srgbClr val="333333"/>
                </a:solidFill>
                <a:latin typeface="Georgia" pitchFamily="34" charset="0"/>
                <a:ea typeface="Georgia" pitchFamily="34" charset="-122"/>
                <a:cs typeface="Georgia" pitchFamily="34" charset="-120"/>
              </a:rPr>
              <a:t>Shor's shortcut works only because RSA and ECC's hard problems hide that kind of repeating pattern. ML-KEM and ML-DSA are built on finding the shortest path through a grid of points scattered across many dimensions, a problem not known to hide a pattern the quantum Fourier transform can find. Nobody has found a quantum shortcut for it, Shor's technique included.</a:t>
            </a:r>
            <a:endParaRPr lang="en-US" sz="1575" dirty="0"/>
          </a:p>
        </p:txBody>
      </p:sp>
      <p:sp>
        <p:nvSpPr>
          <p:cNvPr id="20" name="Shape 15"/>
          <p:cNvSpPr/>
          <p:nvPr/>
        </p:nvSpPr>
        <p:spPr>
          <a:xfrm>
            <a:off x="990600" y="8886825"/>
            <a:ext cx="15335250" cy="19050"/>
          </a:xfrm>
          <a:prstGeom prst="rect">
            <a:avLst/>
          </a:prstGeom>
          <a:solidFill>
            <a:srgbClr val="A89C8C"/>
          </a:solidFill>
          <a:ln/>
        </p:spPr>
        <p:txBody>
          <a:bodyPr/>
          <a:lstStyle/>
          <a:p>
            <a:endParaRPr lang="en-US"/>
          </a:p>
        </p:txBody>
      </p:sp>
      <p:sp>
        <p:nvSpPr>
          <p:cNvPr id="21" name="Text 16"/>
          <p:cNvSpPr/>
          <p:nvPr/>
        </p:nvSpPr>
        <p:spPr>
          <a:xfrm>
            <a:off x="990600" y="9096375"/>
            <a:ext cx="15795308" cy="533400"/>
          </a:xfrm>
          <a:prstGeom prst="rect">
            <a:avLst/>
          </a:prstGeom>
          <a:noFill/>
          <a:ln/>
        </p:spPr>
        <p:txBody>
          <a:bodyPr wrap="square" lIns="25400" tIns="25400" rIns="25400" bIns="25400" rtlCol="0" anchor="t">
            <a:normAutofit lnSpcReduction="10000"/>
          </a:bodyPr>
          <a:lstStyle/>
          <a:p>
            <a:pPr marL="0" indent="0" algn="l">
              <a:buNone/>
            </a:pPr>
            <a:r>
              <a:rPr lang="en-US" sz="1725" dirty="0">
                <a:solidFill>
                  <a:srgbClr val="333333"/>
                </a:solidFill>
                <a:latin typeface="Georgia" pitchFamily="34" charset="0"/>
                <a:ea typeface="Georgia" pitchFamily="34" charset="-122"/>
                <a:cs typeface="Georgia" pitchFamily="34" charset="-120"/>
              </a:rPr>
              <a:t>The best known quantum attack against a well built lattice problem gives a modest speedup, not the total collapse RSA suffers, and that exact margin is what NIST built into the key sizes for ML-KEM-768 and ML-DSA-65.</a:t>
            </a:r>
            <a:endParaRPr lang="en-US" sz="1725" dirty="0"/>
          </a:p>
        </p:txBody>
      </p:sp>
      <p:pic>
        <p:nvPicPr>
          <p:cNvPr id="22" name="Image 3" descr="preencoded.png"/>
          <p:cNvPicPr>
            <a:picLocks noChangeAspect="1"/>
          </p:cNvPicPr>
          <p:nvPr/>
        </p:nvPicPr>
        <p:blipFill>
          <a:blip r:embed="rId6"/>
          <a:stretch>
            <a:fillRect/>
          </a:stretch>
        </p:blipFill>
        <p:spPr>
          <a:xfrm>
            <a:off x="17183100" y="9801225"/>
            <a:ext cx="114300" cy="2571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4974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07</a:t>
            </a:r>
            <a:endParaRPr lang="en-US" sz="1800" dirty="0"/>
          </a:p>
        </p:txBody>
      </p:sp>
      <p:sp>
        <p:nvSpPr>
          <p:cNvPr id="3" name="Text 1"/>
          <p:cNvSpPr/>
          <p:nvPr/>
        </p:nvSpPr>
        <p:spPr>
          <a:xfrm>
            <a:off x="1416546" y="476250"/>
            <a:ext cx="314308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PROPOSED SOLUTION</a:t>
            </a:r>
            <a:endParaRPr lang="en-US" sz="1800" dirty="0"/>
          </a:p>
        </p:txBody>
      </p:sp>
      <p:sp>
        <p:nvSpPr>
          <p:cNvPr id="4" name="Shape 2"/>
          <p:cNvSpPr/>
          <p:nvPr/>
        </p:nvSpPr>
        <p:spPr>
          <a:xfrm>
            <a:off x="4426297" y="600075"/>
            <a:ext cx="12871103"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fontScale="92500"/>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Every Message Gets a Hybrid PQC Envelope by Default</a:t>
            </a:r>
            <a:endParaRPr lang="en-US" sz="3750" dirty="0"/>
          </a:p>
        </p:txBody>
      </p:sp>
      <p:sp>
        <p:nvSpPr>
          <p:cNvPr id="6" name="Shape 4"/>
          <p:cNvSpPr/>
          <p:nvPr/>
        </p:nvSpPr>
        <p:spPr>
          <a:xfrm>
            <a:off x="990600" y="2219325"/>
            <a:ext cx="857250" cy="28575"/>
          </a:xfrm>
          <a:prstGeom prst="rect">
            <a:avLst/>
          </a:prstGeom>
          <a:solidFill>
            <a:srgbClr val="7A1F2B"/>
          </a:solidFill>
          <a:ln/>
        </p:spPr>
        <p:txBody>
          <a:bodyPr/>
          <a:lstStyle/>
          <a:p>
            <a:endParaRPr lang="en-US"/>
          </a:p>
        </p:txBody>
      </p:sp>
      <p:sp>
        <p:nvSpPr>
          <p:cNvPr id="7" name="Shape 5"/>
          <p:cNvSpPr/>
          <p:nvPr/>
        </p:nvSpPr>
        <p:spPr>
          <a:xfrm>
            <a:off x="990600" y="3864769"/>
            <a:ext cx="38100" cy="1414463"/>
          </a:xfrm>
          <a:prstGeom prst="rect">
            <a:avLst/>
          </a:prstGeom>
          <a:solidFill>
            <a:srgbClr val="7A1F2B"/>
          </a:solidFill>
          <a:ln/>
        </p:spPr>
        <p:txBody>
          <a:bodyPr/>
          <a:lstStyle/>
          <a:p>
            <a:endParaRPr lang="en-US"/>
          </a:p>
        </p:txBody>
      </p:sp>
      <p:sp>
        <p:nvSpPr>
          <p:cNvPr id="8" name="Text 6"/>
          <p:cNvSpPr/>
          <p:nvPr/>
        </p:nvSpPr>
        <p:spPr>
          <a:xfrm>
            <a:off x="1333500" y="3864769"/>
            <a:ext cx="16453104" cy="1452563"/>
          </a:xfrm>
          <a:prstGeom prst="rect">
            <a:avLst/>
          </a:prstGeom>
          <a:noFill/>
          <a:ln/>
        </p:spPr>
        <p:txBody>
          <a:bodyPr wrap="square" lIns="25400" tIns="25400" rIns="25400" bIns="25400" rtlCol="0" anchor="t">
            <a:normAutofit lnSpcReduction="10000"/>
          </a:bodyPr>
          <a:lstStyle/>
          <a:p>
            <a:pPr marL="0" indent="0" algn="l">
              <a:lnSpc>
                <a:spcPct val="133784"/>
              </a:lnSpc>
              <a:buNone/>
            </a:pPr>
            <a:r>
              <a:rPr lang="en-US" sz="2475" i="1" dirty="0">
                <a:solidFill>
                  <a:srgbClr val="591520"/>
                </a:solidFill>
                <a:latin typeface="Georgia" pitchFamily="34" charset="0"/>
                <a:ea typeface="Georgia" pitchFamily="34" charset="-122"/>
                <a:cs typeface="Georgia" pitchFamily="34" charset="-120"/>
              </a:rPr>
              <a:t>Think of every Qmail message as a letter sealed in an envelope only the intended reader can open, stamped with a wax seal proving who actually sent it. Nobody using the app has to understand how either one works. It looks and runs like ordinary email underneath.</a:t>
            </a:r>
            <a:endParaRPr lang="en-US" sz="2475" dirty="0"/>
          </a:p>
        </p:txBody>
      </p:sp>
      <p:sp>
        <p:nvSpPr>
          <p:cNvPr id="9" name="Shape 7"/>
          <p:cNvSpPr/>
          <p:nvPr/>
        </p:nvSpPr>
        <p:spPr>
          <a:xfrm>
            <a:off x="990600" y="5698331"/>
            <a:ext cx="5283101" cy="2914501"/>
          </a:xfrm>
          <a:prstGeom prst="rect">
            <a:avLst/>
          </a:prstGeom>
          <a:ln w="9525">
            <a:solidFill>
              <a:srgbClr val="A89C8C"/>
            </a:solidFill>
            <a:prstDash val="solid"/>
          </a:ln>
        </p:spPr>
        <p:txBody>
          <a:bodyPr/>
          <a:lstStyle/>
          <a:p>
            <a:endParaRPr lang="en-US"/>
          </a:p>
        </p:txBody>
      </p:sp>
      <p:sp>
        <p:nvSpPr>
          <p:cNvPr id="10" name="Shape 8"/>
          <p:cNvSpPr/>
          <p:nvPr/>
        </p:nvSpPr>
        <p:spPr>
          <a:xfrm>
            <a:off x="1247775" y="5974556"/>
            <a:ext cx="552450" cy="552450"/>
          </a:xfrm>
          <a:prstGeom prst="ellipse">
            <a:avLst/>
          </a:prstGeom>
          <a:ln w="19050">
            <a:solidFill>
              <a:srgbClr val="7A1F2B"/>
            </a:solidFill>
            <a:prstDash val="solid"/>
          </a:ln>
        </p:spPr>
        <p:txBody>
          <a:bodyPr/>
          <a:lstStyle/>
          <a:p>
            <a:endParaRPr lang="en-US"/>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9700" y="6136481"/>
            <a:ext cx="228600" cy="228600"/>
          </a:xfrm>
          <a:prstGeom prst="rect">
            <a:avLst/>
          </a:prstGeom>
        </p:spPr>
      </p:pic>
      <p:sp>
        <p:nvSpPr>
          <p:cNvPr id="12" name="Text 9"/>
          <p:cNvSpPr/>
          <p:nvPr/>
        </p:nvSpPr>
        <p:spPr>
          <a:xfrm>
            <a:off x="1933575" y="6117431"/>
            <a:ext cx="3722296"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NIST Level 3, internet-validated</a:t>
            </a:r>
            <a:endParaRPr lang="en-US" sz="1875" dirty="0"/>
          </a:p>
        </p:txBody>
      </p:sp>
      <p:sp>
        <p:nvSpPr>
          <p:cNvPr id="13" name="Text 10"/>
          <p:cNvSpPr/>
          <p:nvPr/>
        </p:nvSpPr>
        <p:spPr>
          <a:xfrm>
            <a:off x="1247775" y="6679406"/>
            <a:ext cx="4911813" cy="1363861"/>
          </a:xfrm>
          <a:prstGeom prst="rect">
            <a:avLst/>
          </a:prstGeom>
          <a:noFill/>
          <a:ln/>
        </p:spPr>
        <p:txBody>
          <a:bodyPr wrap="square" lIns="25400" tIns="25400" rIns="25400" bIns="25400" rtlCol="0" anchor="t">
            <a:normAutofit lnSpcReduction="10000"/>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Qmail uses the same quantum-safe encryption strength (ML-KEM-768) that Chrome and Cloudflare already use by default to protect web traffic worldwide.</a:t>
            </a:r>
            <a:endParaRPr lang="en-US" sz="1800" dirty="0"/>
          </a:p>
        </p:txBody>
      </p:sp>
      <p:sp>
        <p:nvSpPr>
          <p:cNvPr id="14" name="Shape 11"/>
          <p:cNvSpPr/>
          <p:nvPr/>
        </p:nvSpPr>
        <p:spPr>
          <a:xfrm>
            <a:off x="6502301" y="5698331"/>
            <a:ext cx="5283250" cy="2914501"/>
          </a:xfrm>
          <a:prstGeom prst="rect">
            <a:avLst/>
          </a:prstGeom>
          <a:ln w="9525">
            <a:solidFill>
              <a:srgbClr val="A89C8C"/>
            </a:solidFill>
            <a:prstDash val="solid"/>
          </a:ln>
        </p:spPr>
        <p:txBody>
          <a:bodyPr/>
          <a:lstStyle/>
          <a:p>
            <a:endParaRPr lang="en-US"/>
          </a:p>
        </p:txBody>
      </p:sp>
      <p:sp>
        <p:nvSpPr>
          <p:cNvPr id="15" name="Shape 12"/>
          <p:cNvSpPr/>
          <p:nvPr/>
        </p:nvSpPr>
        <p:spPr>
          <a:xfrm>
            <a:off x="6759476" y="5974556"/>
            <a:ext cx="552450" cy="552450"/>
          </a:xfrm>
          <a:prstGeom prst="ellipse">
            <a:avLst/>
          </a:prstGeom>
          <a:ln w="19050">
            <a:solidFill>
              <a:srgbClr val="7A1F2B"/>
            </a:solidFill>
            <a:prstDash val="solid"/>
          </a:ln>
        </p:spPr>
        <p:txBody>
          <a:bodyPr/>
          <a:lstStyle/>
          <a:p>
            <a:endParaRPr lang="en-US"/>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21401" y="6136481"/>
            <a:ext cx="228600" cy="228600"/>
          </a:xfrm>
          <a:prstGeom prst="rect">
            <a:avLst/>
          </a:prstGeom>
        </p:spPr>
      </p:pic>
      <p:sp>
        <p:nvSpPr>
          <p:cNvPr id="17" name="Text 13"/>
          <p:cNvSpPr/>
          <p:nvPr/>
        </p:nvSpPr>
        <p:spPr>
          <a:xfrm>
            <a:off x="7445276" y="6117431"/>
            <a:ext cx="3795147"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Hybrid, not "PQC on everything"</a:t>
            </a:r>
            <a:endParaRPr lang="en-US" sz="1875" dirty="0"/>
          </a:p>
        </p:txBody>
      </p:sp>
      <p:sp>
        <p:nvSpPr>
          <p:cNvPr id="18" name="Text 14"/>
          <p:cNvSpPr/>
          <p:nvPr/>
        </p:nvSpPr>
        <p:spPr>
          <a:xfrm>
            <a:off x="6759476" y="6679406"/>
            <a:ext cx="4911967" cy="1695301"/>
          </a:xfrm>
          <a:prstGeom prst="rect">
            <a:avLst/>
          </a:prstGeom>
          <a:noFill/>
          <a:ln/>
        </p:spPr>
        <p:txBody>
          <a:bodyPr wrap="square" lIns="25400" tIns="25400" rIns="25400" bIns="25400" rtlCol="0" anchor="t">
            <a:normAutofit lnSpcReduction="10000"/>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The quantum-safe method isn't used to lock the whole email directly. Instead it securely wraps a one-time key, and that key encrypts the actual message, the same efficient pattern RFC 9980 and every real-world PQC deployment uses.</a:t>
            </a:r>
            <a:endParaRPr lang="en-US" sz="1800" dirty="0"/>
          </a:p>
        </p:txBody>
      </p:sp>
      <p:sp>
        <p:nvSpPr>
          <p:cNvPr id="19" name="Shape 15"/>
          <p:cNvSpPr/>
          <p:nvPr/>
        </p:nvSpPr>
        <p:spPr>
          <a:xfrm>
            <a:off x="12014150" y="5698331"/>
            <a:ext cx="5283250" cy="2914501"/>
          </a:xfrm>
          <a:prstGeom prst="rect">
            <a:avLst/>
          </a:prstGeom>
          <a:ln w="9525">
            <a:solidFill>
              <a:srgbClr val="A89C8C"/>
            </a:solidFill>
            <a:prstDash val="solid"/>
          </a:ln>
        </p:spPr>
        <p:txBody>
          <a:bodyPr/>
          <a:lstStyle/>
          <a:p>
            <a:endParaRPr lang="en-US"/>
          </a:p>
        </p:txBody>
      </p:sp>
      <p:sp>
        <p:nvSpPr>
          <p:cNvPr id="20" name="Shape 16"/>
          <p:cNvSpPr/>
          <p:nvPr/>
        </p:nvSpPr>
        <p:spPr>
          <a:xfrm>
            <a:off x="12271325" y="5974556"/>
            <a:ext cx="552450" cy="552450"/>
          </a:xfrm>
          <a:prstGeom prst="ellipse">
            <a:avLst/>
          </a:prstGeom>
          <a:ln w="19050">
            <a:solidFill>
              <a:srgbClr val="7A1F2B"/>
            </a:solidFill>
            <a:prstDash val="solid"/>
          </a:ln>
        </p:spPr>
        <p:txBody>
          <a:bodyPr/>
          <a:lstStyle/>
          <a:p>
            <a:endParaRPr lang="en-US"/>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433250" y="6136481"/>
            <a:ext cx="228600" cy="228600"/>
          </a:xfrm>
          <a:prstGeom prst="rect">
            <a:avLst/>
          </a:prstGeom>
        </p:spPr>
      </p:pic>
      <p:sp>
        <p:nvSpPr>
          <p:cNvPr id="22" name="Text 17"/>
          <p:cNvSpPr/>
          <p:nvPr/>
        </p:nvSpPr>
        <p:spPr>
          <a:xfrm>
            <a:off x="12957125" y="6117431"/>
            <a:ext cx="2646387"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Zero-knowledge server</a:t>
            </a:r>
            <a:endParaRPr lang="en-US" sz="1875" dirty="0"/>
          </a:p>
        </p:txBody>
      </p:sp>
      <p:sp>
        <p:nvSpPr>
          <p:cNvPr id="23" name="Text 18"/>
          <p:cNvSpPr/>
          <p:nvPr/>
        </p:nvSpPr>
        <p:spPr>
          <a:xfrm>
            <a:off x="12271325" y="6679406"/>
            <a:ext cx="4911967" cy="1032421"/>
          </a:xfrm>
          <a:prstGeom prst="rect">
            <a:avLst/>
          </a:prstGeom>
          <a:noFill/>
          <a:ln/>
        </p:spPr>
        <p:txBody>
          <a:bodyPr wrap="square" lIns="25400" tIns="25400" rIns="25400" bIns="25400" rtlCol="0" anchor="t">
            <a:normAutofit fontScale="92500"/>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Qmail's server never sees the message content and never holds anyone's private key. It only stores locked data and signatures, sorted by recipient.</a:t>
            </a:r>
            <a:endParaRPr lang="en-US" sz="1800" dirty="0"/>
          </a:p>
        </p:txBody>
      </p:sp>
      <p:pic>
        <p:nvPicPr>
          <p:cNvPr id="24" name="Image 3" descr="preencoded.png"/>
          <p:cNvPicPr>
            <a:picLocks noChangeAspect="1"/>
          </p:cNvPicPr>
          <p:nvPr/>
        </p:nvPicPr>
        <p:blipFill>
          <a:blip r:embed="rId6"/>
          <a:stretch>
            <a:fillRect/>
          </a:stretch>
        </p:blipFill>
        <p:spPr>
          <a:xfrm>
            <a:off x="17183100" y="9801225"/>
            <a:ext cx="114300" cy="2571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71177"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08</a:t>
            </a:r>
            <a:endParaRPr lang="en-US" sz="1800" dirty="0"/>
          </a:p>
        </p:txBody>
      </p:sp>
      <p:sp>
        <p:nvSpPr>
          <p:cNvPr id="3" name="Text 1"/>
          <p:cNvSpPr/>
          <p:nvPr/>
        </p:nvSpPr>
        <p:spPr>
          <a:xfrm>
            <a:off x="1437977" y="476250"/>
            <a:ext cx="2062103"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SYSTEM FLOW</a:t>
            </a:r>
            <a:endParaRPr lang="en-US" sz="1800" dirty="0"/>
          </a:p>
        </p:txBody>
      </p:sp>
      <p:sp>
        <p:nvSpPr>
          <p:cNvPr id="4" name="Shape 2"/>
          <p:cNvSpPr/>
          <p:nvPr/>
        </p:nvSpPr>
        <p:spPr>
          <a:xfrm>
            <a:off x="3465016" y="600075"/>
            <a:ext cx="13832384"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How Registration and Key Creation Works</a:t>
            </a:r>
            <a:endParaRPr lang="en-US" sz="3750" dirty="0"/>
          </a:p>
        </p:txBody>
      </p:sp>
      <p:sp>
        <p:nvSpPr>
          <p:cNvPr id="6" name="Shape 4"/>
          <p:cNvSpPr/>
          <p:nvPr/>
        </p:nvSpPr>
        <p:spPr>
          <a:xfrm>
            <a:off x="990600" y="2219325"/>
            <a:ext cx="857250" cy="28575"/>
          </a:xfrm>
          <a:prstGeom prst="rect">
            <a:avLst/>
          </a:prstGeom>
          <a:solidFill>
            <a:srgbClr val="7A1F2B"/>
          </a:solidFill>
          <a:ln/>
        </p:spPr>
        <p:txBody>
          <a:bodyPr/>
          <a:lstStyle/>
          <a:p>
            <a:endParaRPr lang="en-US"/>
          </a:p>
        </p:txBody>
      </p:sp>
      <p:sp>
        <p:nvSpPr>
          <p:cNvPr id="7" name="Shape 5"/>
          <p:cNvSpPr/>
          <p:nvPr/>
        </p:nvSpPr>
        <p:spPr>
          <a:xfrm>
            <a:off x="990600" y="2927449"/>
            <a:ext cx="16306800" cy="1666875"/>
          </a:xfrm>
          <a:prstGeom prst="rect">
            <a:avLst/>
          </a:prstGeom>
          <a:ln w="19050">
            <a:solidFill>
              <a:srgbClr val="A89C8C"/>
            </a:solidFill>
            <a:prstDash val="solid"/>
          </a:ln>
        </p:spPr>
        <p:txBody>
          <a:bodyPr/>
          <a:lstStyle/>
          <a:p>
            <a:endParaRPr lang="en-US"/>
          </a:p>
        </p:txBody>
      </p:sp>
      <p:sp>
        <p:nvSpPr>
          <p:cNvPr id="8" name="Shape 6"/>
          <p:cNvSpPr/>
          <p:nvPr/>
        </p:nvSpPr>
        <p:spPr>
          <a:xfrm>
            <a:off x="1295400" y="3475137"/>
            <a:ext cx="571500" cy="571500"/>
          </a:xfrm>
          <a:prstGeom prst="ellipse">
            <a:avLst/>
          </a:prstGeom>
          <a:solidFill>
            <a:srgbClr val="1A1A1A"/>
          </a:solidFill>
          <a:ln/>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325" y="3637062"/>
            <a:ext cx="247650" cy="247650"/>
          </a:xfrm>
          <a:prstGeom prst="rect">
            <a:avLst/>
          </a:prstGeom>
        </p:spPr>
      </p:pic>
      <p:sp>
        <p:nvSpPr>
          <p:cNvPr id="10" name="Text 7"/>
          <p:cNvSpPr/>
          <p:nvPr/>
        </p:nvSpPr>
        <p:spPr>
          <a:xfrm>
            <a:off x="2057400" y="3322737"/>
            <a:ext cx="7340798"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A Requests an Identity</a:t>
            </a:r>
            <a:endParaRPr lang="en-US" sz="1875" dirty="0"/>
          </a:p>
        </p:txBody>
      </p:sp>
      <p:sp>
        <p:nvSpPr>
          <p:cNvPr id="11" name="Text 8"/>
          <p:cNvSpPr/>
          <p:nvPr/>
        </p:nvSpPr>
        <p:spPr>
          <a:xfrm>
            <a:off x="2057400" y="3627537"/>
            <a:ext cx="7340798"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55555"/>
                </a:solidFill>
                <a:latin typeface="Georgia" pitchFamily="34" charset="0"/>
                <a:ea typeface="Georgia" pitchFamily="34" charset="-122"/>
                <a:cs typeface="Georgia" pitchFamily="34" charset="-120"/>
              </a:rPr>
              <a:t>Opens Qmail and claims a@qmail.com. Nothing is sent to the server yet.</a:t>
            </a:r>
            <a:endParaRPr lang="en-US" sz="1800" dirty="0"/>
          </a:p>
        </p:txBody>
      </p:sp>
      <p:sp>
        <p:nvSpPr>
          <p:cNvPr id="12" name="Text 9"/>
          <p:cNvSpPr/>
          <p:nvPr/>
        </p:nvSpPr>
        <p:spPr>
          <a:xfrm>
            <a:off x="2057400" y="3941862"/>
            <a:ext cx="7340798"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591520"/>
                </a:solidFill>
                <a:latin typeface="Georgia" pitchFamily="34" charset="0"/>
                <a:ea typeface="Georgia" pitchFamily="34" charset="-122"/>
                <a:cs typeface="Georgia" pitchFamily="34" charset="-120"/>
              </a:rPr>
              <a:t>Runs entirely on-device</a:t>
            </a:r>
            <a:endParaRPr lang="en-US" sz="1800" dirty="0"/>
          </a:p>
        </p:txBody>
      </p:sp>
      <p:sp>
        <p:nvSpPr>
          <p:cNvPr id="13" name="Shape 10"/>
          <p:cNvSpPr/>
          <p:nvPr/>
        </p:nvSpPr>
        <p:spPr>
          <a:xfrm>
            <a:off x="9134475" y="2946499"/>
            <a:ext cx="8143875" cy="1628775"/>
          </a:xfrm>
          <a:prstGeom prst="rect">
            <a:avLst/>
          </a:prstGeom>
          <a:solidFill>
            <a:srgbClr val="F2E2E3"/>
          </a:solidFill>
          <a:ln/>
        </p:spPr>
        <p:txBody>
          <a:bodyPr/>
          <a:lstStyle/>
          <a:p>
            <a:endParaRPr lang="en-US"/>
          </a:p>
        </p:txBody>
      </p:sp>
      <p:sp>
        <p:nvSpPr>
          <p:cNvPr id="14" name="Shape 11"/>
          <p:cNvSpPr/>
          <p:nvPr/>
        </p:nvSpPr>
        <p:spPr>
          <a:xfrm>
            <a:off x="9134475" y="2946499"/>
            <a:ext cx="19050" cy="1628775"/>
          </a:xfrm>
          <a:prstGeom prst="rect">
            <a:avLst/>
          </a:prstGeom>
          <a:solidFill>
            <a:srgbClr val="7A1F2B"/>
          </a:solidFill>
          <a:ln/>
        </p:spPr>
        <p:txBody>
          <a:bodyPr/>
          <a:lstStyle/>
          <a:p>
            <a:endParaRPr lang="en-US"/>
          </a:p>
        </p:txBody>
      </p:sp>
      <p:sp>
        <p:nvSpPr>
          <p:cNvPr id="15" name="Shape 12"/>
          <p:cNvSpPr/>
          <p:nvPr/>
        </p:nvSpPr>
        <p:spPr>
          <a:xfrm>
            <a:off x="9439275" y="3475137"/>
            <a:ext cx="571500" cy="571500"/>
          </a:xfrm>
          <a:prstGeom prst="ellipse">
            <a:avLst/>
          </a:prstGeom>
          <a:solidFill>
            <a:srgbClr val="7A1F2B"/>
          </a:solidFill>
          <a:ln/>
        </p:spPr>
        <p:txBody>
          <a:bodyPr/>
          <a:lstStyle/>
          <a:p>
            <a:endParaRPr lang="en-US"/>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0" y="3637062"/>
            <a:ext cx="247650" cy="247650"/>
          </a:xfrm>
          <a:prstGeom prst="rect">
            <a:avLst/>
          </a:prstGeom>
        </p:spPr>
      </p:pic>
      <p:sp>
        <p:nvSpPr>
          <p:cNvPr id="17" name="Text 13"/>
          <p:cNvSpPr/>
          <p:nvPr/>
        </p:nvSpPr>
        <p:spPr>
          <a:xfrm>
            <a:off x="10201275" y="3194149"/>
            <a:ext cx="7470458"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Registration Complete</a:t>
            </a:r>
            <a:endParaRPr lang="en-US" sz="1875" dirty="0"/>
          </a:p>
        </p:txBody>
      </p:sp>
      <p:sp>
        <p:nvSpPr>
          <p:cNvPr id="18" name="Text 14"/>
          <p:cNvSpPr/>
          <p:nvPr/>
        </p:nvSpPr>
        <p:spPr>
          <a:xfrm>
            <a:off x="10201275" y="3498949"/>
            <a:ext cx="6995065" cy="5524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55555"/>
                </a:solidFill>
                <a:latin typeface="Georgia" pitchFamily="34" charset="0"/>
                <a:ea typeface="Georgia" pitchFamily="34" charset="-122"/>
                <a:cs typeface="Georgia" pitchFamily="34" charset="-120"/>
              </a:rPr>
              <a:t>A can now send and receive mail. Only the public key is shared; the private key stays on A's device.</a:t>
            </a:r>
            <a:endParaRPr lang="en-US" sz="1800" dirty="0"/>
          </a:p>
        </p:txBody>
      </p:sp>
      <p:sp>
        <p:nvSpPr>
          <p:cNvPr id="19" name="Text 15"/>
          <p:cNvSpPr/>
          <p:nvPr/>
        </p:nvSpPr>
        <p:spPr>
          <a:xfrm>
            <a:off x="10201275" y="4070449"/>
            <a:ext cx="7470458"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591520"/>
                </a:solidFill>
                <a:latin typeface="Georgia" pitchFamily="34" charset="0"/>
                <a:ea typeface="Georgia" pitchFamily="34" charset="-122"/>
                <a:cs typeface="Georgia" pitchFamily="34" charset="-120"/>
              </a:rPr>
              <a:t>Ready in one step, no manual exchange</a:t>
            </a:r>
            <a:endParaRPr lang="en-US" sz="1800" dirty="0"/>
          </a:p>
        </p:txBody>
      </p:sp>
      <p:sp>
        <p:nvSpPr>
          <p:cNvPr id="20" name="Shape 16"/>
          <p:cNvSpPr/>
          <p:nvPr/>
        </p:nvSpPr>
        <p:spPr>
          <a:xfrm>
            <a:off x="990600" y="4880074"/>
            <a:ext cx="5079950" cy="3708202"/>
          </a:xfrm>
          <a:prstGeom prst="rect">
            <a:avLst/>
          </a:prstGeom>
          <a:ln w="19050">
            <a:solidFill>
              <a:srgbClr val="A89C8C"/>
            </a:solidFill>
            <a:prstDash val="solid"/>
          </a:ln>
        </p:spPr>
        <p:txBody>
          <a:bodyPr/>
          <a:lstStyle/>
          <a:p>
            <a:endParaRPr lang="en-US"/>
          </a:p>
        </p:txBody>
      </p:sp>
      <p:sp>
        <p:nvSpPr>
          <p:cNvPr id="21" name="Shape 17"/>
          <p:cNvSpPr/>
          <p:nvPr/>
        </p:nvSpPr>
        <p:spPr>
          <a:xfrm>
            <a:off x="1257300" y="5165824"/>
            <a:ext cx="457200" cy="457200"/>
          </a:xfrm>
          <a:prstGeom prst="ellipse">
            <a:avLst/>
          </a:prstGeom>
          <a:solidFill>
            <a:srgbClr val="7A1F2B"/>
          </a:solidFill>
          <a:ln/>
        </p:spPr>
        <p:txBody>
          <a:bodyPr/>
          <a:lstStyle/>
          <a:p>
            <a:endParaRPr lang="en-US"/>
          </a:p>
        </p:txBody>
      </p:sp>
      <p:sp>
        <p:nvSpPr>
          <p:cNvPr id="22" name="Text 18"/>
          <p:cNvSpPr/>
          <p:nvPr/>
        </p:nvSpPr>
        <p:spPr>
          <a:xfrm>
            <a:off x="1219200" y="5165824"/>
            <a:ext cx="533400" cy="4953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23" name="Text 19"/>
          <p:cNvSpPr/>
          <p:nvPr/>
        </p:nvSpPr>
        <p:spPr>
          <a:xfrm>
            <a:off x="1847850" y="5261074"/>
            <a:ext cx="1668214"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Generate Keys</a:t>
            </a:r>
            <a:endParaRPr lang="en-US" sz="1875" dirty="0"/>
          </a:p>
        </p:txBody>
      </p:sp>
      <p:sp>
        <p:nvSpPr>
          <p:cNvPr id="24" name="Text 20"/>
          <p:cNvSpPr/>
          <p:nvPr/>
        </p:nvSpPr>
        <p:spPr>
          <a:xfrm>
            <a:off x="1257300" y="5775424"/>
            <a:ext cx="4682947" cy="1336477"/>
          </a:xfrm>
          <a:prstGeom prst="rect">
            <a:avLst/>
          </a:prstGeom>
          <a:noFill/>
          <a:ln/>
        </p:spPr>
        <p:txBody>
          <a:bodyPr wrap="square" lIns="25400" tIns="25400" rIns="25400" bIns="25400" rtlCol="0" anchor="t">
            <a:normAutofit lnSpcReduction="10000"/>
          </a:bodyPr>
          <a:lstStyle/>
          <a:p>
            <a:pPr marL="0" indent="0" algn="l">
              <a:lnSpc>
                <a:spcPct val="126222"/>
              </a:lnSpc>
              <a:buNone/>
            </a:pPr>
            <a:r>
              <a:rPr lang="en-US" sz="1800" dirty="0">
                <a:solidFill>
                  <a:srgbClr val="333333"/>
                </a:solidFill>
                <a:latin typeface="Georgia" pitchFamily="34" charset="0"/>
                <a:ea typeface="Georgia" pitchFamily="34" charset="-122"/>
                <a:cs typeface="Georgia" pitchFamily="34" charset="-120"/>
              </a:rPr>
              <a:t>A small piece of code that runs right in the browser (WASM) creates two secret key pairs, an encryption key and a signing key, directly on A's device.</a:t>
            </a:r>
            <a:endParaRPr lang="en-US" sz="1800" dirty="0"/>
          </a:p>
        </p:txBody>
      </p:sp>
      <p:sp>
        <p:nvSpPr>
          <p:cNvPr id="25" name="Shape 21"/>
          <p:cNvSpPr/>
          <p:nvPr/>
        </p:nvSpPr>
        <p:spPr>
          <a:xfrm>
            <a:off x="1257300" y="7321451"/>
            <a:ext cx="4546550" cy="9525"/>
          </a:xfrm>
          <a:prstGeom prst="rect">
            <a:avLst/>
          </a:prstGeom>
          <a:solidFill>
            <a:srgbClr val="A89C8C"/>
          </a:solidFill>
          <a:ln/>
        </p:spPr>
        <p:txBody>
          <a:bodyPr/>
          <a:lstStyle/>
          <a:p>
            <a:endParaRPr lang="en-US"/>
          </a:p>
        </p:txBody>
      </p:sp>
      <p:sp>
        <p:nvSpPr>
          <p:cNvPr id="26" name="Shape 22"/>
          <p:cNvSpPr/>
          <p:nvPr/>
        </p:nvSpPr>
        <p:spPr>
          <a:xfrm>
            <a:off x="1257300" y="7464326"/>
            <a:ext cx="1950690" cy="371475"/>
          </a:xfrm>
          <a:prstGeom prst="roundRect">
            <a:avLst>
              <a:gd name="adj" fmla="val 50000"/>
            </a:avLst>
          </a:prstGeom>
          <a:solidFill>
            <a:srgbClr val="F2E2E3"/>
          </a:solidFill>
          <a:ln/>
        </p:spPr>
        <p:txBody>
          <a:bodyPr/>
          <a:lstStyle/>
          <a:p>
            <a:endParaRPr lang="en-US"/>
          </a:p>
        </p:txBody>
      </p:sp>
      <p:sp>
        <p:nvSpPr>
          <p:cNvPr id="27" name="Text 23"/>
          <p:cNvSpPr/>
          <p:nvPr/>
        </p:nvSpPr>
        <p:spPr>
          <a:xfrm>
            <a:off x="1390650" y="7521476"/>
            <a:ext cx="1760190" cy="295275"/>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WASM Runtime</a:t>
            </a:r>
            <a:endParaRPr lang="en-US" sz="1800" dirty="0"/>
          </a:p>
        </p:txBody>
      </p:sp>
      <p:sp>
        <p:nvSpPr>
          <p:cNvPr id="28" name="Shape 24"/>
          <p:cNvSpPr/>
          <p:nvPr/>
        </p:nvSpPr>
        <p:spPr>
          <a:xfrm>
            <a:off x="3303240" y="7464326"/>
            <a:ext cx="1711077" cy="371475"/>
          </a:xfrm>
          <a:prstGeom prst="roundRect">
            <a:avLst>
              <a:gd name="adj" fmla="val 50000"/>
            </a:avLst>
          </a:prstGeom>
          <a:solidFill>
            <a:srgbClr val="F2E2E3"/>
          </a:solidFill>
          <a:ln/>
        </p:spPr>
        <p:txBody>
          <a:bodyPr/>
          <a:lstStyle/>
          <a:p>
            <a:endParaRPr lang="en-US"/>
          </a:p>
        </p:txBody>
      </p:sp>
      <p:sp>
        <p:nvSpPr>
          <p:cNvPr id="29" name="Text 25"/>
          <p:cNvSpPr/>
          <p:nvPr/>
        </p:nvSpPr>
        <p:spPr>
          <a:xfrm>
            <a:off x="3436590" y="7521476"/>
            <a:ext cx="1520577" cy="295275"/>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ML-KEM-768</a:t>
            </a:r>
            <a:endParaRPr lang="en-US" sz="1800" dirty="0"/>
          </a:p>
        </p:txBody>
      </p:sp>
      <p:sp>
        <p:nvSpPr>
          <p:cNvPr id="30" name="Shape 26"/>
          <p:cNvSpPr/>
          <p:nvPr/>
        </p:nvSpPr>
        <p:spPr>
          <a:xfrm>
            <a:off x="1257300" y="7931051"/>
            <a:ext cx="1511201" cy="371475"/>
          </a:xfrm>
          <a:prstGeom prst="roundRect">
            <a:avLst>
              <a:gd name="adj" fmla="val 50000"/>
            </a:avLst>
          </a:prstGeom>
          <a:solidFill>
            <a:srgbClr val="F2E2E3"/>
          </a:solidFill>
          <a:ln/>
        </p:spPr>
        <p:txBody>
          <a:bodyPr/>
          <a:lstStyle/>
          <a:p>
            <a:endParaRPr lang="en-US"/>
          </a:p>
        </p:txBody>
      </p:sp>
      <p:sp>
        <p:nvSpPr>
          <p:cNvPr id="31" name="Text 27"/>
          <p:cNvSpPr/>
          <p:nvPr/>
        </p:nvSpPr>
        <p:spPr>
          <a:xfrm>
            <a:off x="1390650" y="7988201"/>
            <a:ext cx="1320701" cy="295275"/>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ML-DSA-65</a:t>
            </a:r>
            <a:endParaRPr lang="en-US" sz="1800" dirty="0"/>
          </a:p>
        </p:txBody>
      </p:sp>
      <p:pic>
        <p:nvPicPr>
          <p:cNvPr id="3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75325" y="6572250"/>
            <a:ext cx="323850" cy="323850"/>
          </a:xfrm>
          <a:prstGeom prst="rect">
            <a:avLst/>
          </a:prstGeom>
        </p:spPr>
      </p:pic>
      <p:sp>
        <p:nvSpPr>
          <p:cNvPr id="33" name="Shape 28"/>
          <p:cNvSpPr/>
          <p:nvPr/>
        </p:nvSpPr>
        <p:spPr>
          <a:xfrm>
            <a:off x="6603950" y="4880074"/>
            <a:ext cx="5080099" cy="3708202"/>
          </a:xfrm>
          <a:prstGeom prst="rect">
            <a:avLst/>
          </a:prstGeom>
          <a:ln w="19050">
            <a:solidFill>
              <a:srgbClr val="A89C8C"/>
            </a:solidFill>
            <a:prstDash val="solid"/>
          </a:ln>
        </p:spPr>
        <p:txBody>
          <a:bodyPr/>
          <a:lstStyle/>
          <a:p>
            <a:endParaRPr lang="en-US"/>
          </a:p>
        </p:txBody>
      </p:sp>
      <p:sp>
        <p:nvSpPr>
          <p:cNvPr id="34" name="Shape 29"/>
          <p:cNvSpPr/>
          <p:nvPr/>
        </p:nvSpPr>
        <p:spPr>
          <a:xfrm>
            <a:off x="6870650" y="5165824"/>
            <a:ext cx="457200" cy="457200"/>
          </a:xfrm>
          <a:prstGeom prst="ellipse">
            <a:avLst/>
          </a:prstGeom>
          <a:solidFill>
            <a:srgbClr val="7A1F2B"/>
          </a:solidFill>
          <a:ln/>
        </p:spPr>
        <p:txBody>
          <a:bodyPr/>
          <a:lstStyle/>
          <a:p>
            <a:endParaRPr lang="en-US"/>
          </a:p>
        </p:txBody>
      </p:sp>
      <p:sp>
        <p:nvSpPr>
          <p:cNvPr id="35" name="Text 30"/>
          <p:cNvSpPr/>
          <p:nvPr/>
        </p:nvSpPr>
        <p:spPr>
          <a:xfrm>
            <a:off x="6832550" y="5165824"/>
            <a:ext cx="533400" cy="4953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36" name="Text 31"/>
          <p:cNvSpPr/>
          <p:nvPr/>
        </p:nvSpPr>
        <p:spPr>
          <a:xfrm>
            <a:off x="7461200" y="5261074"/>
            <a:ext cx="1504831"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Store Locally</a:t>
            </a:r>
            <a:endParaRPr lang="en-US" sz="1875" dirty="0"/>
          </a:p>
        </p:txBody>
      </p:sp>
      <p:sp>
        <p:nvSpPr>
          <p:cNvPr id="37" name="Text 32"/>
          <p:cNvSpPr/>
          <p:nvPr/>
        </p:nvSpPr>
        <p:spPr>
          <a:xfrm>
            <a:off x="6870650" y="5775424"/>
            <a:ext cx="4683100" cy="1336477"/>
          </a:xfrm>
          <a:prstGeom prst="rect">
            <a:avLst/>
          </a:prstGeom>
          <a:noFill/>
          <a:ln/>
        </p:spPr>
        <p:txBody>
          <a:bodyPr wrap="square" lIns="25400" tIns="25400" rIns="25400" bIns="25400" rtlCol="0" anchor="t">
            <a:normAutofit lnSpcReduction="10000"/>
          </a:bodyPr>
          <a:lstStyle/>
          <a:p>
            <a:pPr marL="0" indent="0" algn="l">
              <a:lnSpc>
                <a:spcPct val="126222"/>
              </a:lnSpc>
              <a:buNone/>
            </a:pPr>
            <a:r>
              <a:rPr lang="en-US" sz="1800" dirty="0">
                <a:solidFill>
                  <a:srgbClr val="333333"/>
                </a:solidFill>
                <a:latin typeface="Georgia" pitchFamily="34" charset="0"/>
                <a:ea typeface="Georgia" pitchFamily="34" charset="-122"/>
                <a:cs typeface="Georgia" pitchFamily="34" charset="-120"/>
              </a:rPr>
              <a:t>The private keys are saved securely on the device itself, in the browser's storage on web, or the phone's secure Keychain/Keystore on mobile. They never leave that device.</a:t>
            </a:r>
            <a:endParaRPr lang="en-US" sz="1800" dirty="0"/>
          </a:p>
        </p:txBody>
      </p:sp>
      <p:sp>
        <p:nvSpPr>
          <p:cNvPr id="38" name="Shape 33"/>
          <p:cNvSpPr/>
          <p:nvPr/>
        </p:nvSpPr>
        <p:spPr>
          <a:xfrm>
            <a:off x="6870650" y="7226201"/>
            <a:ext cx="3682305" cy="409575"/>
          </a:xfrm>
          <a:prstGeom prst="roundRect">
            <a:avLst>
              <a:gd name="adj" fmla="val 50000"/>
            </a:avLst>
          </a:prstGeom>
          <a:solidFill>
            <a:srgbClr val="7A1F2B"/>
          </a:solidFill>
          <a:ln/>
        </p:spPr>
        <p:txBody>
          <a:bodyPr/>
          <a:lstStyle/>
          <a:p>
            <a:endParaRPr lang="en-US"/>
          </a:p>
        </p:txBody>
      </p:sp>
      <p:pic>
        <p:nvPicPr>
          <p:cNvPr id="3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23050" y="7345263"/>
            <a:ext cx="171450" cy="171450"/>
          </a:xfrm>
          <a:prstGeom prst="rect">
            <a:avLst/>
          </a:prstGeom>
        </p:spPr>
      </p:pic>
      <p:sp>
        <p:nvSpPr>
          <p:cNvPr id="40" name="Text 34"/>
          <p:cNvSpPr/>
          <p:nvPr/>
        </p:nvSpPr>
        <p:spPr>
          <a:xfrm>
            <a:off x="7270700" y="7302401"/>
            <a:ext cx="3223751" cy="295275"/>
          </a:xfrm>
          <a:prstGeom prst="rect">
            <a:avLst/>
          </a:prstGeom>
          <a:noFill/>
          <a:ln/>
        </p:spPr>
        <p:txBody>
          <a:bodyPr wrap="square" lIns="0" tIns="0" rIns="0" bIns="0" rtlCol="0" anchor="t">
            <a:normAutofit fontScale="85000" lnSpcReduction="10000"/>
          </a:bodyPr>
          <a:lstStyle/>
          <a:p>
            <a:pPr marL="0" indent="0" algn="l">
              <a:buNone/>
            </a:pPr>
            <a:r>
              <a:rPr lang="en-US" sz="1800" b="1" dirty="0">
                <a:solidFill>
                  <a:srgbClr val="FFFFFF"/>
                </a:solidFill>
                <a:latin typeface="Georgia" pitchFamily="34" charset="0"/>
                <a:ea typeface="Georgia" pitchFamily="34" charset="-122"/>
                <a:cs typeface="Georgia" pitchFamily="34" charset="-120"/>
              </a:rPr>
              <a:t>KEY NEVER LEAVES DEVICE</a:t>
            </a:r>
            <a:endParaRPr lang="en-US" sz="1800" dirty="0"/>
          </a:p>
        </p:txBody>
      </p:sp>
      <p:sp>
        <p:nvSpPr>
          <p:cNvPr id="41" name="Shape 35"/>
          <p:cNvSpPr/>
          <p:nvPr/>
        </p:nvSpPr>
        <p:spPr>
          <a:xfrm>
            <a:off x="6870650" y="7788176"/>
            <a:ext cx="4546699" cy="9525"/>
          </a:xfrm>
          <a:prstGeom prst="rect">
            <a:avLst/>
          </a:prstGeom>
          <a:solidFill>
            <a:srgbClr val="A89C8C"/>
          </a:solidFill>
          <a:ln/>
        </p:spPr>
        <p:txBody>
          <a:bodyPr/>
          <a:lstStyle/>
          <a:p>
            <a:endParaRPr lang="en-US"/>
          </a:p>
        </p:txBody>
      </p:sp>
      <p:sp>
        <p:nvSpPr>
          <p:cNvPr id="42" name="Shape 36"/>
          <p:cNvSpPr/>
          <p:nvPr/>
        </p:nvSpPr>
        <p:spPr>
          <a:xfrm>
            <a:off x="6870650" y="7931051"/>
            <a:ext cx="2194173" cy="371475"/>
          </a:xfrm>
          <a:prstGeom prst="roundRect">
            <a:avLst>
              <a:gd name="adj" fmla="val 50000"/>
            </a:avLst>
          </a:prstGeom>
          <a:solidFill>
            <a:srgbClr val="F2E2E3"/>
          </a:solidFill>
          <a:ln/>
        </p:spPr>
        <p:txBody>
          <a:bodyPr/>
          <a:lstStyle/>
          <a:p>
            <a:endParaRPr lang="en-US"/>
          </a:p>
        </p:txBody>
      </p:sp>
      <p:sp>
        <p:nvSpPr>
          <p:cNvPr id="43" name="Text 37"/>
          <p:cNvSpPr/>
          <p:nvPr/>
        </p:nvSpPr>
        <p:spPr>
          <a:xfrm>
            <a:off x="7004000" y="7988201"/>
            <a:ext cx="2003673" cy="295275"/>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On-Device Storage</a:t>
            </a:r>
            <a:endParaRPr lang="en-US" sz="1800" dirty="0"/>
          </a:p>
        </p:txBody>
      </p:sp>
      <p:pic>
        <p:nvPicPr>
          <p:cNvPr id="4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788825" y="6572250"/>
            <a:ext cx="323850" cy="323850"/>
          </a:xfrm>
          <a:prstGeom prst="rect">
            <a:avLst/>
          </a:prstGeom>
        </p:spPr>
      </p:pic>
      <p:sp>
        <p:nvSpPr>
          <p:cNvPr id="45" name="Shape 38"/>
          <p:cNvSpPr/>
          <p:nvPr/>
        </p:nvSpPr>
        <p:spPr>
          <a:xfrm>
            <a:off x="12217450" y="4880074"/>
            <a:ext cx="5079950" cy="3708202"/>
          </a:xfrm>
          <a:prstGeom prst="rect">
            <a:avLst/>
          </a:prstGeom>
          <a:ln w="19050">
            <a:solidFill>
              <a:srgbClr val="A89C8C"/>
            </a:solidFill>
            <a:prstDash val="solid"/>
          </a:ln>
        </p:spPr>
        <p:txBody>
          <a:bodyPr/>
          <a:lstStyle/>
          <a:p>
            <a:endParaRPr lang="en-US"/>
          </a:p>
        </p:txBody>
      </p:sp>
      <p:sp>
        <p:nvSpPr>
          <p:cNvPr id="46" name="Shape 39"/>
          <p:cNvSpPr/>
          <p:nvPr/>
        </p:nvSpPr>
        <p:spPr>
          <a:xfrm>
            <a:off x="12484150" y="5165824"/>
            <a:ext cx="457200" cy="457200"/>
          </a:xfrm>
          <a:prstGeom prst="ellipse">
            <a:avLst/>
          </a:prstGeom>
          <a:solidFill>
            <a:srgbClr val="7A1F2B"/>
          </a:solidFill>
          <a:ln/>
        </p:spPr>
        <p:txBody>
          <a:bodyPr/>
          <a:lstStyle/>
          <a:p>
            <a:endParaRPr lang="en-US"/>
          </a:p>
        </p:txBody>
      </p:sp>
      <p:sp>
        <p:nvSpPr>
          <p:cNvPr id="47" name="Text 40"/>
          <p:cNvSpPr/>
          <p:nvPr/>
        </p:nvSpPr>
        <p:spPr>
          <a:xfrm>
            <a:off x="12446050" y="5165824"/>
            <a:ext cx="533400" cy="4953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48" name="Text 41"/>
          <p:cNvSpPr/>
          <p:nvPr/>
        </p:nvSpPr>
        <p:spPr>
          <a:xfrm>
            <a:off x="13074700" y="5261074"/>
            <a:ext cx="2166059"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Publish Public Key</a:t>
            </a:r>
            <a:endParaRPr lang="en-US" sz="1875" dirty="0"/>
          </a:p>
        </p:txBody>
      </p:sp>
      <p:sp>
        <p:nvSpPr>
          <p:cNvPr id="49" name="Text 42"/>
          <p:cNvSpPr/>
          <p:nvPr/>
        </p:nvSpPr>
        <p:spPr>
          <a:xfrm>
            <a:off x="12484150" y="5775424"/>
            <a:ext cx="4682947" cy="1011882"/>
          </a:xfrm>
          <a:prstGeom prst="rect">
            <a:avLst/>
          </a:prstGeom>
          <a:noFill/>
          <a:ln/>
        </p:spPr>
        <p:txBody>
          <a:bodyPr wrap="square" lIns="25400" tIns="25400" rIns="25400" bIns="25400" rtlCol="0" anchor="t">
            <a:normAutofit fontScale="92500"/>
          </a:bodyPr>
          <a:lstStyle/>
          <a:p>
            <a:pPr marL="0" indent="0" algn="l">
              <a:lnSpc>
                <a:spcPct val="126222"/>
              </a:lnSpc>
              <a:buNone/>
            </a:pPr>
            <a:r>
              <a:rPr lang="en-US" sz="1800" dirty="0">
                <a:solidFill>
                  <a:srgbClr val="333333"/>
                </a:solidFill>
                <a:latin typeface="Georgia" pitchFamily="34" charset="0"/>
                <a:ea typeface="Georgia" pitchFamily="34" charset="-122"/>
                <a:cs typeface="Georgia" pitchFamily="34" charset="-120"/>
              </a:rPr>
              <a:t>Only the public key and the chosen address are sent to the server's directory, the one piece of information that ever leaves the device.</a:t>
            </a:r>
            <a:endParaRPr lang="en-US" sz="1800" dirty="0"/>
          </a:p>
        </p:txBody>
      </p:sp>
      <p:sp>
        <p:nvSpPr>
          <p:cNvPr id="50" name="Shape 43"/>
          <p:cNvSpPr/>
          <p:nvPr/>
        </p:nvSpPr>
        <p:spPr>
          <a:xfrm>
            <a:off x="12484150" y="7321451"/>
            <a:ext cx="4546550" cy="9525"/>
          </a:xfrm>
          <a:prstGeom prst="rect">
            <a:avLst/>
          </a:prstGeom>
          <a:solidFill>
            <a:srgbClr val="A89C8C"/>
          </a:solidFill>
          <a:ln/>
        </p:spPr>
        <p:txBody>
          <a:bodyPr/>
          <a:lstStyle/>
          <a:p>
            <a:endParaRPr lang="en-US"/>
          </a:p>
        </p:txBody>
      </p:sp>
      <p:sp>
        <p:nvSpPr>
          <p:cNvPr id="51" name="Shape 44"/>
          <p:cNvSpPr/>
          <p:nvPr/>
        </p:nvSpPr>
        <p:spPr>
          <a:xfrm>
            <a:off x="12484150" y="7464326"/>
            <a:ext cx="2394049" cy="371475"/>
          </a:xfrm>
          <a:prstGeom prst="roundRect">
            <a:avLst>
              <a:gd name="adj" fmla="val 50000"/>
            </a:avLst>
          </a:prstGeom>
          <a:solidFill>
            <a:srgbClr val="F2E2E3"/>
          </a:solidFill>
          <a:ln/>
        </p:spPr>
        <p:txBody>
          <a:bodyPr/>
          <a:lstStyle/>
          <a:p>
            <a:endParaRPr lang="en-US"/>
          </a:p>
        </p:txBody>
      </p:sp>
      <p:sp>
        <p:nvSpPr>
          <p:cNvPr id="52" name="Text 45"/>
          <p:cNvSpPr/>
          <p:nvPr/>
        </p:nvSpPr>
        <p:spPr>
          <a:xfrm>
            <a:off x="12617500" y="7521476"/>
            <a:ext cx="2203549" cy="295275"/>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Public Key Directory</a:t>
            </a:r>
            <a:endParaRPr lang="en-US" sz="1800" dirty="0"/>
          </a:p>
        </p:txBody>
      </p:sp>
      <p:sp>
        <p:nvSpPr>
          <p:cNvPr id="53" name="Shape 46"/>
          <p:cNvSpPr/>
          <p:nvPr/>
        </p:nvSpPr>
        <p:spPr>
          <a:xfrm>
            <a:off x="12484150" y="7931051"/>
            <a:ext cx="2690068" cy="371475"/>
          </a:xfrm>
          <a:prstGeom prst="roundRect">
            <a:avLst>
              <a:gd name="adj" fmla="val 50000"/>
            </a:avLst>
          </a:prstGeom>
          <a:solidFill>
            <a:srgbClr val="F2E2E3"/>
          </a:solidFill>
          <a:ln/>
        </p:spPr>
        <p:txBody>
          <a:bodyPr/>
          <a:lstStyle/>
          <a:p>
            <a:endParaRPr lang="en-US"/>
          </a:p>
        </p:txBody>
      </p:sp>
      <p:sp>
        <p:nvSpPr>
          <p:cNvPr id="54" name="Text 47"/>
          <p:cNvSpPr/>
          <p:nvPr/>
        </p:nvSpPr>
        <p:spPr>
          <a:xfrm>
            <a:off x="12617500" y="7988201"/>
            <a:ext cx="2504070" cy="295275"/>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Zero-Knowledge Server</a:t>
            </a:r>
            <a:endParaRPr lang="en-US" sz="1800" dirty="0"/>
          </a:p>
        </p:txBody>
      </p:sp>
      <p:sp>
        <p:nvSpPr>
          <p:cNvPr id="55" name="Shape 48"/>
          <p:cNvSpPr/>
          <p:nvPr/>
        </p:nvSpPr>
        <p:spPr>
          <a:xfrm>
            <a:off x="990600" y="8893076"/>
            <a:ext cx="13716000" cy="19050"/>
          </a:xfrm>
          <a:prstGeom prst="rect">
            <a:avLst/>
          </a:prstGeom>
          <a:solidFill>
            <a:srgbClr val="A89C8C"/>
          </a:solidFill>
          <a:ln/>
        </p:spPr>
        <p:txBody>
          <a:bodyPr/>
          <a:lstStyle/>
          <a:p>
            <a:endParaRPr lang="en-US"/>
          </a:p>
        </p:txBody>
      </p:sp>
      <p:sp>
        <p:nvSpPr>
          <p:cNvPr id="56" name="Text 49"/>
          <p:cNvSpPr/>
          <p:nvPr/>
        </p:nvSpPr>
        <p:spPr>
          <a:xfrm>
            <a:off x="990600" y="9140726"/>
            <a:ext cx="1412748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55555"/>
                </a:solidFill>
                <a:latin typeface="Georgia" pitchFamily="34" charset="0"/>
                <a:ea typeface="Georgia" pitchFamily="34" charset="-122"/>
                <a:cs typeface="Georgia" pitchFamily="34" charset="-120"/>
              </a:rPr>
              <a:t>Private keys never leave the device that made them; the server's directory holds public keys only.</a:t>
            </a:r>
            <a:endParaRPr lang="en-US" sz="1800" dirty="0"/>
          </a:p>
        </p:txBody>
      </p:sp>
      <p:pic>
        <p:nvPicPr>
          <p:cNvPr id="57" name="Image 5" descr="preencoded.png"/>
          <p:cNvPicPr>
            <a:picLocks noChangeAspect="1"/>
          </p:cNvPicPr>
          <p:nvPr/>
        </p:nvPicPr>
        <p:blipFill>
          <a:blip r:embed="rId8"/>
          <a:stretch>
            <a:fillRect/>
          </a:stretch>
        </p:blipFill>
        <p:spPr>
          <a:xfrm>
            <a:off x="17183100" y="9801225"/>
            <a:ext cx="114300" cy="2571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64182"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09</a:t>
            </a:r>
            <a:endParaRPr lang="en-US" sz="1800" dirty="0"/>
          </a:p>
        </p:txBody>
      </p:sp>
      <p:sp>
        <p:nvSpPr>
          <p:cNvPr id="3" name="Text 1"/>
          <p:cNvSpPr/>
          <p:nvPr/>
        </p:nvSpPr>
        <p:spPr>
          <a:xfrm>
            <a:off x="1430982" y="476250"/>
            <a:ext cx="2062103"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SYSTEM FLOW</a:t>
            </a:r>
            <a:endParaRPr lang="en-US" sz="1800" dirty="0"/>
          </a:p>
        </p:txBody>
      </p:sp>
      <p:sp>
        <p:nvSpPr>
          <p:cNvPr id="4" name="Shape 2"/>
          <p:cNvSpPr/>
          <p:nvPr/>
        </p:nvSpPr>
        <p:spPr>
          <a:xfrm>
            <a:off x="3458021" y="600075"/>
            <a:ext cx="13839379"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How Sending and Receiving Works, From A to B</a:t>
            </a:r>
            <a:endParaRPr lang="en-US" sz="3750" dirty="0"/>
          </a:p>
        </p:txBody>
      </p:sp>
      <p:sp>
        <p:nvSpPr>
          <p:cNvPr id="6" name="Shape 4"/>
          <p:cNvSpPr/>
          <p:nvPr/>
        </p:nvSpPr>
        <p:spPr>
          <a:xfrm>
            <a:off x="990600" y="2295525"/>
            <a:ext cx="16297275" cy="1666875"/>
          </a:xfrm>
          <a:prstGeom prst="rect">
            <a:avLst/>
          </a:prstGeom>
          <a:ln w="19050">
            <a:solidFill>
              <a:srgbClr val="A89C8C"/>
            </a:solidFill>
            <a:prstDash val="solid"/>
          </a:ln>
        </p:spPr>
        <p:txBody>
          <a:bodyPr/>
          <a:lstStyle/>
          <a:p>
            <a:endParaRPr lang="en-US"/>
          </a:p>
        </p:txBody>
      </p:sp>
      <p:sp>
        <p:nvSpPr>
          <p:cNvPr id="7" name="Shape 5"/>
          <p:cNvSpPr/>
          <p:nvPr/>
        </p:nvSpPr>
        <p:spPr>
          <a:xfrm>
            <a:off x="1295400" y="2843213"/>
            <a:ext cx="571500" cy="571500"/>
          </a:xfrm>
          <a:prstGeom prst="ellipse">
            <a:avLst/>
          </a:prstGeom>
          <a:solidFill>
            <a:srgbClr val="1A1A1A"/>
          </a:solidFill>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57325" y="3005138"/>
            <a:ext cx="247650" cy="247650"/>
          </a:xfrm>
          <a:prstGeom prst="rect">
            <a:avLst/>
          </a:prstGeom>
        </p:spPr>
      </p:pic>
      <p:sp>
        <p:nvSpPr>
          <p:cNvPr id="9" name="Text 6"/>
          <p:cNvSpPr/>
          <p:nvPr/>
        </p:nvSpPr>
        <p:spPr>
          <a:xfrm>
            <a:off x="2057400" y="2562225"/>
            <a:ext cx="7465219"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Private Vault: A's Device</a:t>
            </a:r>
            <a:endParaRPr lang="en-US" sz="1875" dirty="0"/>
          </a:p>
        </p:txBody>
      </p:sp>
      <p:sp>
        <p:nvSpPr>
          <p:cNvPr id="10" name="Text 7"/>
          <p:cNvSpPr/>
          <p:nvPr/>
        </p:nvSpPr>
        <p:spPr>
          <a:xfrm>
            <a:off x="2057400" y="2867025"/>
            <a:ext cx="6990159" cy="5524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55555"/>
                </a:solidFill>
                <a:latin typeface="Georgia" pitchFamily="34" charset="0"/>
                <a:ea typeface="Georgia" pitchFamily="34" charset="-122"/>
                <a:cs typeface="Georgia" pitchFamily="34" charset="-120"/>
              </a:rPr>
              <a:t>Creates and stores private keys locally, using code that runs in the browser.</a:t>
            </a:r>
            <a:endParaRPr lang="en-US" sz="1800" dirty="0"/>
          </a:p>
        </p:txBody>
      </p:sp>
      <p:sp>
        <p:nvSpPr>
          <p:cNvPr id="11" name="Text 8"/>
          <p:cNvSpPr/>
          <p:nvPr/>
        </p:nvSpPr>
        <p:spPr>
          <a:xfrm>
            <a:off x="2057400" y="3438525"/>
            <a:ext cx="7465219"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591520"/>
                </a:solidFill>
                <a:latin typeface="Georgia" pitchFamily="34" charset="0"/>
                <a:ea typeface="Georgia" pitchFamily="34" charset="-122"/>
                <a:cs typeface="Georgia" pitchFamily="34" charset="-120"/>
              </a:rPr>
              <a:t>Never leaves the device</a:t>
            </a:r>
            <a:endParaRPr lang="en-US" sz="1800" dirty="0"/>
          </a:p>
        </p:txBody>
      </p:sp>
      <p:sp>
        <p:nvSpPr>
          <p:cNvPr id="12" name="Shape 9"/>
          <p:cNvSpPr/>
          <p:nvPr/>
        </p:nvSpPr>
        <p:spPr>
          <a:xfrm>
            <a:off x="9129713" y="2314575"/>
            <a:ext cx="8139112" cy="1628775"/>
          </a:xfrm>
          <a:prstGeom prst="rect">
            <a:avLst/>
          </a:prstGeom>
          <a:solidFill>
            <a:srgbClr val="F2E2E3"/>
          </a:solidFill>
          <a:ln/>
        </p:spPr>
        <p:txBody>
          <a:bodyPr/>
          <a:lstStyle/>
          <a:p>
            <a:endParaRPr lang="en-US"/>
          </a:p>
        </p:txBody>
      </p:sp>
      <p:sp>
        <p:nvSpPr>
          <p:cNvPr id="13" name="Shape 10"/>
          <p:cNvSpPr/>
          <p:nvPr/>
        </p:nvSpPr>
        <p:spPr>
          <a:xfrm>
            <a:off x="9129713" y="2314575"/>
            <a:ext cx="19050" cy="1628775"/>
          </a:xfrm>
          <a:prstGeom prst="rect">
            <a:avLst/>
          </a:prstGeom>
          <a:solidFill>
            <a:srgbClr val="7A1F2B"/>
          </a:solidFill>
          <a:ln/>
        </p:spPr>
        <p:txBody>
          <a:bodyPr/>
          <a:lstStyle/>
          <a:p>
            <a:endParaRPr lang="en-US"/>
          </a:p>
        </p:txBody>
      </p:sp>
      <p:sp>
        <p:nvSpPr>
          <p:cNvPr id="14" name="Shape 11"/>
          <p:cNvSpPr/>
          <p:nvPr/>
        </p:nvSpPr>
        <p:spPr>
          <a:xfrm>
            <a:off x="9434513" y="2843213"/>
            <a:ext cx="571500" cy="571500"/>
          </a:xfrm>
          <a:prstGeom prst="ellipse">
            <a:avLst/>
          </a:prstGeom>
          <a:solidFill>
            <a:srgbClr val="7A1F2B"/>
          </a:solidFill>
          <a:ln/>
        </p:spPr>
        <p:txBody>
          <a:bodyPr/>
          <a:lstStyle/>
          <a:p>
            <a:endParaRPr lang="en-US"/>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96438" y="3005138"/>
            <a:ext cx="247650" cy="247650"/>
          </a:xfrm>
          <a:prstGeom prst="rect">
            <a:avLst/>
          </a:prstGeom>
        </p:spPr>
      </p:pic>
      <p:sp>
        <p:nvSpPr>
          <p:cNvPr id="16" name="Text 12"/>
          <p:cNvSpPr/>
          <p:nvPr/>
        </p:nvSpPr>
        <p:spPr>
          <a:xfrm>
            <a:off x="10196513" y="2690813"/>
            <a:ext cx="5511001"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Public Directory: Qmail Server</a:t>
            </a:r>
            <a:endParaRPr lang="en-US" sz="1875" dirty="0"/>
          </a:p>
        </p:txBody>
      </p:sp>
      <p:sp>
        <p:nvSpPr>
          <p:cNvPr id="17" name="Text 13"/>
          <p:cNvSpPr/>
          <p:nvPr/>
        </p:nvSpPr>
        <p:spPr>
          <a:xfrm>
            <a:off x="10196513" y="2995613"/>
            <a:ext cx="5511001"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55555"/>
                </a:solidFill>
                <a:latin typeface="Georgia" pitchFamily="34" charset="0"/>
                <a:ea typeface="Georgia" pitchFamily="34" charset="-122"/>
                <a:cs typeface="Georgia" pitchFamily="34" charset="-120"/>
              </a:rPr>
              <a:t>Stores only public keys and addresses (a@qmail.com).</a:t>
            </a:r>
            <a:endParaRPr lang="en-US" sz="1800" dirty="0"/>
          </a:p>
        </p:txBody>
      </p:sp>
      <p:sp>
        <p:nvSpPr>
          <p:cNvPr id="18" name="Text 14"/>
          <p:cNvSpPr/>
          <p:nvPr/>
        </p:nvSpPr>
        <p:spPr>
          <a:xfrm>
            <a:off x="10196513" y="3309938"/>
            <a:ext cx="5511001"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591520"/>
                </a:solidFill>
                <a:latin typeface="Georgia" pitchFamily="34" charset="0"/>
                <a:ea typeface="Georgia" pitchFamily="34" charset="-122"/>
                <a:cs typeface="Georgia" pitchFamily="34" charset="-120"/>
              </a:rPr>
              <a:t>Zero knowledge of private keys</a:t>
            </a:r>
            <a:endParaRPr lang="en-US" sz="1800" dirty="0"/>
          </a:p>
        </p:txBody>
      </p:sp>
      <p:sp>
        <p:nvSpPr>
          <p:cNvPr id="19" name="Shape 15"/>
          <p:cNvSpPr/>
          <p:nvPr/>
        </p:nvSpPr>
        <p:spPr>
          <a:xfrm>
            <a:off x="990600" y="4248150"/>
            <a:ext cx="5076825" cy="4079677"/>
          </a:xfrm>
          <a:prstGeom prst="rect">
            <a:avLst/>
          </a:prstGeom>
          <a:ln w="19050">
            <a:solidFill>
              <a:srgbClr val="A89C8C"/>
            </a:solidFill>
            <a:prstDash val="solid"/>
          </a:ln>
        </p:spPr>
        <p:txBody>
          <a:bodyPr/>
          <a:lstStyle/>
          <a:p>
            <a:endParaRPr lang="en-US"/>
          </a:p>
        </p:txBody>
      </p:sp>
      <p:sp>
        <p:nvSpPr>
          <p:cNvPr id="20" name="Shape 16"/>
          <p:cNvSpPr/>
          <p:nvPr/>
        </p:nvSpPr>
        <p:spPr>
          <a:xfrm>
            <a:off x="1257300" y="4533900"/>
            <a:ext cx="457200" cy="457200"/>
          </a:xfrm>
          <a:prstGeom prst="ellipse">
            <a:avLst/>
          </a:prstGeom>
          <a:solidFill>
            <a:srgbClr val="7A1F2B"/>
          </a:solidFill>
          <a:ln/>
        </p:spPr>
        <p:txBody>
          <a:bodyPr/>
          <a:lstStyle/>
          <a:p>
            <a:endParaRPr lang="en-US"/>
          </a:p>
        </p:txBody>
      </p:sp>
      <p:sp>
        <p:nvSpPr>
          <p:cNvPr id="21" name="Text 17"/>
          <p:cNvSpPr/>
          <p:nvPr/>
        </p:nvSpPr>
        <p:spPr>
          <a:xfrm>
            <a:off x="1219200" y="4533900"/>
            <a:ext cx="533400" cy="4953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22" name="Text 18"/>
          <p:cNvSpPr/>
          <p:nvPr/>
        </p:nvSpPr>
        <p:spPr>
          <a:xfrm>
            <a:off x="1847850" y="4629150"/>
            <a:ext cx="1382866"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Lock &amp; Sign</a:t>
            </a:r>
            <a:endParaRPr lang="en-US" sz="1875" dirty="0"/>
          </a:p>
        </p:txBody>
      </p:sp>
      <p:sp>
        <p:nvSpPr>
          <p:cNvPr id="23" name="Text 19"/>
          <p:cNvSpPr/>
          <p:nvPr/>
        </p:nvSpPr>
        <p:spPr>
          <a:xfrm>
            <a:off x="1257300" y="5143500"/>
            <a:ext cx="4679728" cy="1336477"/>
          </a:xfrm>
          <a:prstGeom prst="rect">
            <a:avLst/>
          </a:prstGeom>
          <a:noFill/>
          <a:ln/>
        </p:spPr>
        <p:txBody>
          <a:bodyPr wrap="square" lIns="25400" tIns="25400" rIns="25400" bIns="25400" rtlCol="0" anchor="t">
            <a:normAutofit lnSpcReduction="10000"/>
          </a:bodyPr>
          <a:lstStyle/>
          <a:p>
            <a:pPr marL="0" indent="0" algn="l">
              <a:lnSpc>
                <a:spcPct val="126222"/>
              </a:lnSpc>
              <a:buNone/>
            </a:pPr>
            <a:r>
              <a:rPr lang="en-US" sz="1800" dirty="0">
                <a:solidFill>
                  <a:srgbClr val="333333"/>
                </a:solidFill>
                <a:latin typeface="Georgia" pitchFamily="34" charset="0"/>
                <a:ea typeface="Georgia" pitchFamily="34" charset="-122"/>
                <a:cs typeface="Georgia" pitchFamily="34" charset="-120"/>
              </a:rPr>
              <a:t>A writes the message. Qmail fetches B's public key from the directory, uses it to lock the message, then signs the package to prove it really came from A.</a:t>
            </a:r>
            <a:endParaRPr lang="en-US" sz="1800" dirty="0"/>
          </a:p>
        </p:txBody>
      </p:sp>
      <p:sp>
        <p:nvSpPr>
          <p:cNvPr id="24" name="Shape 20"/>
          <p:cNvSpPr/>
          <p:nvPr/>
        </p:nvSpPr>
        <p:spPr>
          <a:xfrm>
            <a:off x="1257300" y="6594277"/>
            <a:ext cx="4543425" cy="9525"/>
          </a:xfrm>
          <a:prstGeom prst="rect">
            <a:avLst/>
          </a:prstGeom>
          <a:solidFill>
            <a:srgbClr val="A89C8C"/>
          </a:solidFill>
          <a:ln/>
        </p:spPr>
        <p:txBody>
          <a:bodyPr/>
          <a:lstStyle/>
          <a:p>
            <a:endParaRPr lang="en-US"/>
          </a:p>
        </p:txBody>
      </p:sp>
      <p:sp>
        <p:nvSpPr>
          <p:cNvPr id="25" name="Shape 21"/>
          <p:cNvSpPr/>
          <p:nvPr/>
        </p:nvSpPr>
        <p:spPr>
          <a:xfrm>
            <a:off x="1257300" y="6737152"/>
            <a:ext cx="1796207" cy="371475"/>
          </a:xfrm>
          <a:prstGeom prst="roundRect">
            <a:avLst>
              <a:gd name="adj" fmla="val 50000"/>
            </a:avLst>
          </a:prstGeom>
          <a:solidFill>
            <a:srgbClr val="F2E2E3"/>
          </a:solidFill>
          <a:ln/>
        </p:spPr>
        <p:txBody>
          <a:bodyPr/>
          <a:lstStyle/>
          <a:p>
            <a:endParaRPr lang="en-US"/>
          </a:p>
        </p:txBody>
      </p:sp>
      <p:sp>
        <p:nvSpPr>
          <p:cNvPr id="26" name="Text 22"/>
          <p:cNvSpPr/>
          <p:nvPr/>
        </p:nvSpPr>
        <p:spPr>
          <a:xfrm>
            <a:off x="1390650" y="6794302"/>
            <a:ext cx="1605707" cy="295275"/>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AES-256-GCM</a:t>
            </a:r>
            <a:endParaRPr lang="en-US" sz="1800" dirty="0"/>
          </a:p>
        </p:txBody>
      </p:sp>
      <p:sp>
        <p:nvSpPr>
          <p:cNvPr id="27" name="Shape 23"/>
          <p:cNvSpPr/>
          <p:nvPr/>
        </p:nvSpPr>
        <p:spPr>
          <a:xfrm>
            <a:off x="1257300" y="7203877"/>
            <a:ext cx="2772221" cy="371475"/>
          </a:xfrm>
          <a:prstGeom prst="roundRect">
            <a:avLst>
              <a:gd name="adj" fmla="val 50000"/>
            </a:avLst>
          </a:prstGeom>
          <a:solidFill>
            <a:srgbClr val="F2E2E3"/>
          </a:solidFill>
          <a:ln/>
        </p:spPr>
        <p:txBody>
          <a:bodyPr/>
          <a:lstStyle/>
          <a:p>
            <a:endParaRPr lang="en-US"/>
          </a:p>
        </p:txBody>
      </p:sp>
      <p:sp>
        <p:nvSpPr>
          <p:cNvPr id="28" name="Text 24"/>
          <p:cNvSpPr/>
          <p:nvPr/>
        </p:nvSpPr>
        <p:spPr>
          <a:xfrm>
            <a:off x="1390650" y="7261027"/>
            <a:ext cx="2588688" cy="295275"/>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ML-KEM Encapsulation</a:t>
            </a:r>
            <a:endParaRPr lang="en-US" sz="1800" dirty="0"/>
          </a:p>
        </p:txBody>
      </p:sp>
      <p:sp>
        <p:nvSpPr>
          <p:cNvPr id="29" name="Shape 25"/>
          <p:cNvSpPr/>
          <p:nvPr/>
        </p:nvSpPr>
        <p:spPr>
          <a:xfrm>
            <a:off x="1257300" y="7670602"/>
            <a:ext cx="2223195" cy="371475"/>
          </a:xfrm>
          <a:prstGeom prst="roundRect">
            <a:avLst>
              <a:gd name="adj" fmla="val 50000"/>
            </a:avLst>
          </a:prstGeom>
          <a:solidFill>
            <a:srgbClr val="F2E2E3"/>
          </a:solidFill>
          <a:ln/>
        </p:spPr>
        <p:txBody>
          <a:bodyPr/>
          <a:lstStyle/>
          <a:p>
            <a:endParaRPr lang="en-US"/>
          </a:p>
        </p:txBody>
      </p:sp>
      <p:sp>
        <p:nvSpPr>
          <p:cNvPr id="30" name="Text 26"/>
          <p:cNvSpPr/>
          <p:nvPr/>
        </p:nvSpPr>
        <p:spPr>
          <a:xfrm>
            <a:off x="1390650" y="7727752"/>
            <a:ext cx="2032695" cy="295275"/>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ML-DSA Signature</a:t>
            </a:r>
            <a:endParaRPr lang="en-US" sz="1800" dirty="0"/>
          </a:p>
        </p:txBody>
      </p:sp>
      <p:pic>
        <p:nvPicPr>
          <p:cNvPr id="3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72200" y="6126063"/>
            <a:ext cx="323850" cy="323850"/>
          </a:xfrm>
          <a:prstGeom prst="rect">
            <a:avLst/>
          </a:prstGeom>
        </p:spPr>
      </p:pic>
      <p:sp>
        <p:nvSpPr>
          <p:cNvPr id="32" name="Shape 27"/>
          <p:cNvSpPr/>
          <p:nvPr/>
        </p:nvSpPr>
        <p:spPr>
          <a:xfrm>
            <a:off x="6600825" y="4248150"/>
            <a:ext cx="5076825" cy="4079677"/>
          </a:xfrm>
          <a:prstGeom prst="rect">
            <a:avLst/>
          </a:prstGeom>
          <a:ln w="19050">
            <a:solidFill>
              <a:srgbClr val="A89C8C"/>
            </a:solidFill>
            <a:prstDash val="solid"/>
          </a:ln>
        </p:spPr>
        <p:txBody>
          <a:bodyPr/>
          <a:lstStyle/>
          <a:p>
            <a:endParaRPr lang="en-US"/>
          </a:p>
        </p:txBody>
      </p:sp>
      <p:sp>
        <p:nvSpPr>
          <p:cNvPr id="33" name="Shape 28"/>
          <p:cNvSpPr/>
          <p:nvPr/>
        </p:nvSpPr>
        <p:spPr>
          <a:xfrm>
            <a:off x="6867525" y="4533900"/>
            <a:ext cx="457200" cy="457200"/>
          </a:xfrm>
          <a:prstGeom prst="ellipse">
            <a:avLst/>
          </a:prstGeom>
          <a:solidFill>
            <a:srgbClr val="7A1F2B"/>
          </a:solidFill>
          <a:ln/>
        </p:spPr>
        <p:txBody>
          <a:bodyPr/>
          <a:lstStyle/>
          <a:p>
            <a:endParaRPr lang="en-US"/>
          </a:p>
        </p:txBody>
      </p:sp>
      <p:sp>
        <p:nvSpPr>
          <p:cNvPr id="34" name="Text 29"/>
          <p:cNvSpPr/>
          <p:nvPr/>
        </p:nvSpPr>
        <p:spPr>
          <a:xfrm>
            <a:off x="6829425" y="4533900"/>
            <a:ext cx="533400" cy="4953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35" name="Text 30"/>
          <p:cNvSpPr/>
          <p:nvPr/>
        </p:nvSpPr>
        <p:spPr>
          <a:xfrm>
            <a:off x="7458075" y="4629150"/>
            <a:ext cx="1527914"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Blind Transit</a:t>
            </a:r>
            <a:endParaRPr lang="en-US" sz="1875" dirty="0"/>
          </a:p>
        </p:txBody>
      </p:sp>
      <p:sp>
        <p:nvSpPr>
          <p:cNvPr id="36" name="Text 31"/>
          <p:cNvSpPr/>
          <p:nvPr/>
        </p:nvSpPr>
        <p:spPr>
          <a:xfrm>
            <a:off x="6867525" y="5143500"/>
            <a:ext cx="4679728" cy="1336477"/>
          </a:xfrm>
          <a:prstGeom prst="rect">
            <a:avLst/>
          </a:prstGeom>
          <a:noFill/>
          <a:ln/>
        </p:spPr>
        <p:txBody>
          <a:bodyPr wrap="square" lIns="25400" tIns="25400" rIns="25400" bIns="25400" rtlCol="0" anchor="t">
            <a:normAutofit lnSpcReduction="10000"/>
          </a:bodyPr>
          <a:lstStyle/>
          <a:p>
            <a:pPr marL="0" indent="0" algn="l">
              <a:lnSpc>
                <a:spcPct val="126222"/>
              </a:lnSpc>
              <a:buNone/>
            </a:pPr>
            <a:r>
              <a:rPr lang="en-US" sz="1800" dirty="0">
                <a:solidFill>
                  <a:srgbClr val="333333"/>
                </a:solidFill>
                <a:latin typeface="Georgia" pitchFamily="34" charset="0"/>
                <a:ea typeface="Georgia" pitchFamily="34" charset="-122"/>
                <a:cs typeface="Georgia" pitchFamily="34" charset="-120"/>
              </a:rPr>
              <a:t>The server receives the locked package and routes it to B, completely blind the whole way. It holds the data tagged to B but cannot read a single byte of it.</a:t>
            </a:r>
            <a:endParaRPr lang="en-US" sz="1800" dirty="0"/>
          </a:p>
        </p:txBody>
      </p:sp>
      <p:sp>
        <p:nvSpPr>
          <p:cNvPr id="37" name="Shape 32"/>
          <p:cNvSpPr/>
          <p:nvPr/>
        </p:nvSpPr>
        <p:spPr>
          <a:xfrm>
            <a:off x="6867525" y="7061002"/>
            <a:ext cx="4543425" cy="9525"/>
          </a:xfrm>
          <a:prstGeom prst="rect">
            <a:avLst/>
          </a:prstGeom>
          <a:solidFill>
            <a:srgbClr val="A89C8C"/>
          </a:solidFill>
          <a:ln/>
        </p:spPr>
        <p:txBody>
          <a:bodyPr/>
          <a:lstStyle/>
          <a:p>
            <a:endParaRPr lang="en-US"/>
          </a:p>
        </p:txBody>
      </p:sp>
      <p:sp>
        <p:nvSpPr>
          <p:cNvPr id="38" name="Shape 33"/>
          <p:cNvSpPr/>
          <p:nvPr/>
        </p:nvSpPr>
        <p:spPr>
          <a:xfrm>
            <a:off x="6867525" y="7203877"/>
            <a:ext cx="2808387" cy="371475"/>
          </a:xfrm>
          <a:prstGeom prst="roundRect">
            <a:avLst>
              <a:gd name="adj" fmla="val 50000"/>
            </a:avLst>
          </a:prstGeom>
          <a:solidFill>
            <a:srgbClr val="F2E2E3"/>
          </a:solidFill>
          <a:ln/>
        </p:spPr>
        <p:txBody>
          <a:bodyPr/>
          <a:lstStyle/>
          <a:p>
            <a:endParaRPr lang="en-US"/>
          </a:p>
        </p:txBody>
      </p:sp>
      <p:sp>
        <p:nvSpPr>
          <p:cNvPr id="39" name="Text 34"/>
          <p:cNvSpPr/>
          <p:nvPr/>
        </p:nvSpPr>
        <p:spPr>
          <a:xfrm>
            <a:off x="7000875" y="7261027"/>
            <a:ext cx="2625938" cy="295275"/>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Zero-Knowledge Storage</a:t>
            </a:r>
            <a:endParaRPr lang="en-US" sz="1800" dirty="0"/>
          </a:p>
        </p:txBody>
      </p:sp>
      <p:sp>
        <p:nvSpPr>
          <p:cNvPr id="40" name="Shape 35"/>
          <p:cNvSpPr/>
          <p:nvPr/>
        </p:nvSpPr>
        <p:spPr>
          <a:xfrm>
            <a:off x="6867525" y="7670602"/>
            <a:ext cx="1904554" cy="371475"/>
          </a:xfrm>
          <a:prstGeom prst="roundRect">
            <a:avLst>
              <a:gd name="adj" fmla="val 50000"/>
            </a:avLst>
          </a:prstGeom>
          <a:solidFill>
            <a:srgbClr val="F2E2E3"/>
          </a:solidFill>
          <a:ln/>
        </p:spPr>
        <p:txBody>
          <a:bodyPr/>
          <a:lstStyle/>
          <a:p>
            <a:endParaRPr lang="en-US"/>
          </a:p>
        </p:txBody>
      </p:sp>
      <p:sp>
        <p:nvSpPr>
          <p:cNvPr id="41" name="Text 36"/>
          <p:cNvSpPr/>
          <p:nvPr/>
        </p:nvSpPr>
        <p:spPr>
          <a:xfrm>
            <a:off x="7000875" y="7727752"/>
            <a:ext cx="1714054" cy="295275"/>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Ciphertext Only</a:t>
            </a:r>
            <a:endParaRPr lang="en-US" sz="1800" dirty="0"/>
          </a:p>
        </p:txBody>
      </p:sp>
      <p:pic>
        <p:nvPicPr>
          <p:cNvPr id="4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782425" y="6126063"/>
            <a:ext cx="323850" cy="323850"/>
          </a:xfrm>
          <a:prstGeom prst="rect">
            <a:avLst/>
          </a:prstGeom>
        </p:spPr>
      </p:pic>
      <p:sp>
        <p:nvSpPr>
          <p:cNvPr id="43" name="Shape 37"/>
          <p:cNvSpPr/>
          <p:nvPr/>
        </p:nvSpPr>
        <p:spPr>
          <a:xfrm>
            <a:off x="12211050" y="4248150"/>
            <a:ext cx="5076825" cy="4079677"/>
          </a:xfrm>
          <a:prstGeom prst="rect">
            <a:avLst/>
          </a:prstGeom>
          <a:ln w="19050">
            <a:solidFill>
              <a:srgbClr val="A89C8C"/>
            </a:solidFill>
            <a:prstDash val="solid"/>
          </a:ln>
        </p:spPr>
        <p:txBody>
          <a:bodyPr/>
          <a:lstStyle/>
          <a:p>
            <a:endParaRPr lang="en-US"/>
          </a:p>
        </p:txBody>
      </p:sp>
      <p:sp>
        <p:nvSpPr>
          <p:cNvPr id="44" name="Shape 38"/>
          <p:cNvSpPr/>
          <p:nvPr/>
        </p:nvSpPr>
        <p:spPr>
          <a:xfrm>
            <a:off x="12477750" y="4533900"/>
            <a:ext cx="457200" cy="457200"/>
          </a:xfrm>
          <a:prstGeom prst="ellipse">
            <a:avLst/>
          </a:prstGeom>
          <a:solidFill>
            <a:srgbClr val="7A1F2B"/>
          </a:solidFill>
          <a:ln/>
        </p:spPr>
        <p:txBody>
          <a:bodyPr/>
          <a:lstStyle/>
          <a:p>
            <a:endParaRPr lang="en-US"/>
          </a:p>
        </p:txBody>
      </p:sp>
      <p:sp>
        <p:nvSpPr>
          <p:cNvPr id="45" name="Text 39"/>
          <p:cNvSpPr/>
          <p:nvPr/>
        </p:nvSpPr>
        <p:spPr>
          <a:xfrm>
            <a:off x="12439650" y="4533900"/>
            <a:ext cx="533400" cy="4953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46" name="Text 40"/>
          <p:cNvSpPr/>
          <p:nvPr/>
        </p:nvSpPr>
        <p:spPr>
          <a:xfrm>
            <a:off x="13068300" y="4629150"/>
            <a:ext cx="1840111"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Unlock &amp; Verify</a:t>
            </a:r>
            <a:endParaRPr lang="en-US" sz="1875" dirty="0"/>
          </a:p>
        </p:txBody>
      </p:sp>
      <p:sp>
        <p:nvSpPr>
          <p:cNvPr id="47" name="Text 41"/>
          <p:cNvSpPr/>
          <p:nvPr/>
        </p:nvSpPr>
        <p:spPr>
          <a:xfrm>
            <a:off x="12477750" y="5143500"/>
            <a:ext cx="4679728" cy="1011882"/>
          </a:xfrm>
          <a:prstGeom prst="rect">
            <a:avLst/>
          </a:prstGeom>
          <a:noFill/>
          <a:ln/>
        </p:spPr>
        <p:txBody>
          <a:bodyPr wrap="square" lIns="25400" tIns="25400" rIns="25400" bIns="25400" rtlCol="0" anchor="t">
            <a:normAutofit lnSpcReduction="10000"/>
          </a:bodyPr>
          <a:lstStyle/>
          <a:p>
            <a:pPr marL="0" indent="0" algn="l">
              <a:lnSpc>
                <a:spcPct val="126222"/>
              </a:lnSpc>
              <a:buNone/>
            </a:pPr>
            <a:r>
              <a:rPr lang="en-US" sz="1800" dirty="0">
                <a:solidFill>
                  <a:srgbClr val="333333"/>
                </a:solidFill>
                <a:latin typeface="Georgia" pitchFamily="34" charset="0"/>
                <a:ea typeface="Georgia" pitchFamily="34" charset="-122"/>
                <a:cs typeface="Georgia" pitchFamily="34" charset="-120"/>
              </a:rPr>
              <a:t>B's inbox syncs and downloads the package, unlocks it locally using B's own private key, and instantly confirms it really came from A.</a:t>
            </a:r>
            <a:endParaRPr lang="en-US" sz="1800" dirty="0"/>
          </a:p>
        </p:txBody>
      </p:sp>
      <p:sp>
        <p:nvSpPr>
          <p:cNvPr id="48" name="Shape 42"/>
          <p:cNvSpPr/>
          <p:nvPr/>
        </p:nvSpPr>
        <p:spPr>
          <a:xfrm>
            <a:off x="12477750" y="6269682"/>
            <a:ext cx="2903488" cy="409575"/>
          </a:xfrm>
          <a:prstGeom prst="roundRect">
            <a:avLst>
              <a:gd name="adj" fmla="val 50000"/>
            </a:avLst>
          </a:prstGeom>
          <a:solidFill>
            <a:srgbClr val="7A1F2B"/>
          </a:solidFill>
          <a:ln/>
        </p:spPr>
        <p:txBody>
          <a:bodyPr/>
          <a:lstStyle/>
          <a:p>
            <a:endParaRPr lang="en-US"/>
          </a:p>
        </p:txBody>
      </p:sp>
      <p:pic>
        <p:nvPicPr>
          <p:cNvPr id="4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630150" y="6388745"/>
            <a:ext cx="171450" cy="171450"/>
          </a:xfrm>
          <a:prstGeom prst="rect">
            <a:avLst/>
          </a:prstGeom>
        </p:spPr>
      </p:pic>
      <p:sp>
        <p:nvSpPr>
          <p:cNvPr id="50" name="Text 43"/>
          <p:cNvSpPr/>
          <p:nvPr/>
        </p:nvSpPr>
        <p:spPr>
          <a:xfrm>
            <a:off x="12877800" y="6345882"/>
            <a:ext cx="2427238" cy="295275"/>
          </a:xfrm>
          <a:prstGeom prst="rect">
            <a:avLst/>
          </a:prstGeom>
          <a:noFill/>
          <a:ln/>
        </p:spPr>
        <p:txBody>
          <a:bodyPr wrap="square" lIns="0" tIns="0" rIns="0" bIns="0" rtlCol="0" anchor="t">
            <a:normAutofit fontScale="85000" lnSpcReduction="10000"/>
          </a:bodyPr>
          <a:lstStyle/>
          <a:p>
            <a:pPr marL="0" indent="0" algn="l">
              <a:buNone/>
            </a:pPr>
            <a:r>
              <a:rPr lang="en-US" sz="1800" b="1" dirty="0">
                <a:solidFill>
                  <a:srgbClr val="FFFFFF"/>
                </a:solidFill>
                <a:latin typeface="Georgia" pitchFamily="34" charset="0"/>
                <a:ea typeface="Georgia" pitchFamily="34" charset="-122"/>
                <a:cs typeface="Georgia" pitchFamily="34" charset="-120"/>
              </a:rPr>
              <a:t>QUANTUM VERIFIED</a:t>
            </a:r>
            <a:endParaRPr lang="en-US" sz="1800" dirty="0"/>
          </a:p>
        </p:txBody>
      </p:sp>
      <p:sp>
        <p:nvSpPr>
          <p:cNvPr id="51" name="Shape 44"/>
          <p:cNvSpPr/>
          <p:nvPr/>
        </p:nvSpPr>
        <p:spPr>
          <a:xfrm>
            <a:off x="12477750" y="7061002"/>
            <a:ext cx="4543425" cy="9525"/>
          </a:xfrm>
          <a:prstGeom prst="rect">
            <a:avLst/>
          </a:prstGeom>
          <a:solidFill>
            <a:srgbClr val="A89C8C"/>
          </a:solidFill>
          <a:ln/>
        </p:spPr>
        <p:txBody>
          <a:bodyPr/>
          <a:lstStyle/>
          <a:p>
            <a:endParaRPr lang="en-US"/>
          </a:p>
        </p:txBody>
      </p:sp>
      <p:sp>
        <p:nvSpPr>
          <p:cNvPr id="52" name="Shape 45"/>
          <p:cNvSpPr/>
          <p:nvPr/>
        </p:nvSpPr>
        <p:spPr>
          <a:xfrm>
            <a:off x="12477750" y="7203877"/>
            <a:ext cx="2888159" cy="371475"/>
          </a:xfrm>
          <a:prstGeom prst="roundRect">
            <a:avLst>
              <a:gd name="adj" fmla="val 50000"/>
            </a:avLst>
          </a:prstGeom>
          <a:solidFill>
            <a:srgbClr val="F2E2E3"/>
          </a:solidFill>
          <a:ln/>
        </p:spPr>
        <p:txBody>
          <a:bodyPr/>
          <a:lstStyle/>
          <a:p>
            <a:endParaRPr lang="en-US"/>
          </a:p>
        </p:txBody>
      </p:sp>
      <p:sp>
        <p:nvSpPr>
          <p:cNvPr id="53" name="Text 46"/>
          <p:cNvSpPr/>
          <p:nvPr/>
        </p:nvSpPr>
        <p:spPr>
          <a:xfrm>
            <a:off x="12611100" y="7261027"/>
            <a:ext cx="2708103" cy="295275"/>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On-Device Decapsulation</a:t>
            </a:r>
            <a:endParaRPr lang="en-US" sz="1800" dirty="0"/>
          </a:p>
        </p:txBody>
      </p:sp>
      <p:sp>
        <p:nvSpPr>
          <p:cNvPr id="54" name="Shape 47"/>
          <p:cNvSpPr/>
          <p:nvPr/>
        </p:nvSpPr>
        <p:spPr>
          <a:xfrm>
            <a:off x="12477750" y="7670602"/>
            <a:ext cx="2146102" cy="371475"/>
          </a:xfrm>
          <a:prstGeom prst="roundRect">
            <a:avLst>
              <a:gd name="adj" fmla="val 50000"/>
            </a:avLst>
          </a:prstGeom>
          <a:solidFill>
            <a:srgbClr val="F2E2E3"/>
          </a:solidFill>
          <a:ln/>
        </p:spPr>
        <p:txBody>
          <a:bodyPr/>
          <a:lstStyle/>
          <a:p>
            <a:endParaRPr lang="en-US"/>
          </a:p>
        </p:txBody>
      </p:sp>
      <p:sp>
        <p:nvSpPr>
          <p:cNvPr id="55" name="Text 48"/>
          <p:cNvSpPr/>
          <p:nvPr/>
        </p:nvSpPr>
        <p:spPr>
          <a:xfrm>
            <a:off x="12611100" y="7727752"/>
            <a:ext cx="1955602" cy="295275"/>
          </a:xfrm>
          <a:prstGeom prst="rect">
            <a:avLst/>
          </a:prstGeom>
          <a:noFill/>
          <a:ln/>
        </p:spPr>
        <p:txBody>
          <a:bodyPr wrap="none" lIns="25400" tIns="25400" rIns="25400" bIns="25400" rtlCol="0" anchor="t">
            <a:normAutofit fontScale="92500" lnSpcReduction="10000"/>
          </a:bodyPr>
          <a:lstStyle/>
          <a:p>
            <a:pPr marL="0" indent="0" algn="l">
              <a:buNone/>
            </a:pPr>
            <a:r>
              <a:rPr lang="en-US" sz="1800" b="1" kern="0" spc="18" dirty="0">
                <a:solidFill>
                  <a:srgbClr val="591520"/>
                </a:solidFill>
                <a:latin typeface="Georgia" pitchFamily="34" charset="0"/>
                <a:ea typeface="Georgia" pitchFamily="34" charset="-122"/>
                <a:cs typeface="Georgia" pitchFamily="34" charset="-120"/>
              </a:rPr>
              <a:t>Signature Verified</a:t>
            </a:r>
            <a:endParaRPr lang="en-US" sz="1800" dirty="0"/>
          </a:p>
        </p:txBody>
      </p:sp>
      <p:sp>
        <p:nvSpPr>
          <p:cNvPr id="56" name="Shape 49"/>
          <p:cNvSpPr/>
          <p:nvPr/>
        </p:nvSpPr>
        <p:spPr>
          <a:xfrm>
            <a:off x="990600" y="8632627"/>
            <a:ext cx="13716000" cy="19050"/>
          </a:xfrm>
          <a:prstGeom prst="rect">
            <a:avLst/>
          </a:prstGeom>
          <a:solidFill>
            <a:srgbClr val="A89C8C"/>
          </a:solidFill>
          <a:ln/>
        </p:spPr>
        <p:txBody>
          <a:bodyPr/>
          <a:lstStyle/>
          <a:p>
            <a:endParaRPr lang="en-US"/>
          </a:p>
        </p:txBody>
      </p:sp>
      <p:sp>
        <p:nvSpPr>
          <p:cNvPr id="57" name="Text 50"/>
          <p:cNvSpPr/>
          <p:nvPr/>
        </p:nvSpPr>
        <p:spPr>
          <a:xfrm>
            <a:off x="990600" y="8880277"/>
            <a:ext cx="14127480" cy="5524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55555"/>
                </a:solidFill>
                <a:latin typeface="Georgia" pitchFamily="34" charset="0"/>
                <a:ea typeface="Georgia" pitchFamily="34" charset="-122"/>
                <a:cs typeface="Georgia" pitchFamily="34" charset="-120"/>
              </a:rPr>
              <a:t>There is one message store with a recipient_id column, not two separate syncing databases. Every stored row is already locked data the server can't read, so splitting the database wouldn't add real security; it would only add infrastructure cost.</a:t>
            </a:r>
            <a:endParaRPr lang="en-US" sz="1800" dirty="0"/>
          </a:p>
        </p:txBody>
      </p:sp>
      <p:pic>
        <p:nvPicPr>
          <p:cNvPr id="58" name="Image 5" descr="preencoded.png"/>
          <p:cNvPicPr>
            <a:picLocks noChangeAspect="1"/>
          </p:cNvPicPr>
          <p:nvPr/>
        </p:nvPicPr>
        <p:blipFill>
          <a:blip r:embed="rId8"/>
          <a:stretch>
            <a:fillRect/>
          </a:stretch>
        </p:blipFill>
        <p:spPr>
          <a:xfrm>
            <a:off x="17183100" y="9801225"/>
            <a:ext cx="114300" cy="2571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33077"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10</a:t>
            </a:r>
            <a:endParaRPr lang="en-US" sz="1800" dirty="0"/>
          </a:p>
        </p:txBody>
      </p:sp>
      <p:sp>
        <p:nvSpPr>
          <p:cNvPr id="3" name="Text 1"/>
          <p:cNvSpPr/>
          <p:nvPr/>
        </p:nvSpPr>
        <p:spPr>
          <a:xfrm>
            <a:off x="1399877" y="476250"/>
            <a:ext cx="195078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COMPARISON</a:t>
            </a:r>
            <a:endParaRPr lang="en-US" sz="1800" dirty="0"/>
          </a:p>
        </p:txBody>
      </p:sp>
      <p:sp>
        <p:nvSpPr>
          <p:cNvPr id="4" name="Shape 2"/>
          <p:cNvSpPr/>
          <p:nvPr/>
        </p:nvSpPr>
        <p:spPr>
          <a:xfrm>
            <a:off x="3325713" y="600075"/>
            <a:ext cx="13971687"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fontScale="92500"/>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Difference Between Traditional Email and Qmail</a:t>
            </a:r>
            <a:endParaRPr lang="en-US" sz="3750" dirty="0"/>
          </a:p>
        </p:txBody>
      </p:sp>
      <p:sp>
        <p:nvSpPr>
          <p:cNvPr id="6" name="Shape 4"/>
          <p:cNvSpPr/>
          <p:nvPr/>
        </p:nvSpPr>
        <p:spPr>
          <a:xfrm>
            <a:off x="990600" y="2219325"/>
            <a:ext cx="857250" cy="28575"/>
          </a:xfrm>
          <a:prstGeom prst="rect">
            <a:avLst/>
          </a:prstGeom>
          <a:solidFill>
            <a:srgbClr val="7A1F2B"/>
          </a:solidFill>
          <a:ln/>
        </p:spPr>
        <p:txBody>
          <a:bodyPr/>
          <a:lstStyle/>
          <a:p>
            <a:endParaRPr lang="en-US"/>
          </a:p>
        </p:txBody>
      </p:sp>
      <p:sp>
        <p:nvSpPr>
          <p:cNvPr id="7" name="Shape 5"/>
          <p:cNvSpPr/>
          <p:nvPr/>
        </p:nvSpPr>
        <p:spPr>
          <a:xfrm>
            <a:off x="990600" y="2952750"/>
            <a:ext cx="4239667" cy="609600"/>
          </a:xfrm>
          <a:prstGeom prst="rect">
            <a:avLst/>
          </a:prstGeom>
          <a:solidFill>
            <a:srgbClr val="F2E2E3"/>
          </a:solidFill>
          <a:ln/>
        </p:spPr>
        <p:txBody>
          <a:bodyPr/>
          <a:lstStyle/>
          <a:p>
            <a:endParaRPr lang="en-US"/>
          </a:p>
        </p:txBody>
      </p:sp>
      <p:sp>
        <p:nvSpPr>
          <p:cNvPr id="8" name="Shape 6"/>
          <p:cNvSpPr/>
          <p:nvPr/>
        </p:nvSpPr>
        <p:spPr>
          <a:xfrm>
            <a:off x="990600" y="3543300"/>
            <a:ext cx="4239667" cy="19050"/>
          </a:xfrm>
          <a:prstGeom prst="rect">
            <a:avLst/>
          </a:prstGeom>
          <a:solidFill>
            <a:srgbClr val="7A1F2B"/>
          </a:solidFill>
          <a:ln/>
        </p:spPr>
        <p:txBody>
          <a:bodyPr/>
          <a:lstStyle/>
          <a:p>
            <a:endParaRPr lang="en-US"/>
          </a:p>
        </p:txBody>
      </p:sp>
      <p:sp>
        <p:nvSpPr>
          <p:cNvPr id="9" name="Text 7"/>
          <p:cNvSpPr/>
          <p:nvPr/>
        </p:nvSpPr>
        <p:spPr>
          <a:xfrm>
            <a:off x="1143000" y="3124200"/>
            <a:ext cx="402395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800" b="1" kern="0" spc="36" dirty="0">
                <a:solidFill>
                  <a:srgbClr val="591520"/>
                </a:solidFill>
                <a:latin typeface="Georgia" pitchFamily="34" charset="0"/>
                <a:ea typeface="Georgia" pitchFamily="34" charset="-122"/>
                <a:cs typeface="Georgia" pitchFamily="34" charset="-120"/>
              </a:rPr>
              <a:t>DIMENSION</a:t>
            </a:r>
            <a:endParaRPr lang="en-US" sz="1800" dirty="0"/>
          </a:p>
        </p:txBody>
      </p:sp>
      <p:sp>
        <p:nvSpPr>
          <p:cNvPr id="10" name="Shape 8"/>
          <p:cNvSpPr/>
          <p:nvPr/>
        </p:nvSpPr>
        <p:spPr>
          <a:xfrm>
            <a:off x="5230267" y="2952750"/>
            <a:ext cx="6033492" cy="609600"/>
          </a:xfrm>
          <a:prstGeom prst="rect">
            <a:avLst/>
          </a:prstGeom>
          <a:solidFill>
            <a:srgbClr val="F2E2E3"/>
          </a:solidFill>
          <a:ln/>
        </p:spPr>
        <p:txBody>
          <a:bodyPr/>
          <a:lstStyle/>
          <a:p>
            <a:endParaRPr lang="en-US"/>
          </a:p>
        </p:txBody>
      </p:sp>
      <p:sp>
        <p:nvSpPr>
          <p:cNvPr id="11" name="Shape 9"/>
          <p:cNvSpPr/>
          <p:nvPr/>
        </p:nvSpPr>
        <p:spPr>
          <a:xfrm>
            <a:off x="5230267" y="3543300"/>
            <a:ext cx="6033492" cy="19050"/>
          </a:xfrm>
          <a:prstGeom prst="rect">
            <a:avLst/>
          </a:prstGeom>
          <a:solidFill>
            <a:srgbClr val="7A1F2B"/>
          </a:solidFill>
          <a:ln/>
        </p:spPr>
        <p:txBody>
          <a:bodyPr/>
          <a:lstStyle/>
          <a:p>
            <a:endParaRPr lang="en-US"/>
          </a:p>
        </p:txBody>
      </p:sp>
      <p:sp>
        <p:nvSpPr>
          <p:cNvPr id="12" name="Text 10"/>
          <p:cNvSpPr/>
          <p:nvPr/>
        </p:nvSpPr>
        <p:spPr>
          <a:xfrm>
            <a:off x="5230267" y="3124200"/>
            <a:ext cx="602399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800" b="1" kern="0" spc="36" dirty="0">
                <a:solidFill>
                  <a:srgbClr val="591520"/>
                </a:solidFill>
                <a:latin typeface="Georgia" pitchFamily="34" charset="0"/>
                <a:ea typeface="Georgia" pitchFamily="34" charset="-122"/>
                <a:cs typeface="Georgia" pitchFamily="34" charset="-120"/>
              </a:rPr>
              <a:t>TRADITIONAL EMAIL (SMTP + TLS)</a:t>
            </a:r>
            <a:endParaRPr lang="en-US" sz="1800" dirty="0"/>
          </a:p>
        </p:txBody>
      </p:sp>
      <p:sp>
        <p:nvSpPr>
          <p:cNvPr id="13" name="Shape 11"/>
          <p:cNvSpPr/>
          <p:nvPr/>
        </p:nvSpPr>
        <p:spPr>
          <a:xfrm>
            <a:off x="11263759" y="2952750"/>
            <a:ext cx="6033641" cy="609600"/>
          </a:xfrm>
          <a:prstGeom prst="rect">
            <a:avLst/>
          </a:prstGeom>
          <a:solidFill>
            <a:srgbClr val="F2E2E3"/>
          </a:solidFill>
          <a:ln/>
        </p:spPr>
        <p:txBody>
          <a:bodyPr/>
          <a:lstStyle/>
          <a:p>
            <a:endParaRPr lang="en-US"/>
          </a:p>
        </p:txBody>
      </p:sp>
      <p:sp>
        <p:nvSpPr>
          <p:cNvPr id="14" name="Shape 12"/>
          <p:cNvSpPr/>
          <p:nvPr/>
        </p:nvSpPr>
        <p:spPr>
          <a:xfrm>
            <a:off x="11263759" y="3543300"/>
            <a:ext cx="6033641" cy="19050"/>
          </a:xfrm>
          <a:prstGeom prst="rect">
            <a:avLst/>
          </a:prstGeom>
          <a:solidFill>
            <a:srgbClr val="7A1F2B"/>
          </a:solidFill>
          <a:ln/>
        </p:spPr>
        <p:txBody>
          <a:bodyPr/>
          <a:lstStyle/>
          <a:p>
            <a:endParaRPr lang="en-US"/>
          </a:p>
        </p:txBody>
      </p:sp>
      <p:sp>
        <p:nvSpPr>
          <p:cNvPr id="15" name="Text 13"/>
          <p:cNvSpPr/>
          <p:nvPr/>
        </p:nvSpPr>
        <p:spPr>
          <a:xfrm>
            <a:off x="11263759" y="3124200"/>
            <a:ext cx="6024150"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800" b="1" kern="0" spc="36" dirty="0">
                <a:solidFill>
                  <a:srgbClr val="591520"/>
                </a:solidFill>
                <a:latin typeface="Georgia" pitchFamily="34" charset="0"/>
                <a:ea typeface="Georgia" pitchFamily="34" charset="-122"/>
                <a:cs typeface="Georgia" pitchFamily="34" charset="-120"/>
              </a:rPr>
              <a:t>QMAIL</a:t>
            </a:r>
            <a:endParaRPr lang="en-US" sz="1800" dirty="0"/>
          </a:p>
        </p:txBody>
      </p:sp>
      <p:sp>
        <p:nvSpPr>
          <p:cNvPr id="16" name="Shape 14"/>
          <p:cNvSpPr/>
          <p:nvPr/>
        </p:nvSpPr>
        <p:spPr>
          <a:xfrm>
            <a:off x="990600" y="4401443"/>
            <a:ext cx="4239667" cy="9525"/>
          </a:xfrm>
          <a:prstGeom prst="rect">
            <a:avLst/>
          </a:prstGeom>
          <a:solidFill>
            <a:srgbClr val="A89C8C"/>
          </a:solidFill>
          <a:ln/>
        </p:spPr>
        <p:txBody>
          <a:bodyPr/>
          <a:lstStyle/>
          <a:p>
            <a:endParaRPr lang="en-US"/>
          </a:p>
        </p:txBody>
      </p:sp>
      <p:sp>
        <p:nvSpPr>
          <p:cNvPr id="17" name="Text 15"/>
          <p:cNvSpPr/>
          <p:nvPr/>
        </p:nvSpPr>
        <p:spPr>
          <a:xfrm>
            <a:off x="1143000" y="3771900"/>
            <a:ext cx="4023957" cy="458093"/>
          </a:xfrm>
          <a:prstGeom prst="rect">
            <a:avLst/>
          </a:prstGeom>
          <a:noFill/>
          <a:ln/>
        </p:spPr>
        <p:txBody>
          <a:bodyPr wrap="square" lIns="25400" tIns="25400" rIns="25400" bIns="25400" rtlCol="0" anchor="t">
            <a:normAutofit/>
          </a:bodyPr>
          <a:lstStyle/>
          <a:p>
            <a:pPr marL="0" indent="0" algn="l">
              <a:lnSpc>
                <a:spcPct val="124444"/>
              </a:lnSpc>
              <a:buNone/>
            </a:pPr>
            <a:r>
              <a:rPr lang="en-US" sz="1800" b="1" dirty="0">
                <a:solidFill>
                  <a:srgbClr val="1A1A1A"/>
                </a:solidFill>
                <a:latin typeface="Georgia" pitchFamily="34" charset="0"/>
                <a:ea typeface="Georgia" pitchFamily="34" charset="-122"/>
                <a:cs typeface="Georgia" pitchFamily="34" charset="-120"/>
              </a:rPr>
              <a:t>Key exchange method</a:t>
            </a:r>
            <a:endParaRPr lang="en-US" sz="1800" dirty="0"/>
          </a:p>
        </p:txBody>
      </p:sp>
      <p:sp>
        <p:nvSpPr>
          <p:cNvPr id="18" name="Shape 16"/>
          <p:cNvSpPr/>
          <p:nvPr/>
        </p:nvSpPr>
        <p:spPr>
          <a:xfrm>
            <a:off x="5230267" y="4401443"/>
            <a:ext cx="6033492" cy="9525"/>
          </a:xfrm>
          <a:prstGeom prst="rect">
            <a:avLst/>
          </a:prstGeom>
          <a:solidFill>
            <a:srgbClr val="A89C8C"/>
          </a:solidFill>
          <a:ln/>
        </p:spPr>
        <p:txBody>
          <a:bodyPr/>
          <a:lstStyle/>
          <a:p>
            <a:endParaRPr lang="en-US"/>
          </a:p>
        </p:txBody>
      </p:sp>
      <p:sp>
        <p:nvSpPr>
          <p:cNvPr id="19" name="Text 17"/>
          <p:cNvSpPr/>
          <p:nvPr/>
        </p:nvSpPr>
        <p:spPr>
          <a:xfrm>
            <a:off x="5230267" y="3771900"/>
            <a:ext cx="6023997" cy="458093"/>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RSA/ECDHE </a:t>
            </a:r>
            <a:r>
              <a:rPr lang="en-US" sz="1800" i="1" dirty="0">
                <a:solidFill>
                  <a:srgbClr val="8A2A1F"/>
                </a:solidFill>
                <a:highlight>
                  <a:srgbClr val="F4E6E2"/>
                </a:highlight>
                <a:latin typeface="Georgia" pitchFamily="34" charset="0"/>
                <a:ea typeface="Georgia" pitchFamily="34" charset="-122"/>
                <a:cs typeface="Georgia" pitchFamily="34" charset="-120"/>
              </a:rPr>
              <a:t>breakable by quantum computers</a:t>
            </a:r>
            <a:endParaRPr lang="en-US" sz="1800" dirty="0"/>
          </a:p>
        </p:txBody>
      </p:sp>
      <p:sp>
        <p:nvSpPr>
          <p:cNvPr id="20" name="Shape 18"/>
          <p:cNvSpPr/>
          <p:nvPr/>
        </p:nvSpPr>
        <p:spPr>
          <a:xfrm>
            <a:off x="11263759" y="4401443"/>
            <a:ext cx="6033641" cy="9525"/>
          </a:xfrm>
          <a:prstGeom prst="rect">
            <a:avLst/>
          </a:prstGeom>
          <a:solidFill>
            <a:srgbClr val="A89C8C"/>
          </a:solidFill>
          <a:ln/>
        </p:spPr>
        <p:txBody>
          <a:bodyPr/>
          <a:lstStyle/>
          <a:p>
            <a:endParaRPr lang="en-US"/>
          </a:p>
        </p:txBody>
      </p:sp>
      <p:sp>
        <p:nvSpPr>
          <p:cNvPr id="21" name="Text 19"/>
          <p:cNvSpPr/>
          <p:nvPr/>
        </p:nvSpPr>
        <p:spPr>
          <a:xfrm>
            <a:off x="11263759" y="3771900"/>
            <a:ext cx="6024150" cy="458093"/>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ML-KEM-768 (FIPS 203) </a:t>
            </a:r>
            <a:r>
              <a:rPr lang="en-US" sz="1800" i="1" dirty="0">
                <a:solidFill>
                  <a:srgbClr val="23593A"/>
                </a:solidFill>
                <a:highlight>
                  <a:srgbClr val="E6EFE6"/>
                </a:highlight>
                <a:latin typeface="Georgia" pitchFamily="34" charset="0"/>
                <a:ea typeface="Georgia" pitchFamily="34" charset="-122"/>
                <a:cs typeface="Georgia" pitchFamily="34" charset="-120"/>
              </a:rPr>
              <a:t>quantum-safe</a:t>
            </a:r>
            <a:endParaRPr lang="en-US" sz="1800" dirty="0"/>
          </a:p>
        </p:txBody>
      </p:sp>
      <p:sp>
        <p:nvSpPr>
          <p:cNvPr id="22" name="Shape 20"/>
          <p:cNvSpPr/>
          <p:nvPr/>
        </p:nvSpPr>
        <p:spPr>
          <a:xfrm>
            <a:off x="990600" y="4410968"/>
            <a:ext cx="16306800" cy="748605"/>
          </a:xfrm>
          <a:prstGeom prst="rect">
            <a:avLst/>
          </a:prstGeom>
          <a:solidFill>
            <a:srgbClr val="FAF8F5"/>
          </a:solidFill>
          <a:ln/>
        </p:spPr>
        <p:txBody>
          <a:bodyPr/>
          <a:lstStyle/>
          <a:p>
            <a:endParaRPr lang="en-US"/>
          </a:p>
        </p:txBody>
      </p:sp>
      <p:sp>
        <p:nvSpPr>
          <p:cNvPr id="23" name="Shape 21"/>
          <p:cNvSpPr/>
          <p:nvPr/>
        </p:nvSpPr>
        <p:spPr>
          <a:xfrm>
            <a:off x="990600" y="5150048"/>
            <a:ext cx="4239667" cy="9525"/>
          </a:xfrm>
          <a:prstGeom prst="rect">
            <a:avLst/>
          </a:prstGeom>
          <a:solidFill>
            <a:srgbClr val="A89C8C"/>
          </a:solidFill>
          <a:ln/>
        </p:spPr>
        <p:txBody>
          <a:bodyPr/>
          <a:lstStyle/>
          <a:p>
            <a:endParaRPr lang="en-US"/>
          </a:p>
        </p:txBody>
      </p:sp>
      <p:sp>
        <p:nvSpPr>
          <p:cNvPr id="24" name="Text 22"/>
          <p:cNvSpPr/>
          <p:nvPr/>
        </p:nvSpPr>
        <p:spPr>
          <a:xfrm>
            <a:off x="1143000" y="4620518"/>
            <a:ext cx="4023957" cy="358080"/>
          </a:xfrm>
          <a:prstGeom prst="rect">
            <a:avLst/>
          </a:prstGeom>
          <a:noFill/>
          <a:ln/>
        </p:spPr>
        <p:txBody>
          <a:bodyPr wrap="square" lIns="25400" tIns="25400" rIns="25400" bIns="25400" rtlCol="0" anchor="t">
            <a:normAutofit lnSpcReduction="10000"/>
          </a:bodyPr>
          <a:lstStyle/>
          <a:p>
            <a:pPr marL="0" indent="0" algn="l">
              <a:lnSpc>
                <a:spcPct val="124444"/>
              </a:lnSpc>
              <a:buNone/>
            </a:pPr>
            <a:r>
              <a:rPr lang="en-US" sz="1800" b="1" dirty="0">
                <a:solidFill>
                  <a:srgbClr val="1A1A1A"/>
                </a:solidFill>
                <a:latin typeface="Georgia" pitchFamily="34" charset="0"/>
                <a:ea typeface="Georgia" pitchFamily="34" charset="-122"/>
                <a:cs typeface="Georgia" pitchFamily="34" charset="-120"/>
              </a:rPr>
              <a:t>Signatures</a:t>
            </a:r>
            <a:endParaRPr lang="en-US" sz="1800" dirty="0"/>
          </a:p>
        </p:txBody>
      </p:sp>
      <p:sp>
        <p:nvSpPr>
          <p:cNvPr id="25" name="Shape 23"/>
          <p:cNvSpPr/>
          <p:nvPr/>
        </p:nvSpPr>
        <p:spPr>
          <a:xfrm>
            <a:off x="5230267" y="5150048"/>
            <a:ext cx="6033492" cy="9525"/>
          </a:xfrm>
          <a:prstGeom prst="rect">
            <a:avLst/>
          </a:prstGeom>
          <a:solidFill>
            <a:srgbClr val="A89C8C"/>
          </a:solidFill>
          <a:ln/>
        </p:spPr>
        <p:txBody>
          <a:bodyPr/>
          <a:lstStyle/>
          <a:p>
            <a:endParaRPr lang="en-US"/>
          </a:p>
        </p:txBody>
      </p:sp>
      <p:sp>
        <p:nvSpPr>
          <p:cNvPr id="26" name="Text 24"/>
          <p:cNvSpPr/>
          <p:nvPr/>
        </p:nvSpPr>
        <p:spPr>
          <a:xfrm>
            <a:off x="5230267" y="4620518"/>
            <a:ext cx="6023997" cy="358080"/>
          </a:xfrm>
          <a:prstGeom prst="rect">
            <a:avLst/>
          </a:prstGeom>
          <a:noFill/>
          <a:ln/>
        </p:spPr>
        <p:txBody>
          <a:bodyPr wrap="square" lIns="25400" tIns="25400" rIns="25400" bIns="25400" rtlCol="0" anchor="t">
            <a:normAutofit fontScale="92500"/>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RSA/ECDSA, can be forged once quantum computers arrive</a:t>
            </a:r>
            <a:endParaRPr lang="en-US" sz="1800" dirty="0"/>
          </a:p>
        </p:txBody>
      </p:sp>
      <p:sp>
        <p:nvSpPr>
          <p:cNvPr id="27" name="Shape 25"/>
          <p:cNvSpPr/>
          <p:nvPr/>
        </p:nvSpPr>
        <p:spPr>
          <a:xfrm>
            <a:off x="11263759" y="5150048"/>
            <a:ext cx="6033641" cy="9525"/>
          </a:xfrm>
          <a:prstGeom prst="rect">
            <a:avLst/>
          </a:prstGeom>
          <a:solidFill>
            <a:srgbClr val="A89C8C"/>
          </a:solidFill>
          <a:ln/>
        </p:spPr>
        <p:txBody>
          <a:bodyPr/>
          <a:lstStyle/>
          <a:p>
            <a:endParaRPr lang="en-US"/>
          </a:p>
        </p:txBody>
      </p:sp>
      <p:sp>
        <p:nvSpPr>
          <p:cNvPr id="28" name="Text 26"/>
          <p:cNvSpPr/>
          <p:nvPr/>
        </p:nvSpPr>
        <p:spPr>
          <a:xfrm>
            <a:off x="11263759" y="4620518"/>
            <a:ext cx="6024150" cy="358080"/>
          </a:xfrm>
          <a:prstGeom prst="rect">
            <a:avLst/>
          </a:prstGeom>
          <a:noFill/>
          <a:ln/>
        </p:spPr>
        <p:txBody>
          <a:bodyPr wrap="square" lIns="25400" tIns="25400" rIns="25400" bIns="25400" rtlCol="0" anchor="t">
            <a:normAutofit lnSpcReduction="10000"/>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ML-DSA-65 (FIPS 204), lattice-based</a:t>
            </a:r>
            <a:endParaRPr lang="en-US" sz="1800" dirty="0"/>
          </a:p>
        </p:txBody>
      </p:sp>
      <p:sp>
        <p:nvSpPr>
          <p:cNvPr id="29" name="Shape 27"/>
          <p:cNvSpPr/>
          <p:nvPr/>
        </p:nvSpPr>
        <p:spPr>
          <a:xfrm>
            <a:off x="990600" y="5898654"/>
            <a:ext cx="4239667" cy="9525"/>
          </a:xfrm>
          <a:prstGeom prst="rect">
            <a:avLst/>
          </a:prstGeom>
          <a:solidFill>
            <a:srgbClr val="A89C8C"/>
          </a:solidFill>
          <a:ln/>
        </p:spPr>
        <p:txBody>
          <a:bodyPr/>
          <a:lstStyle/>
          <a:p>
            <a:endParaRPr lang="en-US"/>
          </a:p>
        </p:txBody>
      </p:sp>
      <p:sp>
        <p:nvSpPr>
          <p:cNvPr id="30" name="Text 28"/>
          <p:cNvSpPr/>
          <p:nvPr/>
        </p:nvSpPr>
        <p:spPr>
          <a:xfrm>
            <a:off x="1143000" y="5369123"/>
            <a:ext cx="4023957" cy="358080"/>
          </a:xfrm>
          <a:prstGeom prst="rect">
            <a:avLst/>
          </a:prstGeom>
          <a:noFill/>
          <a:ln/>
        </p:spPr>
        <p:txBody>
          <a:bodyPr wrap="square" lIns="25400" tIns="25400" rIns="25400" bIns="25400" rtlCol="0" anchor="t">
            <a:normAutofit lnSpcReduction="10000"/>
          </a:bodyPr>
          <a:lstStyle/>
          <a:p>
            <a:pPr marL="0" indent="0" algn="l">
              <a:lnSpc>
                <a:spcPct val="124444"/>
              </a:lnSpc>
              <a:buNone/>
            </a:pPr>
            <a:r>
              <a:rPr lang="en-US" sz="1800" b="1" dirty="0">
                <a:solidFill>
                  <a:srgbClr val="1A1A1A"/>
                </a:solidFill>
                <a:latin typeface="Georgia" pitchFamily="34" charset="0"/>
                <a:ea typeface="Georgia" pitchFamily="34" charset="-122"/>
                <a:cs typeface="Georgia" pitchFamily="34" charset="-120"/>
              </a:rPr>
              <a:t>Long-term confidentiality</a:t>
            </a:r>
            <a:endParaRPr lang="en-US" sz="1800" dirty="0"/>
          </a:p>
        </p:txBody>
      </p:sp>
      <p:sp>
        <p:nvSpPr>
          <p:cNvPr id="31" name="Shape 29"/>
          <p:cNvSpPr/>
          <p:nvPr/>
        </p:nvSpPr>
        <p:spPr>
          <a:xfrm>
            <a:off x="5230267" y="5898654"/>
            <a:ext cx="6033492" cy="9525"/>
          </a:xfrm>
          <a:prstGeom prst="rect">
            <a:avLst/>
          </a:prstGeom>
          <a:solidFill>
            <a:srgbClr val="A89C8C"/>
          </a:solidFill>
          <a:ln/>
        </p:spPr>
        <p:txBody>
          <a:bodyPr/>
          <a:lstStyle/>
          <a:p>
            <a:endParaRPr lang="en-US"/>
          </a:p>
        </p:txBody>
      </p:sp>
      <p:sp>
        <p:nvSpPr>
          <p:cNvPr id="32" name="Text 30"/>
          <p:cNvSpPr/>
          <p:nvPr/>
        </p:nvSpPr>
        <p:spPr>
          <a:xfrm>
            <a:off x="5230267" y="5369123"/>
            <a:ext cx="6023997" cy="358080"/>
          </a:xfrm>
          <a:prstGeom prst="rect">
            <a:avLst/>
          </a:prstGeom>
          <a:noFill/>
          <a:ln/>
        </p:spPr>
        <p:txBody>
          <a:bodyPr wrap="square" lIns="25400" tIns="25400" rIns="25400" bIns="25400" rtlCol="0" anchor="t">
            <a:normAutofit lnSpcReduction="10000"/>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Vulnerable to harvest-now-decrypt-later attacks</a:t>
            </a:r>
            <a:endParaRPr lang="en-US" sz="1800" dirty="0"/>
          </a:p>
        </p:txBody>
      </p:sp>
      <p:sp>
        <p:nvSpPr>
          <p:cNvPr id="33" name="Shape 31"/>
          <p:cNvSpPr/>
          <p:nvPr/>
        </p:nvSpPr>
        <p:spPr>
          <a:xfrm>
            <a:off x="11263759" y="5898654"/>
            <a:ext cx="6033641" cy="9525"/>
          </a:xfrm>
          <a:prstGeom prst="rect">
            <a:avLst/>
          </a:prstGeom>
          <a:solidFill>
            <a:srgbClr val="A89C8C"/>
          </a:solidFill>
          <a:ln/>
        </p:spPr>
        <p:txBody>
          <a:bodyPr/>
          <a:lstStyle/>
          <a:p>
            <a:endParaRPr lang="en-US"/>
          </a:p>
        </p:txBody>
      </p:sp>
      <p:sp>
        <p:nvSpPr>
          <p:cNvPr id="34" name="Text 32"/>
          <p:cNvSpPr/>
          <p:nvPr/>
        </p:nvSpPr>
        <p:spPr>
          <a:xfrm>
            <a:off x="11263759" y="5369123"/>
            <a:ext cx="6024150" cy="358080"/>
          </a:xfrm>
          <a:prstGeom prst="rect">
            <a:avLst/>
          </a:prstGeom>
          <a:noFill/>
          <a:ln/>
        </p:spPr>
        <p:txBody>
          <a:bodyPr wrap="square" lIns="25400" tIns="25400" rIns="25400" bIns="25400" rtlCol="0" anchor="t">
            <a:normAutofit lnSpcReduction="10000"/>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Not vulnerable to Shor's algorithm, the known attack</a:t>
            </a:r>
            <a:endParaRPr lang="en-US" sz="1800" dirty="0"/>
          </a:p>
        </p:txBody>
      </p:sp>
      <p:sp>
        <p:nvSpPr>
          <p:cNvPr id="35" name="Shape 33"/>
          <p:cNvSpPr/>
          <p:nvPr/>
        </p:nvSpPr>
        <p:spPr>
          <a:xfrm>
            <a:off x="990600" y="5908179"/>
            <a:ext cx="16306800" cy="1068586"/>
          </a:xfrm>
          <a:prstGeom prst="rect">
            <a:avLst/>
          </a:prstGeom>
          <a:solidFill>
            <a:srgbClr val="FAF8F5"/>
          </a:solidFill>
          <a:ln/>
        </p:spPr>
        <p:txBody>
          <a:bodyPr/>
          <a:lstStyle/>
          <a:p>
            <a:endParaRPr lang="en-US"/>
          </a:p>
        </p:txBody>
      </p:sp>
      <p:sp>
        <p:nvSpPr>
          <p:cNvPr id="36" name="Shape 34"/>
          <p:cNvSpPr/>
          <p:nvPr/>
        </p:nvSpPr>
        <p:spPr>
          <a:xfrm>
            <a:off x="990600" y="6967240"/>
            <a:ext cx="4239667" cy="9525"/>
          </a:xfrm>
          <a:prstGeom prst="rect">
            <a:avLst/>
          </a:prstGeom>
          <a:solidFill>
            <a:srgbClr val="A89C8C"/>
          </a:solidFill>
          <a:ln/>
        </p:spPr>
        <p:txBody>
          <a:bodyPr/>
          <a:lstStyle/>
          <a:p>
            <a:endParaRPr lang="en-US"/>
          </a:p>
        </p:txBody>
      </p:sp>
      <p:sp>
        <p:nvSpPr>
          <p:cNvPr id="37" name="Text 35"/>
          <p:cNvSpPr/>
          <p:nvPr/>
        </p:nvSpPr>
        <p:spPr>
          <a:xfrm>
            <a:off x="1143000" y="6117729"/>
            <a:ext cx="4023957" cy="678061"/>
          </a:xfrm>
          <a:prstGeom prst="rect">
            <a:avLst/>
          </a:prstGeom>
          <a:noFill/>
          <a:ln/>
        </p:spPr>
        <p:txBody>
          <a:bodyPr wrap="square" lIns="25400" tIns="25400" rIns="25400" bIns="25400" rtlCol="0" anchor="t">
            <a:normAutofit/>
          </a:bodyPr>
          <a:lstStyle/>
          <a:p>
            <a:pPr marL="0" indent="0" algn="l">
              <a:lnSpc>
                <a:spcPct val="124444"/>
              </a:lnSpc>
              <a:buNone/>
            </a:pPr>
            <a:r>
              <a:rPr lang="en-US" sz="1800" b="1" dirty="0">
                <a:solidFill>
                  <a:srgbClr val="1A1A1A"/>
                </a:solidFill>
                <a:latin typeface="Georgia" pitchFamily="34" charset="0"/>
                <a:ea typeface="Georgia" pitchFamily="34" charset="-122"/>
                <a:cs typeface="Georgia" pitchFamily="34" charset="-120"/>
              </a:rPr>
              <a:t>Server's access to content</a:t>
            </a:r>
            <a:endParaRPr lang="en-US" sz="1800" dirty="0"/>
          </a:p>
        </p:txBody>
      </p:sp>
      <p:sp>
        <p:nvSpPr>
          <p:cNvPr id="38" name="Shape 36"/>
          <p:cNvSpPr/>
          <p:nvPr/>
        </p:nvSpPr>
        <p:spPr>
          <a:xfrm>
            <a:off x="5230267" y="6967240"/>
            <a:ext cx="6033492" cy="9525"/>
          </a:xfrm>
          <a:prstGeom prst="rect">
            <a:avLst/>
          </a:prstGeom>
          <a:solidFill>
            <a:srgbClr val="A89C8C"/>
          </a:solidFill>
          <a:ln/>
        </p:spPr>
        <p:txBody>
          <a:bodyPr/>
          <a:lstStyle/>
          <a:p>
            <a:endParaRPr lang="en-US"/>
          </a:p>
        </p:txBody>
      </p:sp>
      <p:sp>
        <p:nvSpPr>
          <p:cNvPr id="39" name="Text 37"/>
          <p:cNvSpPr/>
          <p:nvPr/>
        </p:nvSpPr>
        <p:spPr>
          <a:xfrm>
            <a:off x="5230267" y="6117729"/>
            <a:ext cx="6023997" cy="678061"/>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Provider can typically read plaintext</a:t>
            </a:r>
            <a:endParaRPr lang="en-US" sz="1800" dirty="0"/>
          </a:p>
        </p:txBody>
      </p:sp>
      <p:sp>
        <p:nvSpPr>
          <p:cNvPr id="40" name="Shape 38"/>
          <p:cNvSpPr/>
          <p:nvPr/>
        </p:nvSpPr>
        <p:spPr>
          <a:xfrm>
            <a:off x="11263759" y="6967240"/>
            <a:ext cx="6033641" cy="9525"/>
          </a:xfrm>
          <a:prstGeom prst="rect">
            <a:avLst/>
          </a:prstGeom>
          <a:solidFill>
            <a:srgbClr val="A89C8C"/>
          </a:solidFill>
          <a:ln/>
        </p:spPr>
        <p:txBody>
          <a:bodyPr/>
          <a:lstStyle/>
          <a:p>
            <a:endParaRPr lang="en-US"/>
          </a:p>
        </p:txBody>
      </p:sp>
      <p:sp>
        <p:nvSpPr>
          <p:cNvPr id="41" name="Text 39"/>
          <p:cNvSpPr/>
          <p:nvPr/>
        </p:nvSpPr>
        <p:spPr>
          <a:xfrm>
            <a:off x="11263759" y="6117729"/>
            <a:ext cx="6024150" cy="678061"/>
          </a:xfrm>
          <a:prstGeom prst="rect">
            <a:avLst/>
          </a:prstGeom>
          <a:noFill/>
          <a:ln/>
        </p:spPr>
        <p:txBody>
          <a:bodyPr wrap="square" lIns="25400" tIns="25400" rIns="25400" bIns="25400" rtlCol="0" anchor="t">
            <a:normAutofit lnSpcReduction="10000"/>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Zero-knowledge: sees only locked data, never holds a private key</a:t>
            </a:r>
            <a:endParaRPr lang="en-US" sz="1800" dirty="0"/>
          </a:p>
        </p:txBody>
      </p:sp>
      <p:sp>
        <p:nvSpPr>
          <p:cNvPr id="42" name="Shape 40"/>
          <p:cNvSpPr/>
          <p:nvPr/>
        </p:nvSpPr>
        <p:spPr>
          <a:xfrm>
            <a:off x="990600" y="7715845"/>
            <a:ext cx="4239667" cy="9525"/>
          </a:xfrm>
          <a:prstGeom prst="rect">
            <a:avLst/>
          </a:prstGeom>
          <a:solidFill>
            <a:srgbClr val="A89C8C"/>
          </a:solidFill>
          <a:ln/>
        </p:spPr>
        <p:txBody>
          <a:bodyPr/>
          <a:lstStyle/>
          <a:p>
            <a:endParaRPr lang="en-US"/>
          </a:p>
        </p:txBody>
      </p:sp>
      <p:sp>
        <p:nvSpPr>
          <p:cNvPr id="43" name="Text 41"/>
          <p:cNvSpPr/>
          <p:nvPr/>
        </p:nvSpPr>
        <p:spPr>
          <a:xfrm>
            <a:off x="1143000" y="7186315"/>
            <a:ext cx="4023957" cy="358080"/>
          </a:xfrm>
          <a:prstGeom prst="rect">
            <a:avLst/>
          </a:prstGeom>
          <a:noFill/>
          <a:ln/>
        </p:spPr>
        <p:txBody>
          <a:bodyPr wrap="square" lIns="25400" tIns="25400" rIns="25400" bIns="25400" rtlCol="0" anchor="t">
            <a:normAutofit lnSpcReduction="10000"/>
          </a:bodyPr>
          <a:lstStyle/>
          <a:p>
            <a:pPr marL="0" indent="0" algn="l">
              <a:lnSpc>
                <a:spcPct val="124444"/>
              </a:lnSpc>
              <a:buNone/>
            </a:pPr>
            <a:r>
              <a:rPr lang="en-US" sz="1800" b="1" dirty="0">
                <a:solidFill>
                  <a:srgbClr val="1A1A1A"/>
                </a:solidFill>
                <a:latin typeface="Georgia" pitchFamily="34" charset="0"/>
                <a:ea typeface="Georgia" pitchFamily="34" charset="-122"/>
                <a:cs typeface="Georgia" pitchFamily="34" charset="-120"/>
              </a:rPr>
              <a:t>Key management UX</a:t>
            </a:r>
            <a:endParaRPr lang="en-US" sz="1800" dirty="0"/>
          </a:p>
        </p:txBody>
      </p:sp>
      <p:sp>
        <p:nvSpPr>
          <p:cNvPr id="44" name="Shape 42"/>
          <p:cNvSpPr/>
          <p:nvPr/>
        </p:nvSpPr>
        <p:spPr>
          <a:xfrm>
            <a:off x="5230267" y="7715845"/>
            <a:ext cx="6033492" cy="9525"/>
          </a:xfrm>
          <a:prstGeom prst="rect">
            <a:avLst/>
          </a:prstGeom>
          <a:solidFill>
            <a:srgbClr val="A89C8C"/>
          </a:solidFill>
          <a:ln/>
        </p:spPr>
        <p:txBody>
          <a:bodyPr/>
          <a:lstStyle/>
          <a:p>
            <a:endParaRPr lang="en-US"/>
          </a:p>
        </p:txBody>
      </p:sp>
      <p:sp>
        <p:nvSpPr>
          <p:cNvPr id="45" name="Text 43"/>
          <p:cNvSpPr/>
          <p:nvPr/>
        </p:nvSpPr>
        <p:spPr>
          <a:xfrm>
            <a:off x="5230267" y="7186315"/>
            <a:ext cx="6023997" cy="358080"/>
          </a:xfrm>
          <a:prstGeom prst="rect">
            <a:avLst/>
          </a:prstGeom>
          <a:noFill/>
          <a:ln/>
        </p:spPr>
        <p:txBody>
          <a:bodyPr wrap="square" lIns="25400" tIns="25400" rIns="25400" bIns="25400" rtlCol="0" anchor="t">
            <a:normAutofit fontScale="92500"/>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Manual setup and exchange (PGP), 30 years of low adoption</a:t>
            </a:r>
            <a:endParaRPr lang="en-US" sz="1800" dirty="0"/>
          </a:p>
        </p:txBody>
      </p:sp>
      <p:sp>
        <p:nvSpPr>
          <p:cNvPr id="46" name="Shape 44"/>
          <p:cNvSpPr/>
          <p:nvPr/>
        </p:nvSpPr>
        <p:spPr>
          <a:xfrm>
            <a:off x="11263759" y="7715845"/>
            <a:ext cx="6033641" cy="9525"/>
          </a:xfrm>
          <a:prstGeom prst="rect">
            <a:avLst/>
          </a:prstGeom>
          <a:solidFill>
            <a:srgbClr val="A89C8C"/>
          </a:solidFill>
          <a:ln/>
        </p:spPr>
        <p:txBody>
          <a:bodyPr/>
          <a:lstStyle/>
          <a:p>
            <a:endParaRPr lang="en-US"/>
          </a:p>
        </p:txBody>
      </p:sp>
      <p:sp>
        <p:nvSpPr>
          <p:cNvPr id="47" name="Text 45"/>
          <p:cNvSpPr/>
          <p:nvPr/>
        </p:nvSpPr>
        <p:spPr>
          <a:xfrm>
            <a:off x="11263759" y="7186315"/>
            <a:ext cx="6024150" cy="358080"/>
          </a:xfrm>
          <a:prstGeom prst="rect">
            <a:avLst/>
          </a:prstGeom>
          <a:noFill/>
          <a:ln/>
        </p:spPr>
        <p:txBody>
          <a:bodyPr wrap="square" lIns="25400" tIns="25400" rIns="25400" bIns="25400" rtlCol="0" anchor="t">
            <a:normAutofit lnSpcReduction="10000"/>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Automatic, on-device at registration</a:t>
            </a:r>
            <a:endParaRPr lang="en-US" sz="1800" dirty="0"/>
          </a:p>
        </p:txBody>
      </p:sp>
      <p:sp>
        <p:nvSpPr>
          <p:cNvPr id="48" name="Shape 46"/>
          <p:cNvSpPr/>
          <p:nvPr/>
        </p:nvSpPr>
        <p:spPr>
          <a:xfrm>
            <a:off x="990600" y="7725370"/>
            <a:ext cx="16306800" cy="1388566"/>
          </a:xfrm>
          <a:prstGeom prst="rect">
            <a:avLst/>
          </a:prstGeom>
          <a:solidFill>
            <a:srgbClr val="FAF8F5"/>
          </a:solidFill>
          <a:ln/>
        </p:spPr>
        <p:txBody>
          <a:bodyPr/>
          <a:lstStyle/>
          <a:p>
            <a:endParaRPr lang="en-US"/>
          </a:p>
        </p:txBody>
      </p:sp>
      <p:sp>
        <p:nvSpPr>
          <p:cNvPr id="49" name="Shape 47"/>
          <p:cNvSpPr/>
          <p:nvPr/>
        </p:nvSpPr>
        <p:spPr>
          <a:xfrm>
            <a:off x="990600" y="9104412"/>
            <a:ext cx="4239667" cy="9525"/>
          </a:xfrm>
          <a:prstGeom prst="rect">
            <a:avLst/>
          </a:prstGeom>
          <a:solidFill>
            <a:srgbClr val="A89C8C"/>
          </a:solidFill>
          <a:ln/>
        </p:spPr>
        <p:txBody>
          <a:bodyPr/>
          <a:lstStyle/>
          <a:p>
            <a:endParaRPr lang="en-US"/>
          </a:p>
        </p:txBody>
      </p:sp>
      <p:sp>
        <p:nvSpPr>
          <p:cNvPr id="50" name="Text 48"/>
          <p:cNvSpPr/>
          <p:nvPr/>
        </p:nvSpPr>
        <p:spPr>
          <a:xfrm>
            <a:off x="1143000" y="7934920"/>
            <a:ext cx="4023957" cy="998041"/>
          </a:xfrm>
          <a:prstGeom prst="rect">
            <a:avLst/>
          </a:prstGeom>
          <a:noFill/>
          <a:ln/>
        </p:spPr>
        <p:txBody>
          <a:bodyPr wrap="square" lIns="25400" tIns="25400" rIns="25400" bIns="25400" rtlCol="0" anchor="t">
            <a:normAutofit/>
          </a:bodyPr>
          <a:lstStyle/>
          <a:p>
            <a:pPr marL="0" indent="0" algn="l">
              <a:lnSpc>
                <a:spcPct val="124444"/>
              </a:lnSpc>
              <a:buNone/>
            </a:pPr>
            <a:r>
              <a:rPr lang="en-US" sz="1800" b="1" dirty="0">
                <a:solidFill>
                  <a:srgbClr val="1A1A1A"/>
                </a:solidFill>
                <a:latin typeface="Georgia" pitchFamily="34" charset="0"/>
                <a:ea typeface="Georgia" pitchFamily="34" charset="-122"/>
                <a:cs typeface="Georgia" pitchFamily="34" charset="-120"/>
              </a:rPr>
              <a:t>Cryptographic maturity</a:t>
            </a:r>
            <a:endParaRPr lang="en-US" sz="1800" dirty="0"/>
          </a:p>
        </p:txBody>
      </p:sp>
      <p:sp>
        <p:nvSpPr>
          <p:cNvPr id="51" name="Shape 49"/>
          <p:cNvSpPr/>
          <p:nvPr/>
        </p:nvSpPr>
        <p:spPr>
          <a:xfrm>
            <a:off x="5230267" y="9104412"/>
            <a:ext cx="6033492" cy="9525"/>
          </a:xfrm>
          <a:prstGeom prst="rect">
            <a:avLst/>
          </a:prstGeom>
          <a:solidFill>
            <a:srgbClr val="A89C8C"/>
          </a:solidFill>
          <a:ln/>
        </p:spPr>
        <p:txBody>
          <a:bodyPr/>
          <a:lstStyle/>
          <a:p>
            <a:endParaRPr lang="en-US"/>
          </a:p>
        </p:txBody>
      </p:sp>
      <p:sp>
        <p:nvSpPr>
          <p:cNvPr id="52" name="Text 50"/>
          <p:cNvSpPr/>
          <p:nvPr/>
        </p:nvSpPr>
        <p:spPr>
          <a:xfrm>
            <a:off x="5230267" y="7934920"/>
            <a:ext cx="6023997" cy="998041"/>
          </a:xfrm>
          <a:prstGeom prst="rect">
            <a:avLst/>
          </a:prstGeom>
          <a:noFill/>
          <a:ln/>
        </p:spPr>
        <p:txBody>
          <a:bodyPr wrap="square" lIns="25400" tIns="25400" rIns="25400" bIns="25400" rtlCol="0" anchor="t">
            <a:normAutofit/>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RSA/ECC: 40+ years of public scrutiny</a:t>
            </a:r>
            <a:endParaRPr lang="en-US" sz="1800" dirty="0"/>
          </a:p>
        </p:txBody>
      </p:sp>
      <p:sp>
        <p:nvSpPr>
          <p:cNvPr id="53" name="Shape 51"/>
          <p:cNvSpPr/>
          <p:nvPr/>
        </p:nvSpPr>
        <p:spPr>
          <a:xfrm>
            <a:off x="11263759" y="9104412"/>
            <a:ext cx="6033641" cy="9525"/>
          </a:xfrm>
          <a:prstGeom prst="rect">
            <a:avLst/>
          </a:prstGeom>
          <a:solidFill>
            <a:srgbClr val="A89C8C"/>
          </a:solidFill>
          <a:ln/>
        </p:spPr>
        <p:txBody>
          <a:bodyPr/>
          <a:lstStyle/>
          <a:p>
            <a:endParaRPr lang="en-US"/>
          </a:p>
        </p:txBody>
      </p:sp>
      <p:sp>
        <p:nvSpPr>
          <p:cNvPr id="54" name="Text 52"/>
          <p:cNvSpPr/>
          <p:nvPr/>
        </p:nvSpPr>
        <p:spPr>
          <a:xfrm>
            <a:off x="11263759" y="7934920"/>
            <a:ext cx="6024150" cy="998041"/>
          </a:xfrm>
          <a:prstGeom prst="rect">
            <a:avLst/>
          </a:prstGeom>
          <a:noFill/>
          <a:ln/>
        </p:spPr>
        <p:txBody>
          <a:bodyPr wrap="square" lIns="25400" tIns="25400" rIns="25400" bIns="25400" rtlCol="0" anchor="t">
            <a:normAutofit lnSpcReduction="10000"/>
          </a:bodyPr>
          <a:lstStyle/>
          <a:p>
            <a:pPr marL="0" indent="0" algn="l">
              <a:lnSpc>
                <a:spcPct val="124444"/>
              </a:lnSpc>
              <a:buNone/>
            </a:pPr>
            <a:r>
              <a:rPr lang="en-US" sz="1800" dirty="0">
                <a:solidFill>
                  <a:srgbClr val="1A1A1A"/>
                </a:solidFill>
                <a:latin typeface="Georgia" pitchFamily="34" charset="0"/>
                <a:ea typeface="Georgia" pitchFamily="34" charset="-122"/>
                <a:cs typeface="Georgia" pitchFamily="34" charset="-120"/>
              </a:rPr>
              <a:t>Standardized in 2024, so newer; a different quantum-safe candidate, SIKE, was broken in 2022, a reminder this field still needs care</a:t>
            </a:r>
            <a:endParaRPr lang="en-US" sz="1800" dirty="0"/>
          </a:p>
        </p:txBody>
      </p:sp>
      <p:pic>
        <p:nvPicPr>
          <p:cNvPr id="55" name="Image 0" descr="preencoded.png"/>
          <p:cNvPicPr>
            <a:picLocks noChangeAspect="1"/>
          </p:cNvPicPr>
          <p:nvPr/>
        </p:nvPicPr>
        <p:blipFill>
          <a:blip r:embed="rId3"/>
          <a:stretch>
            <a:fillRect/>
          </a:stretch>
        </p:blipFill>
        <p:spPr>
          <a:xfrm>
            <a:off x="17068800" y="9801225"/>
            <a:ext cx="228600" cy="2571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290959"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11</a:t>
            </a:r>
            <a:endParaRPr lang="en-US" sz="1800" dirty="0"/>
          </a:p>
        </p:txBody>
      </p:sp>
      <p:sp>
        <p:nvSpPr>
          <p:cNvPr id="3" name="Text 1"/>
          <p:cNvSpPr/>
          <p:nvPr/>
        </p:nvSpPr>
        <p:spPr>
          <a:xfrm>
            <a:off x="1357759" y="476250"/>
            <a:ext cx="2345487"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REQUIREMENTS</a:t>
            </a:r>
            <a:endParaRPr lang="en-US" sz="1800" dirty="0"/>
          </a:p>
        </p:txBody>
      </p:sp>
      <p:sp>
        <p:nvSpPr>
          <p:cNvPr id="4" name="Shape 2"/>
          <p:cNvSpPr/>
          <p:nvPr/>
        </p:nvSpPr>
        <p:spPr>
          <a:xfrm>
            <a:off x="3642420" y="600075"/>
            <a:ext cx="13654980"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Software and Hardware Requirements</a:t>
            </a:r>
            <a:endParaRPr lang="en-US" sz="3750" dirty="0"/>
          </a:p>
        </p:txBody>
      </p:sp>
      <p:sp>
        <p:nvSpPr>
          <p:cNvPr id="6" name="Shape 4"/>
          <p:cNvSpPr/>
          <p:nvPr/>
        </p:nvSpPr>
        <p:spPr>
          <a:xfrm>
            <a:off x="990600" y="2219325"/>
            <a:ext cx="857250" cy="28575"/>
          </a:xfrm>
          <a:prstGeom prst="rect">
            <a:avLst/>
          </a:prstGeom>
          <a:solidFill>
            <a:srgbClr val="7A1F2B"/>
          </a:solidFill>
          <a:ln/>
        </p:spPr>
        <p:txBody>
          <a:bodyPr/>
          <a:lstStyle/>
          <a:p>
            <a:endParaRPr lang="en-US"/>
          </a:p>
        </p:txBody>
      </p:sp>
      <p:sp>
        <p:nvSpPr>
          <p:cNvPr id="7" name="Shape 5"/>
          <p:cNvSpPr/>
          <p:nvPr/>
        </p:nvSpPr>
        <p:spPr>
          <a:xfrm>
            <a:off x="990600" y="2968079"/>
            <a:ext cx="5283101" cy="2251621"/>
          </a:xfrm>
          <a:prstGeom prst="rect">
            <a:avLst/>
          </a:prstGeom>
          <a:ln w="9525">
            <a:solidFill>
              <a:srgbClr val="A89C8C"/>
            </a:solidFill>
            <a:prstDash val="solid"/>
          </a:ln>
        </p:spPr>
        <p:txBody>
          <a:bodyPr/>
          <a:lstStyle/>
          <a:p>
            <a:endParaRPr lang="en-US"/>
          </a:p>
        </p:txBody>
      </p:sp>
      <p:sp>
        <p:nvSpPr>
          <p:cNvPr id="8" name="Shape 6"/>
          <p:cNvSpPr/>
          <p:nvPr/>
        </p:nvSpPr>
        <p:spPr>
          <a:xfrm>
            <a:off x="1247775" y="3244304"/>
            <a:ext cx="552450" cy="552450"/>
          </a:xfrm>
          <a:prstGeom prst="ellipse">
            <a:avLst/>
          </a:prstGeom>
          <a:ln w="19050">
            <a:solidFill>
              <a:srgbClr val="7A1F2B"/>
            </a:solidFill>
            <a:prstDash val="solid"/>
          </a:ln>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9700" y="3406229"/>
            <a:ext cx="228600" cy="228600"/>
          </a:xfrm>
          <a:prstGeom prst="rect">
            <a:avLst/>
          </a:prstGeom>
        </p:spPr>
      </p:pic>
      <p:sp>
        <p:nvSpPr>
          <p:cNvPr id="10" name="Text 7"/>
          <p:cNvSpPr/>
          <p:nvPr/>
        </p:nvSpPr>
        <p:spPr>
          <a:xfrm>
            <a:off x="1933575" y="3387179"/>
            <a:ext cx="2126278"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PQC cryptography</a:t>
            </a:r>
            <a:endParaRPr lang="en-US" sz="1875" dirty="0"/>
          </a:p>
        </p:txBody>
      </p:sp>
      <p:sp>
        <p:nvSpPr>
          <p:cNvPr id="11" name="Text 8"/>
          <p:cNvSpPr/>
          <p:nvPr/>
        </p:nvSpPr>
        <p:spPr>
          <a:xfrm>
            <a:off x="1247775" y="3949154"/>
            <a:ext cx="4911813" cy="1032421"/>
          </a:xfrm>
          <a:prstGeom prst="rect">
            <a:avLst/>
          </a:prstGeom>
          <a:noFill/>
          <a:ln/>
        </p:spPr>
        <p:txBody>
          <a:bodyPr wrap="square" lIns="25400" tIns="25400" rIns="25400" bIns="25400" rtlCol="0" anchor="t">
            <a:normAutofit lnSpcReduction="10000"/>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@oqs/liboqs-js, from the Open Quantum Safe project (MIT license). Provides the ML-KEM and ML-DSA code for both web and mobile.</a:t>
            </a:r>
            <a:endParaRPr lang="en-US" sz="1800" dirty="0"/>
          </a:p>
        </p:txBody>
      </p:sp>
      <p:sp>
        <p:nvSpPr>
          <p:cNvPr id="12" name="Shape 9"/>
          <p:cNvSpPr/>
          <p:nvPr/>
        </p:nvSpPr>
        <p:spPr>
          <a:xfrm>
            <a:off x="6502301" y="2968079"/>
            <a:ext cx="5283250" cy="2251621"/>
          </a:xfrm>
          <a:prstGeom prst="rect">
            <a:avLst/>
          </a:prstGeom>
          <a:ln w="9525">
            <a:solidFill>
              <a:srgbClr val="A89C8C"/>
            </a:solidFill>
            <a:prstDash val="solid"/>
          </a:ln>
        </p:spPr>
        <p:txBody>
          <a:bodyPr/>
          <a:lstStyle/>
          <a:p>
            <a:endParaRPr lang="en-US"/>
          </a:p>
        </p:txBody>
      </p:sp>
      <p:sp>
        <p:nvSpPr>
          <p:cNvPr id="13" name="Shape 10"/>
          <p:cNvSpPr/>
          <p:nvPr/>
        </p:nvSpPr>
        <p:spPr>
          <a:xfrm>
            <a:off x="6759476" y="3244304"/>
            <a:ext cx="552450" cy="552450"/>
          </a:xfrm>
          <a:prstGeom prst="ellipse">
            <a:avLst/>
          </a:prstGeom>
          <a:ln w="19050">
            <a:solidFill>
              <a:srgbClr val="7A1F2B"/>
            </a:solidFill>
            <a:prstDash val="solid"/>
          </a:ln>
        </p:spPr>
        <p:txBody>
          <a:bodyPr/>
          <a:lstStyle/>
          <a:p>
            <a:endParaRPr lang="en-US"/>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21401" y="3406229"/>
            <a:ext cx="228600" cy="228600"/>
          </a:xfrm>
          <a:prstGeom prst="rect">
            <a:avLst/>
          </a:prstGeom>
        </p:spPr>
      </p:pic>
      <p:sp>
        <p:nvSpPr>
          <p:cNvPr id="15" name="Text 11"/>
          <p:cNvSpPr/>
          <p:nvPr/>
        </p:nvSpPr>
        <p:spPr>
          <a:xfrm>
            <a:off x="7445276" y="3387179"/>
            <a:ext cx="2569934"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Symmetric encryption</a:t>
            </a:r>
            <a:endParaRPr lang="en-US" sz="1875" dirty="0"/>
          </a:p>
        </p:txBody>
      </p:sp>
      <p:sp>
        <p:nvSpPr>
          <p:cNvPr id="16" name="Text 12"/>
          <p:cNvSpPr/>
          <p:nvPr/>
        </p:nvSpPr>
        <p:spPr>
          <a:xfrm>
            <a:off x="6759476" y="3949154"/>
            <a:ext cx="4911967" cy="700980"/>
          </a:xfrm>
          <a:prstGeom prst="rect">
            <a:avLst/>
          </a:prstGeom>
          <a:noFill/>
          <a:ln/>
        </p:spPr>
        <p:txBody>
          <a:bodyPr wrap="square" lIns="25400" tIns="25400" rIns="25400" bIns="25400" rtlCol="0" anchor="t">
            <a:normAutofit lnSpcReduction="10000"/>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Web Crypto API, AES-256-GCM: built into the browser, free, no extra dependency.</a:t>
            </a:r>
            <a:endParaRPr lang="en-US" sz="1800" dirty="0"/>
          </a:p>
        </p:txBody>
      </p:sp>
      <p:sp>
        <p:nvSpPr>
          <p:cNvPr id="17" name="Shape 13"/>
          <p:cNvSpPr/>
          <p:nvPr/>
        </p:nvSpPr>
        <p:spPr>
          <a:xfrm>
            <a:off x="12014150" y="2968079"/>
            <a:ext cx="5283250" cy="2251621"/>
          </a:xfrm>
          <a:prstGeom prst="rect">
            <a:avLst/>
          </a:prstGeom>
          <a:ln w="9525">
            <a:solidFill>
              <a:srgbClr val="A89C8C"/>
            </a:solidFill>
            <a:prstDash val="solid"/>
          </a:ln>
        </p:spPr>
        <p:txBody>
          <a:bodyPr/>
          <a:lstStyle/>
          <a:p>
            <a:endParaRPr lang="en-US"/>
          </a:p>
        </p:txBody>
      </p:sp>
      <p:sp>
        <p:nvSpPr>
          <p:cNvPr id="18" name="Shape 14"/>
          <p:cNvSpPr/>
          <p:nvPr/>
        </p:nvSpPr>
        <p:spPr>
          <a:xfrm>
            <a:off x="12271325" y="3244304"/>
            <a:ext cx="552450" cy="552450"/>
          </a:xfrm>
          <a:prstGeom prst="ellipse">
            <a:avLst/>
          </a:prstGeom>
          <a:ln w="19050">
            <a:solidFill>
              <a:srgbClr val="7A1F2B"/>
            </a:solidFill>
            <a:prstDash val="solid"/>
          </a:ln>
        </p:spPr>
        <p:txBody>
          <a:bodyPr/>
          <a:lstStyle/>
          <a:p>
            <a:endParaRPr lang="en-US"/>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433250" y="3406229"/>
            <a:ext cx="228600" cy="228600"/>
          </a:xfrm>
          <a:prstGeom prst="rect">
            <a:avLst/>
          </a:prstGeom>
        </p:spPr>
      </p:pic>
      <p:sp>
        <p:nvSpPr>
          <p:cNvPr id="20" name="Text 15"/>
          <p:cNvSpPr/>
          <p:nvPr/>
        </p:nvSpPr>
        <p:spPr>
          <a:xfrm>
            <a:off x="12957125" y="3387179"/>
            <a:ext cx="1198513" cy="304800"/>
          </a:xfrm>
          <a:prstGeom prst="rect">
            <a:avLst/>
          </a:prstGeom>
          <a:noFill/>
          <a:ln/>
        </p:spPr>
        <p:txBody>
          <a:bodyPr wrap="square" lIns="25400" tIns="25400" rIns="25400" bIns="25400" rtlCol="0" anchor="t">
            <a:normAutofit fontScale="850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Web client</a:t>
            </a:r>
            <a:endParaRPr lang="en-US" sz="1875" dirty="0"/>
          </a:p>
        </p:txBody>
      </p:sp>
      <p:sp>
        <p:nvSpPr>
          <p:cNvPr id="21" name="Text 16"/>
          <p:cNvSpPr/>
          <p:nvPr/>
        </p:nvSpPr>
        <p:spPr>
          <a:xfrm>
            <a:off x="12271325" y="3949154"/>
            <a:ext cx="5245790" cy="369540"/>
          </a:xfrm>
          <a:prstGeom prst="rect">
            <a:avLst/>
          </a:prstGeom>
          <a:noFill/>
          <a:ln/>
        </p:spPr>
        <p:txBody>
          <a:bodyPr wrap="square" lIns="25400" tIns="25400" rIns="25400" bIns="25400" rtlCol="0" anchor="t">
            <a:normAutofit lnSpcReduction="10000"/>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React / Next.js, deployed on Vercel's free tier.</a:t>
            </a:r>
            <a:endParaRPr lang="en-US" sz="1800" dirty="0"/>
          </a:p>
        </p:txBody>
      </p:sp>
      <p:sp>
        <p:nvSpPr>
          <p:cNvPr id="22" name="Shape 17"/>
          <p:cNvSpPr/>
          <p:nvPr/>
        </p:nvSpPr>
        <p:spPr>
          <a:xfrm>
            <a:off x="990600" y="5448300"/>
            <a:ext cx="5283101" cy="2251621"/>
          </a:xfrm>
          <a:prstGeom prst="rect">
            <a:avLst/>
          </a:prstGeom>
          <a:ln w="9525">
            <a:solidFill>
              <a:srgbClr val="A89C8C"/>
            </a:solidFill>
            <a:prstDash val="solid"/>
          </a:ln>
        </p:spPr>
        <p:txBody>
          <a:bodyPr/>
          <a:lstStyle/>
          <a:p>
            <a:endParaRPr lang="en-US"/>
          </a:p>
        </p:txBody>
      </p:sp>
      <p:sp>
        <p:nvSpPr>
          <p:cNvPr id="23" name="Shape 18"/>
          <p:cNvSpPr/>
          <p:nvPr/>
        </p:nvSpPr>
        <p:spPr>
          <a:xfrm>
            <a:off x="1247775" y="5724525"/>
            <a:ext cx="552450" cy="552450"/>
          </a:xfrm>
          <a:prstGeom prst="ellipse">
            <a:avLst/>
          </a:prstGeom>
          <a:ln w="19050">
            <a:solidFill>
              <a:srgbClr val="7A1F2B"/>
            </a:solidFill>
            <a:prstDash val="solid"/>
          </a:ln>
        </p:spPr>
        <p:txBody>
          <a:bodyPr/>
          <a:lstStyle/>
          <a:p>
            <a:endParaRPr lang="en-US"/>
          </a:p>
        </p:txBody>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09700" y="5886450"/>
            <a:ext cx="228600" cy="228600"/>
          </a:xfrm>
          <a:prstGeom prst="rect">
            <a:avLst/>
          </a:prstGeom>
        </p:spPr>
      </p:pic>
      <p:sp>
        <p:nvSpPr>
          <p:cNvPr id="25" name="Text 19"/>
          <p:cNvSpPr/>
          <p:nvPr/>
        </p:nvSpPr>
        <p:spPr>
          <a:xfrm>
            <a:off x="1933575" y="5867400"/>
            <a:ext cx="1514817"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Mobile client</a:t>
            </a:r>
            <a:endParaRPr lang="en-US" sz="1875" dirty="0"/>
          </a:p>
        </p:txBody>
      </p:sp>
      <p:sp>
        <p:nvSpPr>
          <p:cNvPr id="26" name="Text 20"/>
          <p:cNvSpPr/>
          <p:nvPr/>
        </p:nvSpPr>
        <p:spPr>
          <a:xfrm>
            <a:off x="1247775" y="6429375"/>
            <a:ext cx="4911813" cy="1032421"/>
          </a:xfrm>
          <a:prstGeom prst="rect">
            <a:avLst/>
          </a:prstGeom>
          <a:noFill/>
          <a:ln/>
        </p:spPr>
        <p:txBody>
          <a:bodyPr wrap="square" lIns="25400" tIns="25400" rIns="25400" bIns="25400" rtlCol="0" anchor="t">
            <a:normAutofit fontScale="85000" lnSpcReduction="10000"/>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React Native (Expo), version 0.84 or later for native WASM support in Hermes. The same crypto code runs on both web and mobile without changes.</a:t>
            </a:r>
            <a:endParaRPr lang="en-US" sz="1800" dirty="0"/>
          </a:p>
        </p:txBody>
      </p:sp>
      <p:sp>
        <p:nvSpPr>
          <p:cNvPr id="27" name="Shape 21"/>
          <p:cNvSpPr/>
          <p:nvPr/>
        </p:nvSpPr>
        <p:spPr>
          <a:xfrm>
            <a:off x="6502301" y="5448300"/>
            <a:ext cx="5283250" cy="2251621"/>
          </a:xfrm>
          <a:prstGeom prst="rect">
            <a:avLst/>
          </a:prstGeom>
          <a:ln w="9525">
            <a:solidFill>
              <a:srgbClr val="A89C8C"/>
            </a:solidFill>
            <a:prstDash val="solid"/>
          </a:ln>
        </p:spPr>
        <p:txBody>
          <a:bodyPr/>
          <a:lstStyle/>
          <a:p>
            <a:endParaRPr lang="en-US"/>
          </a:p>
        </p:txBody>
      </p:sp>
      <p:sp>
        <p:nvSpPr>
          <p:cNvPr id="28" name="Shape 22"/>
          <p:cNvSpPr/>
          <p:nvPr/>
        </p:nvSpPr>
        <p:spPr>
          <a:xfrm>
            <a:off x="6759476" y="5724525"/>
            <a:ext cx="552450" cy="552450"/>
          </a:xfrm>
          <a:prstGeom prst="ellipse">
            <a:avLst/>
          </a:prstGeom>
          <a:ln w="19050">
            <a:solidFill>
              <a:srgbClr val="7A1F2B"/>
            </a:solidFill>
            <a:prstDash val="solid"/>
          </a:ln>
        </p:spPr>
        <p:txBody>
          <a:bodyPr/>
          <a:lstStyle/>
          <a:p>
            <a:endParaRPr lang="en-US"/>
          </a:p>
        </p:txBody>
      </p:sp>
      <p:pic>
        <p:nvPicPr>
          <p:cNvPr id="2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21401" y="5886450"/>
            <a:ext cx="228600" cy="228600"/>
          </a:xfrm>
          <a:prstGeom prst="rect">
            <a:avLst/>
          </a:prstGeom>
        </p:spPr>
      </p:pic>
      <p:sp>
        <p:nvSpPr>
          <p:cNvPr id="30" name="Text 23"/>
          <p:cNvSpPr/>
          <p:nvPr/>
        </p:nvSpPr>
        <p:spPr>
          <a:xfrm>
            <a:off x="7445276" y="5867400"/>
            <a:ext cx="980182" cy="304800"/>
          </a:xfrm>
          <a:prstGeom prst="rect">
            <a:avLst/>
          </a:prstGeom>
          <a:noFill/>
          <a:ln/>
        </p:spPr>
        <p:txBody>
          <a:bodyPr wrap="square" lIns="25400" tIns="25400" rIns="25400" bIns="25400" rtlCol="0" anchor="t">
            <a:normAutofit fontScale="850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Backend</a:t>
            </a:r>
            <a:endParaRPr lang="en-US" sz="1875" dirty="0"/>
          </a:p>
        </p:txBody>
      </p:sp>
      <p:sp>
        <p:nvSpPr>
          <p:cNvPr id="31" name="Text 24"/>
          <p:cNvSpPr/>
          <p:nvPr/>
        </p:nvSpPr>
        <p:spPr>
          <a:xfrm>
            <a:off x="6759476" y="6429375"/>
            <a:ext cx="4911967" cy="1032421"/>
          </a:xfrm>
          <a:prstGeom prst="rect">
            <a:avLst/>
          </a:prstGeom>
          <a:noFill/>
          <a:ln/>
        </p:spPr>
        <p:txBody>
          <a:bodyPr wrap="square" lIns="25400" tIns="25400" rIns="25400" bIns="25400" rtlCol="0" anchor="t">
            <a:normAutofit lnSpcReduction="10000"/>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Supabase: Postgres, Auth, Storage, Edge Functions. Free tier covers 500 MB database, 50k monthly users, 1 GB storage.</a:t>
            </a:r>
            <a:endParaRPr lang="en-US" sz="1800" dirty="0"/>
          </a:p>
        </p:txBody>
      </p:sp>
      <p:sp>
        <p:nvSpPr>
          <p:cNvPr id="32" name="Shape 25"/>
          <p:cNvSpPr/>
          <p:nvPr/>
        </p:nvSpPr>
        <p:spPr>
          <a:xfrm>
            <a:off x="12014150" y="5448300"/>
            <a:ext cx="5283250" cy="2251621"/>
          </a:xfrm>
          <a:prstGeom prst="rect">
            <a:avLst/>
          </a:prstGeom>
          <a:ln w="9525">
            <a:solidFill>
              <a:srgbClr val="A89C8C"/>
            </a:solidFill>
            <a:prstDash val="solid"/>
          </a:ln>
        </p:spPr>
        <p:txBody>
          <a:bodyPr/>
          <a:lstStyle/>
          <a:p>
            <a:endParaRPr lang="en-US"/>
          </a:p>
        </p:txBody>
      </p:sp>
      <p:sp>
        <p:nvSpPr>
          <p:cNvPr id="33" name="Shape 26"/>
          <p:cNvSpPr/>
          <p:nvPr/>
        </p:nvSpPr>
        <p:spPr>
          <a:xfrm>
            <a:off x="12271325" y="5724525"/>
            <a:ext cx="552450" cy="552450"/>
          </a:xfrm>
          <a:prstGeom prst="ellipse">
            <a:avLst/>
          </a:prstGeom>
          <a:ln w="19050">
            <a:solidFill>
              <a:srgbClr val="7A1F2B"/>
            </a:solidFill>
            <a:prstDash val="solid"/>
          </a:ln>
        </p:spPr>
        <p:txBody>
          <a:bodyPr/>
          <a:lstStyle/>
          <a:p>
            <a:endParaRPr lang="en-US"/>
          </a:p>
        </p:txBody>
      </p:sp>
      <p:pic>
        <p:nvPicPr>
          <p:cNvPr id="3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433250" y="5886450"/>
            <a:ext cx="228600" cy="228600"/>
          </a:xfrm>
          <a:prstGeom prst="rect">
            <a:avLst/>
          </a:prstGeom>
        </p:spPr>
      </p:pic>
      <p:sp>
        <p:nvSpPr>
          <p:cNvPr id="35" name="Text 27"/>
          <p:cNvSpPr/>
          <p:nvPr/>
        </p:nvSpPr>
        <p:spPr>
          <a:xfrm>
            <a:off x="12957125" y="5867400"/>
            <a:ext cx="2369225" cy="304800"/>
          </a:xfrm>
          <a:prstGeom prst="rect">
            <a:avLst/>
          </a:prstGeom>
          <a:noFill/>
          <a:ln/>
        </p:spPr>
        <p:txBody>
          <a:bodyPr wrap="square" lIns="25400" tIns="25400" rIns="25400" bIns="25400" rtlCol="0" anchor="t">
            <a:normAutofit fontScale="92500" lnSpcReduction="10000"/>
          </a:bodyPr>
          <a:lstStyle/>
          <a:p>
            <a:pPr marL="0" indent="0" algn="l">
              <a:buNone/>
            </a:pPr>
            <a:r>
              <a:rPr lang="en-US" sz="1875" b="1" dirty="0">
                <a:solidFill>
                  <a:srgbClr val="1A1A1A"/>
                </a:solidFill>
                <a:latin typeface="Georgia" pitchFamily="34" charset="0"/>
                <a:ea typeface="Georgia" pitchFamily="34" charset="-122"/>
                <a:cs typeface="Georgia" pitchFamily="34" charset="-120"/>
              </a:rPr>
              <a:t>Version control &amp; CI</a:t>
            </a:r>
            <a:endParaRPr lang="en-US" sz="1875" dirty="0"/>
          </a:p>
        </p:txBody>
      </p:sp>
      <p:sp>
        <p:nvSpPr>
          <p:cNvPr id="36" name="Text 28"/>
          <p:cNvSpPr/>
          <p:nvPr/>
        </p:nvSpPr>
        <p:spPr>
          <a:xfrm>
            <a:off x="12271325" y="6429375"/>
            <a:ext cx="4911967" cy="700980"/>
          </a:xfrm>
          <a:prstGeom prst="rect">
            <a:avLst/>
          </a:prstGeom>
          <a:noFill/>
          <a:ln/>
        </p:spPr>
        <p:txBody>
          <a:bodyPr wrap="square" lIns="25400" tIns="25400" rIns="25400" bIns="25400" rtlCol="0" anchor="t">
            <a:normAutofit lnSpcReduction="10000"/>
          </a:bodyPr>
          <a:lstStyle/>
          <a:p>
            <a:pPr marL="0" indent="0" algn="l">
              <a:lnSpc>
                <a:spcPct val="128889"/>
              </a:lnSpc>
              <a:buNone/>
            </a:pPr>
            <a:r>
              <a:rPr lang="en-US" sz="1800" dirty="0">
                <a:solidFill>
                  <a:srgbClr val="333333"/>
                </a:solidFill>
                <a:latin typeface="Georgia" pitchFamily="34" charset="0"/>
                <a:ea typeface="Georgia" pitchFamily="34" charset="-122"/>
                <a:cs typeface="Georgia" pitchFamily="34" charset="-120"/>
              </a:rPr>
              <a:t>GitHub, free for a project and automated testing at this scale.</a:t>
            </a:r>
            <a:endParaRPr lang="en-US" sz="1800" dirty="0"/>
          </a:p>
        </p:txBody>
      </p:sp>
      <p:sp>
        <p:nvSpPr>
          <p:cNvPr id="37" name="Shape 29"/>
          <p:cNvSpPr/>
          <p:nvPr/>
        </p:nvSpPr>
        <p:spPr>
          <a:xfrm>
            <a:off x="990600" y="8157121"/>
            <a:ext cx="8010525" cy="19050"/>
          </a:xfrm>
          <a:prstGeom prst="rect">
            <a:avLst/>
          </a:prstGeom>
          <a:solidFill>
            <a:srgbClr val="A89C8C"/>
          </a:solidFill>
          <a:ln/>
        </p:spPr>
        <p:txBody>
          <a:bodyPr/>
          <a:lstStyle/>
          <a:p>
            <a:endParaRPr lang="en-US"/>
          </a:p>
        </p:txBody>
      </p:sp>
      <p:sp>
        <p:nvSpPr>
          <p:cNvPr id="38" name="Text 30"/>
          <p:cNvSpPr/>
          <p:nvPr/>
        </p:nvSpPr>
        <p:spPr>
          <a:xfrm>
            <a:off x="990600" y="8347621"/>
            <a:ext cx="8250841" cy="10668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800" b="1" dirty="0">
                <a:solidFill>
                  <a:srgbClr val="7A1F2B"/>
                </a:solidFill>
                <a:latin typeface="Georgia" pitchFamily="34" charset="0"/>
                <a:ea typeface="Georgia" pitchFamily="34" charset="-122"/>
                <a:cs typeface="Georgia" pitchFamily="34" charset="-120"/>
              </a:rPr>
              <a:t>Hardware: </a:t>
            </a:r>
            <a:r>
              <a:rPr lang="en-US" sz="1800" dirty="0">
                <a:solidFill>
                  <a:srgbClr val="1A1A1A"/>
                </a:solidFill>
                <a:latin typeface="Georgia" pitchFamily="34" charset="0"/>
                <a:ea typeface="Georgia" pitchFamily="34" charset="-122"/>
                <a:cs typeface="Georgia" pitchFamily="34" charset="-120"/>
              </a:rPr>
              <a:t>nothing special needed. The quantum-safe methods run in a few milliseconds on any laptop; mobile testing just needs one Android/iOS phone or an emulator.</a:t>
            </a:r>
            <a:endParaRPr lang="en-US" sz="1800" dirty="0"/>
          </a:p>
        </p:txBody>
      </p:sp>
      <p:sp>
        <p:nvSpPr>
          <p:cNvPr id="39" name="Shape 31"/>
          <p:cNvSpPr/>
          <p:nvPr/>
        </p:nvSpPr>
        <p:spPr>
          <a:xfrm>
            <a:off x="9286875" y="8157121"/>
            <a:ext cx="8010525" cy="19050"/>
          </a:xfrm>
          <a:prstGeom prst="rect">
            <a:avLst/>
          </a:prstGeom>
          <a:solidFill>
            <a:srgbClr val="A89C8C"/>
          </a:solidFill>
          <a:ln/>
        </p:spPr>
        <p:txBody>
          <a:bodyPr/>
          <a:lstStyle/>
          <a:p>
            <a:endParaRPr lang="en-US"/>
          </a:p>
        </p:txBody>
      </p:sp>
      <p:sp>
        <p:nvSpPr>
          <p:cNvPr id="40" name="Text 32"/>
          <p:cNvSpPr/>
          <p:nvPr/>
        </p:nvSpPr>
        <p:spPr>
          <a:xfrm>
            <a:off x="9286875" y="8347621"/>
            <a:ext cx="8250841" cy="1066800"/>
          </a:xfrm>
          <a:prstGeom prst="rect">
            <a:avLst/>
          </a:prstGeom>
          <a:noFill/>
          <a:ln/>
        </p:spPr>
        <p:txBody>
          <a:bodyPr wrap="square" lIns="25400" tIns="25400" rIns="25400" bIns="25400" rtlCol="0" anchor="t">
            <a:normAutofit lnSpcReduction="10000"/>
          </a:bodyPr>
          <a:lstStyle/>
          <a:p>
            <a:pPr marL="0" indent="0" algn="l">
              <a:lnSpc>
                <a:spcPct val="133333"/>
              </a:lnSpc>
              <a:buNone/>
            </a:pPr>
            <a:r>
              <a:rPr lang="en-US" sz="1800" b="1" dirty="0">
                <a:solidFill>
                  <a:srgbClr val="7A1F2B"/>
                </a:solidFill>
                <a:latin typeface="Georgia" pitchFamily="34" charset="0"/>
                <a:ea typeface="Georgia" pitchFamily="34" charset="-122"/>
                <a:cs typeface="Georgia" pitchFamily="34" charset="-120"/>
              </a:rPr>
              <a:t>Honest gap: </a:t>
            </a:r>
            <a:r>
              <a:rPr lang="en-US" sz="1800" dirty="0">
                <a:solidFill>
                  <a:srgbClr val="1A1A1A"/>
                </a:solidFill>
                <a:latin typeface="Georgia" pitchFamily="34" charset="0"/>
                <a:ea typeface="Georgia" pitchFamily="34" charset="-122"/>
                <a:cs typeface="Georgia" pitchFamily="34" charset="-120"/>
              </a:rPr>
              <a:t>publishing to app stores does cost money (Apple charges $99/yr, Google a one-time $25). Neither is needed to build or demo the project; free tools like Expo Go and internal APK/TestFlight distribution cover that.</a:t>
            </a:r>
            <a:endParaRPr lang="en-US" sz="1800" dirty="0"/>
          </a:p>
        </p:txBody>
      </p:sp>
      <p:pic>
        <p:nvPicPr>
          <p:cNvPr id="41" name="Image 6" descr="preencoded.png"/>
          <p:cNvPicPr>
            <a:picLocks noChangeAspect="1"/>
          </p:cNvPicPr>
          <p:nvPr/>
        </p:nvPicPr>
        <p:blipFill>
          <a:blip r:embed="rId9"/>
          <a:stretch>
            <a:fillRect/>
          </a:stretch>
        </p:blipFill>
        <p:spPr>
          <a:xfrm>
            <a:off x="17077283" y="9801225"/>
            <a:ext cx="220117" cy="2571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20427"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12</a:t>
            </a:r>
            <a:endParaRPr lang="en-US" sz="1800" dirty="0"/>
          </a:p>
        </p:txBody>
      </p:sp>
      <p:sp>
        <p:nvSpPr>
          <p:cNvPr id="3" name="Text 1"/>
          <p:cNvSpPr/>
          <p:nvPr/>
        </p:nvSpPr>
        <p:spPr>
          <a:xfrm>
            <a:off x="1387227" y="476250"/>
            <a:ext cx="924520" cy="295275"/>
          </a:xfrm>
          <a:prstGeom prst="rect">
            <a:avLst/>
          </a:prstGeom>
          <a:noFill/>
          <a:ln/>
        </p:spPr>
        <p:txBody>
          <a:bodyPr wrap="square" lIns="25400" tIns="25400" rIns="25400" bIns="25400" rtlCol="0" anchor="t">
            <a:normAutofit fontScale="85000" lnSpcReduction="10000"/>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SCOPE</a:t>
            </a:r>
            <a:endParaRPr lang="en-US" sz="1800" dirty="0"/>
          </a:p>
        </p:txBody>
      </p:sp>
      <p:sp>
        <p:nvSpPr>
          <p:cNvPr id="4" name="Shape 2"/>
          <p:cNvSpPr/>
          <p:nvPr/>
        </p:nvSpPr>
        <p:spPr>
          <a:xfrm>
            <a:off x="2387947" y="600075"/>
            <a:ext cx="14909453" cy="9525"/>
          </a:xfrm>
          <a:prstGeom prst="rect">
            <a:avLst/>
          </a:prstGeom>
          <a:solidFill>
            <a:srgbClr val="A89C8C"/>
          </a:solidFill>
          <a:ln/>
        </p:spPr>
        <p:txBody>
          <a:bodyPr/>
          <a:lstStyle/>
          <a:p>
            <a:endParaRPr lang="en-US"/>
          </a:p>
        </p:txBody>
      </p:sp>
      <p:sp>
        <p:nvSpPr>
          <p:cNvPr id="5" name="Text 3"/>
          <p:cNvSpPr/>
          <p:nvPr/>
        </p:nvSpPr>
        <p:spPr>
          <a:xfrm>
            <a:off x="990600" y="942975"/>
            <a:ext cx="6924703" cy="1181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What Version 1 Deliberately Leaves Out</a:t>
            </a:r>
            <a:endParaRPr lang="en-US" sz="3750" dirty="0"/>
          </a:p>
        </p:txBody>
      </p:sp>
      <p:sp>
        <p:nvSpPr>
          <p:cNvPr id="6" name="Shape 4"/>
          <p:cNvSpPr/>
          <p:nvPr/>
        </p:nvSpPr>
        <p:spPr>
          <a:xfrm>
            <a:off x="990600" y="2219325"/>
            <a:ext cx="857250" cy="28575"/>
          </a:xfrm>
          <a:prstGeom prst="rect">
            <a:avLst/>
          </a:prstGeom>
          <a:solidFill>
            <a:srgbClr val="7A1F2B"/>
          </a:solidFill>
          <a:ln/>
        </p:spPr>
        <p:txBody>
          <a:bodyPr/>
          <a:lstStyle/>
          <a:p>
            <a:endParaRPr lang="en-US"/>
          </a:p>
        </p:txBody>
      </p:sp>
      <p:sp>
        <p:nvSpPr>
          <p:cNvPr id="7" name="Shape 5"/>
          <p:cNvSpPr/>
          <p:nvPr/>
        </p:nvSpPr>
        <p:spPr>
          <a:xfrm>
            <a:off x="990600" y="4511278"/>
            <a:ext cx="552450" cy="552450"/>
          </a:xfrm>
          <a:prstGeom prst="ellipse">
            <a:avLst/>
          </a:prstGeom>
          <a:ln w="19050">
            <a:solidFill>
              <a:srgbClr val="7A1F2B"/>
            </a:solidFill>
            <a:prstDash val="solid"/>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2525" y="4673203"/>
            <a:ext cx="228600" cy="228600"/>
          </a:xfrm>
          <a:prstGeom prst="rect">
            <a:avLst/>
          </a:prstGeom>
        </p:spPr>
      </p:pic>
      <p:sp>
        <p:nvSpPr>
          <p:cNvPr id="9" name="Text 6"/>
          <p:cNvSpPr/>
          <p:nvPr/>
        </p:nvSpPr>
        <p:spPr>
          <a:xfrm>
            <a:off x="990600" y="5254228"/>
            <a:ext cx="5601861"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08" dirty="0">
                <a:solidFill>
                  <a:srgbClr val="7A1F2B"/>
                </a:solidFill>
                <a:latin typeface="Georgia" pitchFamily="34" charset="0"/>
                <a:ea typeface="Georgia" pitchFamily="34" charset="-122"/>
                <a:cs typeface="Georgia" pitchFamily="34" charset="-120"/>
              </a:rPr>
              <a:t>01</a:t>
            </a:r>
            <a:endParaRPr lang="en-US" sz="1800" dirty="0"/>
          </a:p>
        </p:txBody>
      </p:sp>
      <p:sp>
        <p:nvSpPr>
          <p:cNvPr id="10" name="Text 7"/>
          <p:cNvSpPr/>
          <p:nvPr/>
        </p:nvSpPr>
        <p:spPr>
          <a:xfrm>
            <a:off x="990600" y="5701903"/>
            <a:ext cx="5601861"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1A1A"/>
                </a:solidFill>
                <a:latin typeface="Georgia" pitchFamily="34" charset="0"/>
                <a:ea typeface="Georgia" pitchFamily="34" charset="-122"/>
                <a:cs typeface="Georgia" pitchFamily="34" charset="-120"/>
              </a:rPr>
              <a:t>Closed platform</a:t>
            </a:r>
            <a:endParaRPr lang="en-US" sz="2400" dirty="0"/>
          </a:p>
        </p:txBody>
      </p:sp>
      <p:sp>
        <p:nvSpPr>
          <p:cNvPr id="11" name="Text 8"/>
          <p:cNvSpPr/>
          <p:nvPr/>
        </p:nvSpPr>
        <p:spPr>
          <a:xfrm>
            <a:off x="990600" y="6235303"/>
            <a:ext cx="5245379" cy="1883569"/>
          </a:xfrm>
          <a:prstGeom prst="rect">
            <a:avLst/>
          </a:prstGeom>
          <a:noFill/>
          <a:ln/>
        </p:spPr>
        <p:txBody>
          <a:bodyPr wrap="square" lIns="25400" tIns="25400" rIns="25400" bIns="25400" rtlCol="0" anchor="t">
            <a:normAutofit fontScale="92500"/>
          </a:bodyPr>
          <a:lstStyle/>
          <a:p>
            <a:pPr marL="0" indent="0" algn="l">
              <a:lnSpc>
                <a:spcPct val="138393"/>
              </a:lnSpc>
              <a:buNone/>
            </a:pPr>
            <a:r>
              <a:rPr lang="en-US" sz="1875" dirty="0">
                <a:solidFill>
                  <a:srgbClr val="333333"/>
                </a:solidFill>
                <a:latin typeface="Georgia" pitchFamily="34" charset="0"/>
                <a:ea typeface="Georgia" pitchFamily="34" charset="-122"/>
                <a:cs typeface="Georgia" pitchFamily="34" charset="-120"/>
              </a:rPr>
              <a:t>Accounts look like user@qmail.com, and mail only moves between Qmail users for now. Connecting with the wider email system (Gmail, Outlook, and the rest) is a huge, multi-year infrastructure project on its own. This is a deliberate choice, not a gap.</a:t>
            </a:r>
            <a:endParaRPr lang="en-US" sz="1875" dirty="0"/>
          </a:p>
        </p:txBody>
      </p:sp>
      <p:sp>
        <p:nvSpPr>
          <p:cNvPr id="12" name="Shape 9"/>
          <p:cNvSpPr/>
          <p:nvPr/>
        </p:nvSpPr>
        <p:spPr>
          <a:xfrm>
            <a:off x="6426101" y="4511278"/>
            <a:ext cx="19050" cy="3569494"/>
          </a:xfrm>
          <a:prstGeom prst="rect">
            <a:avLst/>
          </a:prstGeom>
          <a:solidFill>
            <a:srgbClr val="A89C8C"/>
          </a:solidFill>
          <a:ln/>
        </p:spPr>
        <p:txBody>
          <a:bodyPr/>
          <a:lstStyle/>
          <a:p>
            <a:endParaRPr lang="en-US"/>
          </a:p>
        </p:txBody>
      </p:sp>
      <p:sp>
        <p:nvSpPr>
          <p:cNvPr id="13" name="Shape 10"/>
          <p:cNvSpPr/>
          <p:nvPr/>
        </p:nvSpPr>
        <p:spPr>
          <a:xfrm>
            <a:off x="6788051" y="4511278"/>
            <a:ext cx="552450" cy="552450"/>
          </a:xfrm>
          <a:prstGeom prst="ellipse">
            <a:avLst/>
          </a:prstGeom>
          <a:ln w="19050">
            <a:solidFill>
              <a:srgbClr val="7A1F2B"/>
            </a:solidFill>
            <a:prstDash val="solid"/>
          </a:ln>
        </p:spPr>
        <p:txBody>
          <a:bodyPr/>
          <a:lstStyle/>
          <a:p>
            <a:endParaRPr lang="en-US"/>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9976" y="4673203"/>
            <a:ext cx="228600" cy="228600"/>
          </a:xfrm>
          <a:prstGeom prst="rect">
            <a:avLst/>
          </a:prstGeom>
        </p:spPr>
      </p:pic>
      <p:sp>
        <p:nvSpPr>
          <p:cNvPr id="15" name="Text 11"/>
          <p:cNvSpPr/>
          <p:nvPr/>
        </p:nvSpPr>
        <p:spPr>
          <a:xfrm>
            <a:off x="6788051" y="5254228"/>
            <a:ext cx="520388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08" dirty="0">
                <a:solidFill>
                  <a:srgbClr val="7A1F2B"/>
                </a:solidFill>
                <a:latin typeface="Georgia" pitchFamily="34" charset="0"/>
                <a:ea typeface="Georgia" pitchFamily="34" charset="-122"/>
                <a:cs typeface="Georgia" pitchFamily="34" charset="-120"/>
              </a:rPr>
              <a:t>02</a:t>
            </a:r>
            <a:endParaRPr lang="en-US" sz="1800" dirty="0"/>
          </a:p>
        </p:txBody>
      </p:sp>
      <p:sp>
        <p:nvSpPr>
          <p:cNvPr id="16" name="Text 12"/>
          <p:cNvSpPr/>
          <p:nvPr/>
        </p:nvSpPr>
        <p:spPr>
          <a:xfrm>
            <a:off x="6788051" y="5701903"/>
            <a:ext cx="5203880"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1A1A"/>
                </a:solidFill>
                <a:latin typeface="Georgia" pitchFamily="34" charset="0"/>
                <a:ea typeface="Georgia" pitchFamily="34" charset="-122"/>
                <a:cs typeface="Georgia" pitchFamily="34" charset="-120"/>
              </a:rPr>
              <a:t>Single-device key custody</a:t>
            </a:r>
            <a:endParaRPr lang="en-US" sz="2400" dirty="0"/>
          </a:p>
        </p:txBody>
      </p:sp>
      <p:sp>
        <p:nvSpPr>
          <p:cNvPr id="17" name="Text 13"/>
          <p:cNvSpPr/>
          <p:nvPr/>
        </p:nvSpPr>
        <p:spPr>
          <a:xfrm>
            <a:off x="6788051" y="6235303"/>
            <a:ext cx="4872724" cy="1883569"/>
          </a:xfrm>
          <a:prstGeom prst="rect">
            <a:avLst/>
          </a:prstGeom>
          <a:noFill/>
          <a:ln/>
        </p:spPr>
        <p:txBody>
          <a:bodyPr wrap="square" lIns="25400" tIns="25400" rIns="25400" bIns="25400" rtlCol="0" anchor="t">
            <a:normAutofit fontScale="92500"/>
          </a:bodyPr>
          <a:lstStyle/>
          <a:p>
            <a:pPr marL="0" indent="0" algn="l">
              <a:lnSpc>
                <a:spcPct val="138393"/>
              </a:lnSpc>
              <a:buNone/>
            </a:pPr>
            <a:r>
              <a:rPr lang="en-US" sz="1875" dirty="0">
                <a:solidFill>
                  <a:srgbClr val="333333"/>
                </a:solidFill>
                <a:latin typeface="Georgia" pitchFamily="34" charset="0"/>
                <a:ea typeface="Georgia" pitchFamily="34" charset="-122"/>
                <a:cs typeface="Georgia" pitchFamily="34" charset="-120"/>
              </a:rPr>
              <a:t>Each account's keys live only on the device that registered them. Letting one account work safely across several devices needs its own secure syncing system, a separate research problem left as future work for version 2.</a:t>
            </a:r>
            <a:endParaRPr lang="en-US" sz="1875" dirty="0"/>
          </a:p>
        </p:txBody>
      </p:sp>
      <p:sp>
        <p:nvSpPr>
          <p:cNvPr id="18" name="Shape 14"/>
          <p:cNvSpPr/>
          <p:nvPr/>
        </p:nvSpPr>
        <p:spPr>
          <a:xfrm>
            <a:off x="11861750" y="4511278"/>
            <a:ext cx="19050" cy="3569494"/>
          </a:xfrm>
          <a:prstGeom prst="rect">
            <a:avLst/>
          </a:prstGeom>
          <a:solidFill>
            <a:srgbClr val="A89C8C"/>
          </a:solidFill>
          <a:ln/>
        </p:spPr>
        <p:txBody>
          <a:bodyPr/>
          <a:lstStyle/>
          <a:p>
            <a:endParaRPr lang="en-US"/>
          </a:p>
        </p:txBody>
      </p:sp>
      <p:sp>
        <p:nvSpPr>
          <p:cNvPr id="19" name="Shape 15"/>
          <p:cNvSpPr/>
          <p:nvPr/>
        </p:nvSpPr>
        <p:spPr>
          <a:xfrm>
            <a:off x="12223700" y="4511278"/>
            <a:ext cx="552450" cy="552450"/>
          </a:xfrm>
          <a:prstGeom prst="ellipse">
            <a:avLst/>
          </a:prstGeom>
          <a:ln w="19050">
            <a:solidFill>
              <a:srgbClr val="7A1F2B"/>
            </a:solidFill>
            <a:prstDash val="solid"/>
          </a:ln>
        </p:spPr>
        <p:txBody>
          <a:bodyPr/>
          <a:lstStyle/>
          <a:p>
            <a:endParaRPr lang="en-US"/>
          </a:p>
        </p:txBody>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385625" y="4673203"/>
            <a:ext cx="228600" cy="228600"/>
          </a:xfrm>
          <a:prstGeom prst="rect">
            <a:avLst/>
          </a:prstGeom>
        </p:spPr>
      </p:pic>
      <p:sp>
        <p:nvSpPr>
          <p:cNvPr id="21" name="Text 16"/>
          <p:cNvSpPr/>
          <p:nvPr/>
        </p:nvSpPr>
        <p:spPr>
          <a:xfrm>
            <a:off x="12223700" y="5254228"/>
            <a:ext cx="520388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08" dirty="0">
                <a:solidFill>
                  <a:srgbClr val="7A1F2B"/>
                </a:solidFill>
                <a:latin typeface="Georgia" pitchFamily="34" charset="0"/>
                <a:ea typeface="Georgia" pitchFamily="34" charset="-122"/>
                <a:cs typeface="Georgia" pitchFamily="34" charset="-120"/>
              </a:rPr>
              <a:t>03</a:t>
            </a:r>
            <a:endParaRPr lang="en-US" sz="1800" dirty="0"/>
          </a:p>
        </p:txBody>
      </p:sp>
      <p:sp>
        <p:nvSpPr>
          <p:cNvPr id="22" name="Text 17"/>
          <p:cNvSpPr/>
          <p:nvPr/>
        </p:nvSpPr>
        <p:spPr>
          <a:xfrm>
            <a:off x="12223700" y="5701903"/>
            <a:ext cx="5203880"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1A1A"/>
                </a:solidFill>
                <a:latin typeface="Georgia" pitchFamily="34" charset="0"/>
                <a:ea typeface="Georgia" pitchFamily="34" charset="-122"/>
                <a:cs typeface="Georgia" pitchFamily="34" charset="-120"/>
              </a:rPr>
              <a:t>Pure PQC, not hybrid composite</a:t>
            </a:r>
            <a:endParaRPr lang="en-US" sz="2400" dirty="0"/>
          </a:p>
        </p:txBody>
      </p:sp>
      <p:sp>
        <p:nvSpPr>
          <p:cNvPr id="23" name="Text 18"/>
          <p:cNvSpPr/>
          <p:nvPr/>
        </p:nvSpPr>
        <p:spPr>
          <a:xfrm>
            <a:off x="12223700" y="6235303"/>
            <a:ext cx="4872724" cy="1883569"/>
          </a:xfrm>
          <a:prstGeom prst="rect">
            <a:avLst/>
          </a:prstGeom>
          <a:noFill/>
          <a:ln/>
        </p:spPr>
        <p:txBody>
          <a:bodyPr wrap="square" lIns="25400" tIns="25400" rIns="25400" bIns="25400" rtlCol="0" anchor="t">
            <a:normAutofit fontScale="92500"/>
          </a:bodyPr>
          <a:lstStyle/>
          <a:p>
            <a:pPr marL="0" indent="0" algn="l">
              <a:lnSpc>
                <a:spcPct val="138393"/>
              </a:lnSpc>
              <a:buNone/>
            </a:pPr>
            <a:r>
              <a:rPr lang="en-US" sz="1875" dirty="0">
                <a:solidFill>
                  <a:srgbClr val="333333"/>
                </a:solidFill>
                <a:latin typeface="Georgia" pitchFamily="34" charset="0"/>
                <a:ea typeface="Georgia" pitchFamily="34" charset="-122"/>
                <a:cs typeface="Georgia" pitchFamily="34" charset="-120"/>
              </a:rPr>
              <a:t>Version 1 uses only the new quantum-safe methods, ML-KEM and ML-DSA, on their own. Pairing them with older classical methods as a backup is a smart extra safety step for later, but not required for this first version.</a:t>
            </a:r>
            <a:endParaRPr lang="en-US" sz="1875" dirty="0"/>
          </a:p>
        </p:txBody>
      </p:sp>
      <p:pic>
        <p:nvPicPr>
          <p:cNvPr id="24" name="Image 3" descr="preencoded.png"/>
          <p:cNvPicPr>
            <a:picLocks noChangeAspect="1"/>
          </p:cNvPicPr>
          <p:nvPr/>
        </p:nvPicPr>
        <p:blipFill>
          <a:blip r:embed="rId6"/>
          <a:stretch>
            <a:fillRect/>
          </a:stretch>
        </p:blipFill>
        <p:spPr>
          <a:xfrm>
            <a:off x="17068800" y="9801225"/>
            <a:ext cx="228600" cy="2571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18939"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13</a:t>
            </a:r>
            <a:endParaRPr lang="en-US" sz="1800" dirty="0"/>
          </a:p>
        </p:txBody>
      </p:sp>
      <p:sp>
        <p:nvSpPr>
          <p:cNvPr id="3" name="Text 1"/>
          <p:cNvSpPr/>
          <p:nvPr/>
        </p:nvSpPr>
        <p:spPr>
          <a:xfrm>
            <a:off x="1385738" y="476250"/>
            <a:ext cx="1606843" cy="428625"/>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TIMELINE</a:t>
            </a:r>
            <a:endParaRPr lang="en-US" sz="1800" dirty="0"/>
          </a:p>
        </p:txBody>
      </p:sp>
      <p:sp>
        <p:nvSpPr>
          <p:cNvPr id="4" name="Shape 2"/>
          <p:cNvSpPr/>
          <p:nvPr/>
        </p:nvSpPr>
        <p:spPr>
          <a:xfrm>
            <a:off x="2864644" y="600075"/>
            <a:ext cx="14432756" cy="9525"/>
          </a:xfrm>
          <a:prstGeom prst="rect">
            <a:avLst/>
          </a:prstGeom>
          <a:solidFill>
            <a:srgbClr val="A89C8C"/>
          </a:solidFill>
          <a:ln/>
        </p:spPr>
        <p:txBody>
          <a:bodyPr/>
          <a:lstStyle/>
          <a:p>
            <a:endParaRPr lang="en-US"/>
          </a:p>
        </p:txBody>
      </p:sp>
      <p:sp>
        <p:nvSpPr>
          <p:cNvPr id="5" name="Text 3"/>
          <p:cNvSpPr/>
          <p:nvPr/>
        </p:nvSpPr>
        <p:spPr>
          <a:xfrm>
            <a:off x="990600" y="942975"/>
            <a:ext cx="7890164" cy="6096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Project Development Timeline</a:t>
            </a:r>
            <a:endParaRPr lang="en-US" sz="3750" dirty="0"/>
          </a:p>
        </p:txBody>
      </p:sp>
      <p:pic>
        <p:nvPicPr>
          <p:cNvPr id="7" name="Image 1" descr="preencoded.png"/>
          <p:cNvPicPr>
            <a:picLocks noChangeAspect="1"/>
          </p:cNvPicPr>
          <p:nvPr/>
        </p:nvPicPr>
        <p:blipFill>
          <a:blip r:embed="rId3"/>
          <a:stretch>
            <a:fillRect/>
          </a:stretch>
        </p:blipFill>
        <p:spPr>
          <a:xfrm>
            <a:off x="17068800" y="9801225"/>
            <a:ext cx="228600" cy="257175"/>
          </a:xfrm>
          <a:prstGeom prst="rect">
            <a:avLst/>
          </a:prstGeom>
        </p:spPr>
      </p:pic>
      <p:sp>
        <p:nvSpPr>
          <p:cNvPr id="11" name="Text 3">
            <a:extLst>
              <a:ext uri="{FF2B5EF4-FFF2-40B4-BE49-F238E27FC236}">
                <a16:creationId xmlns:a16="http://schemas.microsoft.com/office/drawing/2014/main" id="{698F061F-2575-390E-E7AF-707AB806675A}"/>
              </a:ext>
            </a:extLst>
          </p:cNvPr>
          <p:cNvSpPr/>
          <p:nvPr/>
        </p:nvSpPr>
        <p:spPr>
          <a:xfrm>
            <a:off x="12658725" y="1028700"/>
            <a:ext cx="4829175" cy="485775"/>
          </a:xfrm>
          <a:prstGeom prst="rect">
            <a:avLst/>
          </a:prstGeom>
          <a:noFill/>
          <a:ln/>
        </p:spPr>
        <p:txBody>
          <a:bodyPr wrap="square" lIns="0" tIns="0" rIns="0" bIns="0" rtlCol="0" anchor="b"/>
          <a:lstStyle/>
          <a:p>
            <a:pPr algn="r"/>
            <a:r>
              <a:rPr lang="en-US" sz="1575" dirty="0">
                <a:solidFill>
                  <a:srgbClr val="6B6B76"/>
                </a:solidFill>
                <a:latin typeface="Inter" pitchFamily="34" charset="0"/>
                <a:ea typeface="Inter" pitchFamily="34" charset="-122"/>
                <a:cs typeface="Inter" pitchFamily="34" charset="-120"/>
              </a:rPr>
              <a:t>Jul 13 – Oct 25, 2026   ·   15 weeks</a:t>
            </a:r>
            <a:endParaRPr lang="en-US" sz="1575" dirty="0"/>
          </a:p>
        </p:txBody>
      </p:sp>
      <p:sp>
        <p:nvSpPr>
          <p:cNvPr id="13" name="Shape 4">
            <a:extLst>
              <a:ext uri="{FF2B5EF4-FFF2-40B4-BE49-F238E27FC236}">
                <a16:creationId xmlns:a16="http://schemas.microsoft.com/office/drawing/2014/main" id="{67C564E1-552C-047C-8130-89B9AFCDBB3C}"/>
              </a:ext>
            </a:extLst>
          </p:cNvPr>
          <p:cNvSpPr/>
          <p:nvPr/>
        </p:nvSpPr>
        <p:spPr>
          <a:xfrm>
            <a:off x="800100" y="1657350"/>
            <a:ext cx="657225" cy="28575"/>
          </a:xfrm>
          <a:prstGeom prst="rect">
            <a:avLst/>
          </a:prstGeom>
          <a:solidFill>
            <a:srgbClr val="8C1D35"/>
          </a:solidFill>
          <a:ln/>
        </p:spPr>
        <p:txBody>
          <a:bodyPr/>
          <a:lstStyle/>
          <a:p>
            <a:endParaRPr lang="en-IN" sz="2700"/>
          </a:p>
        </p:txBody>
      </p:sp>
      <p:sp>
        <p:nvSpPr>
          <p:cNvPr id="15" name="Shape 5">
            <a:extLst>
              <a:ext uri="{FF2B5EF4-FFF2-40B4-BE49-F238E27FC236}">
                <a16:creationId xmlns:a16="http://schemas.microsoft.com/office/drawing/2014/main" id="{94ABC641-BC58-F71E-7908-CBB2D1CA75FA}"/>
              </a:ext>
            </a:extLst>
          </p:cNvPr>
          <p:cNvSpPr/>
          <p:nvPr/>
        </p:nvSpPr>
        <p:spPr>
          <a:xfrm>
            <a:off x="800100" y="2043113"/>
            <a:ext cx="142875" cy="142875"/>
          </a:xfrm>
          <a:prstGeom prst="ellipse">
            <a:avLst/>
          </a:prstGeom>
          <a:solidFill>
            <a:srgbClr val="B23A54"/>
          </a:solidFill>
          <a:ln/>
        </p:spPr>
        <p:txBody>
          <a:bodyPr/>
          <a:lstStyle/>
          <a:p>
            <a:endParaRPr lang="en-IN" sz="2700"/>
          </a:p>
        </p:txBody>
      </p:sp>
      <p:sp>
        <p:nvSpPr>
          <p:cNvPr id="17" name="Text 6">
            <a:extLst>
              <a:ext uri="{FF2B5EF4-FFF2-40B4-BE49-F238E27FC236}">
                <a16:creationId xmlns:a16="http://schemas.microsoft.com/office/drawing/2014/main" id="{5C5CA597-31E0-8E6B-B9BB-12C4262F41E6}"/>
              </a:ext>
            </a:extLst>
          </p:cNvPr>
          <p:cNvSpPr/>
          <p:nvPr/>
        </p:nvSpPr>
        <p:spPr>
          <a:xfrm>
            <a:off x="1057275" y="1971675"/>
            <a:ext cx="3120390" cy="228600"/>
          </a:xfrm>
          <a:prstGeom prst="rect">
            <a:avLst/>
          </a:prstGeom>
          <a:noFill/>
          <a:ln/>
        </p:spPr>
        <p:txBody>
          <a:bodyPr wrap="square" lIns="0" tIns="0" rIns="0" bIns="0" rtlCol="0" anchor="ctr"/>
          <a:lstStyle/>
          <a:p>
            <a:r>
              <a:rPr lang="en-US" sz="1425" dirty="0">
                <a:solidFill>
                  <a:srgbClr val="6B6B76"/>
                </a:solidFill>
                <a:latin typeface="Inter" pitchFamily="34" charset="0"/>
                <a:ea typeface="Inter" pitchFamily="34" charset="-122"/>
                <a:cs typeface="Inter" pitchFamily="34" charset="-120"/>
              </a:rPr>
              <a:t>Phase 1 · Foundation &amp; Analysis</a:t>
            </a:r>
            <a:endParaRPr lang="en-US" sz="1425" dirty="0"/>
          </a:p>
        </p:txBody>
      </p:sp>
      <p:sp>
        <p:nvSpPr>
          <p:cNvPr id="19" name="Shape 7">
            <a:extLst>
              <a:ext uri="{FF2B5EF4-FFF2-40B4-BE49-F238E27FC236}">
                <a16:creationId xmlns:a16="http://schemas.microsoft.com/office/drawing/2014/main" id="{AF2FF578-1C39-FF26-130C-2F6F209C9C40}"/>
              </a:ext>
            </a:extLst>
          </p:cNvPr>
          <p:cNvSpPr/>
          <p:nvPr/>
        </p:nvSpPr>
        <p:spPr>
          <a:xfrm>
            <a:off x="4520565" y="2043113"/>
            <a:ext cx="142875" cy="142875"/>
          </a:xfrm>
          <a:prstGeom prst="ellipse">
            <a:avLst/>
          </a:prstGeom>
          <a:solidFill>
            <a:srgbClr val="6E1428"/>
          </a:solidFill>
          <a:ln/>
        </p:spPr>
        <p:txBody>
          <a:bodyPr/>
          <a:lstStyle/>
          <a:p>
            <a:endParaRPr lang="en-IN" sz="2700"/>
          </a:p>
        </p:txBody>
      </p:sp>
      <p:sp>
        <p:nvSpPr>
          <p:cNvPr id="21" name="Text 8">
            <a:extLst>
              <a:ext uri="{FF2B5EF4-FFF2-40B4-BE49-F238E27FC236}">
                <a16:creationId xmlns:a16="http://schemas.microsoft.com/office/drawing/2014/main" id="{E94BA52E-20AF-8A82-97C3-50895F14ECFB}"/>
              </a:ext>
            </a:extLst>
          </p:cNvPr>
          <p:cNvSpPr/>
          <p:nvPr/>
        </p:nvSpPr>
        <p:spPr>
          <a:xfrm>
            <a:off x="4777740" y="1971675"/>
            <a:ext cx="2937510" cy="228600"/>
          </a:xfrm>
          <a:prstGeom prst="rect">
            <a:avLst/>
          </a:prstGeom>
          <a:noFill/>
          <a:ln/>
        </p:spPr>
        <p:txBody>
          <a:bodyPr wrap="square" lIns="0" tIns="0" rIns="0" bIns="0" rtlCol="0" anchor="ctr"/>
          <a:lstStyle/>
          <a:p>
            <a:r>
              <a:rPr lang="en-US" sz="1425" dirty="0">
                <a:solidFill>
                  <a:srgbClr val="6B6B76"/>
                </a:solidFill>
                <a:latin typeface="Inter" pitchFamily="34" charset="0"/>
                <a:ea typeface="Inter" pitchFamily="34" charset="-122"/>
                <a:cs typeface="Inter" pitchFamily="34" charset="-120"/>
              </a:rPr>
              <a:t>Phase 2 · Execution &amp; Testing</a:t>
            </a:r>
            <a:endParaRPr lang="en-US" sz="1425" dirty="0"/>
          </a:p>
        </p:txBody>
      </p:sp>
      <p:sp>
        <p:nvSpPr>
          <p:cNvPr id="23" name="Text 9">
            <a:extLst>
              <a:ext uri="{FF2B5EF4-FFF2-40B4-BE49-F238E27FC236}">
                <a16:creationId xmlns:a16="http://schemas.microsoft.com/office/drawing/2014/main" id="{C9CC6CC9-BF43-E206-0704-B3C540D7979D}"/>
              </a:ext>
            </a:extLst>
          </p:cNvPr>
          <p:cNvSpPr/>
          <p:nvPr/>
        </p:nvSpPr>
        <p:spPr>
          <a:xfrm>
            <a:off x="5657851" y="2343150"/>
            <a:ext cx="2078627" cy="257175"/>
          </a:xfrm>
          <a:prstGeom prst="rect">
            <a:avLst/>
          </a:prstGeom>
          <a:noFill/>
          <a:ln/>
        </p:spPr>
        <p:txBody>
          <a:bodyPr wrap="square" lIns="0" tIns="0" rIns="0" bIns="0" rtlCol="0" anchor="t"/>
          <a:lstStyle/>
          <a:p>
            <a:r>
              <a:rPr lang="en-US" sz="1575" b="1" dirty="0">
                <a:solidFill>
                  <a:srgbClr val="1A1A2E"/>
                </a:solidFill>
                <a:latin typeface="Inter" pitchFamily="34" charset="0"/>
                <a:ea typeface="Inter" pitchFamily="34" charset="-122"/>
                <a:cs typeface="Inter" pitchFamily="34" charset="-120"/>
              </a:rPr>
              <a:t>July 2026</a:t>
            </a:r>
            <a:endParaRPr lang="en-US" sz="1575" dirty="0"/>
          </a:p>
        </p:txBody>
      </p:sp>
      <p:sp>
        <p:nvSpPr>
          <p:cNvPr id="25" name="Shape 10">
            <a:extLst>
              <a:ext uri="{FF2B5EF4-FFF2-40B4-BE49-F238E27FC236}">
                <a16:creationId xmlns:a16="http://schemas.microsoft.com/office/drawing/2014/main" id="{8407F332-E5F1-1265-322D-68FE85E99C37}"/>
              </a:ext>
            </a:extLst>
          </p:cNvPr>
          <p:cNvSpPr/>
          <p:nvPr/>
        </p:nvSpPr>
        <p:spPr>
          <a:xfrm>
            <a:off x="7736477" y="2343150"/>
            <a:ext cx="0" cy="628650"/>
          </a:xfrm>
          <a:prstGeom prst="line">
            <a:avLst/>
          </a:prstGeom>
          <a:noFill/>
          <a:ln w="9525">
            <a:solidFill>
              <a:srgbClr val="D3CFC6"/>
            </a:solidFill>
            <a:prstDash val="solid"/>
          </a:ln>
        </p:spPr>
        <p:txBody>
          <a:bodyPr/>
          <a:lstStyle/>
          <a:p>
            <a:endParaRPr lang="en-IN" sz="2700"/>
          </a:p>
        </p:txBody>
      </p:sp>
      <p:sp>
        <p:nvSpPr>
          <p:cNvPr id="27" name="Text 11">
            <a:extLst>
              <a:ext uri="{FF2B5EF4-FFF2-40B4-BE49-F238E27FC236}">
                <a16:creationId xmlns:a16="http://schemas.microsoft.com/office/drawing/2014/main" id="{DDD4FDEA-F3B0-8633-C4AD-B97721D8CDA4}"/>
              </a:ext>
            </a:extLst>
          </p:cNvPr>
          <p:cNvSpPr/>
          <p:nvPr/>
        </p:nvSpPr>
        <p:spPr>
          <a:xfrm>
            <a:off x="7879352" y="2343150"/>
            <a:ext cx="3248570" cy="257175"/>
          </a:xfrm>
          <a:prstGeom prst="rect">
            <a:avLst/>
          </a:prstGeom>
          <a:noFill/>
          <a:ln/>
        </p:spPr>
        <p:txBody>
          <a:bodyPr wrap="square" lIns="0" tIns="0" rIns="0" bIns="0" rtlCol="0" anchor="t"/>
          <a:lstStyle/>
          <a:p>
            <a:r>
              <a:rPr lang="en-US" sz="1575" b="1" dirty="0">
                <a:solidFill>
                  <a:srgbClr val="1A1A2E"/>
                </a:solidFill>
                <a:latin typeface="Inter" pitchFamily="34" charset="0"/>
                <a:ea typeface="Inter" pitchFamily="34" charset="-122"/>
                <a:cs typeface="Inter" pitchFamily="34" charset="-120"/>
              </a:rPr>
              <a:t>August 2026</a:t>
            </a:r>
            <a:endParaRPr lang="en-US" sz="1575" dirty="0"/>
          </a:p>
        </p:txBody>
      </p:sp>
      <p:sp>
        <p:nvSpPr>
          <p:cNvPr id="29" name="Shape 12">
            <a:extLst>
              <a:ext uri="{FF2B5EF4-FFF2-40B4-BE49-F238E27FC236}">
                <a16:creationId xmlns:a16="http://schemas.microsoft.com/office/drawing/2014/main" id="{D98337ED-73C2-9DA7-A548-311FB96FE59F}"/>
              </a:ext>
            </a:extLst>
          </p:cNvPr>
          <p:cNvSpPr/>
          <p:nvPr/>
        </p:nvSpPr>
        <p:spPr>
          <a:xfrm>
            <a:off x="11127921" y="2343150"/>
            <a:ext cx="0" cy="628650"/>
          </a:xfrm>
          <a:prstGeom prst="line">
            <a:avLst/>
          </a:prstGeom>
          <a:noFill/>
          <a:ln w="9525">
            <a:solidFill>
              <a:srgbClr val="D3CFC6"/>
            </a:solidFill>
            <a:prstDash val="solid"/>
          </a:ln>
        </p:spPr>
        <p:txBody>
          <a:bodyPr/>
          <a:lstStyle/>
          <a:p>
            <a:endParaRPr lang="en-IN" sz="2700"/>
          </a:p>
        </p:txBody>
      </p:sp>
      <p:sp>
        <p:nvSpPr>
          <p:cNvPr id="31" name="Text 13">
            <a:extLst>
              <a:ext uri="{FF2B5EF4-FFF2-40B4-BE49-F238E27FC236}">
                <a16:creationId xmlns:a16="http://schemas.microsoft.com/office/drawing/2014/main" id="{B126A4C4-5E0A-D67F-12F4-A62AA8110174}"/>
              </a:ext>
            </a:extLst>
          </p:cNvPr>
          <p:cNvSpPr/>
          <p:nvPr/>
        </p:nvSpPr>
        <p:spPr>
          <a:xfrm>
            <a:off x="11270797" y="2343150"/>
            <a:ext cx="3139169" cy="257175"/>
          </a:xfrm>
          <a:prstGeom prst="rect">
            <a:avLst/>
          </a:prstGeom>
          <a:noFill/>
          <a:ln/>
        </p:spPr>
        <p:txBody>
          <a:bodyPr wrap="square" lIns="0" tIns="0" rIns="0" bIns="0" rtlCol="0" anchor="t"/>
          <a:lstStyle/>
          <a:p>
            <a:r>
              <a:rPr lang="en-US" sz="1575" b="1" dirty="0">
                <a:solidFill>
                  <a:srgbClr val="1A1A2E"/>
                </a:solidFill>
                <a:latin typeface="Inter" pitchFamily="34" charset="0"/>
                <a:ea typeface="Inter" pitchFamily="34" charset="-122"/>
                <a:cs typeface="Inter" pitchFamily="34" charset="-120"/>
              </a:rPr>
              <a:t>September 2026</a:t>
            </a:r>
            <a:endParaRPr lang="en-US" sz="1575" dirty="0"/>
          </a:p>
        </p:txBody>
      </p:sp>
      <p:sp>
        <p:nvSpPr>
          <p:cNvPr id="33" name="Shape 14">
            <a:extLst>
              <a:ext uri="{FF2B5EF4-FFF2-40B4-BE49-F238E27FC236}">
                <a16:creationId xmlns:a16="http://schemas.microsoft.com/office/drawing/2014/main" id="{676C1BF5-EE4A-E7F4-2856-492C5CB217DA}"/>
              </a:ext>
            </a:extLst>
          </p:cNvPr>
          <p:cNvSpPr/>
          <p:nvPr/>
        </p:nvSpPr>
        <p:spPr>
          <a:xfrm>
            <a:off x="14409965" y="2343150"/>
            <a:ext cx="0" cy="628650"/>
          </a:xfrm>
          <a:prstGeom prst="line">
            <a:avLst/>
          </a:prstGeom>
          <a:noFill/>
          <a:ln w="9525">
            <a:solidFill>
              <a:srgbClr val="D3CFC6"/>
            </a:solidFill>
            <a:prstDash val="solid"/>
          </a:ln>
        </p:spPr>
        <p:txBody>
          <a:bodyPr/>
          <a:lstStyle/>
          <a:p>
            <a:endParaRPr lang="en-IN" sz="2700"/>
          </a:p>
        </p:txBody>
      </p:sp>
      <p:sp>
        <p:nvSpPr>
          <p:cNvPr id="35" name="Text 15">
            <a:extLst>
              <a:ext uri="{FF2B5EF4-FFF2-40B4-BE49-F238E27FC236}">
                <a16:creationId xmlns:a16="http://schemas.microsoft.com/office/drawing/2014/main" id="{9483231B-92B3-974F-FB94-ADB978238A61}"/>
              </a:ext>
            </a:extLst>
          </p:cNvPr>
          <p:cNvSpPr/>
          <p:nvPr/>
        </p:nvSpPr>
        <p:spPr>
          <a:xfrm>
            <a:off x="14552840" y="2343150"/>
            <a:ext cx="2592161" cy="257175"/>
          </a:xfrm>
          <a:prstGeom prst="rect">
            <a:avLst/>
          </a:prstGeom>
          <a:noFill/>
          <a:ln/>
        </p:spPr>
        <p:txBody>
          <a:bodyPr wrap="square" lIns="0" tIns="0" rIns="0" bIns="0" rtlCol="0" anchor="t"/>
          <a:lstStyle/>
          <a:p>
            <a:r>
              <a:rPr lang="en-US" sz="1575" b="1" dirty="0">
                <a:solidFill>
                  <a:srgbClr val="1A1A2E"/>
                </a:solidFill>
                <a:latin typeface="Inter" pitchFamily="34" charset="0"/>
                <a:ea typeface="Inter" pitchFamily="34" charset="-122"/>
                <a:cs typeface="Inter" pitchFamily="34" charset="-120"/>
              </a:rPr>
              <a:t>October 2026</a:t>
            </a:r>
            <a:endParaRPr lang="en-US" sz="1575" dirty="0"/>
          </a:p>
        </p:txBody>
      </p:sp>
      <p:sp>
        <p:nvSpPr>
          <p:cNvPr id="37" name="Shape 16">
            <a:extLst>
              <a:ext uri="{FF2B5EF4-FFF2-40B4-BE49-F238E27FC236}">
                <a16:creationId xmlns:a16="http://schemas.microsoft.com/office/drawing/2014/main" id="{BE94439E-711C-2685-1CCC-4E5E3C77A2D5}"/>
              </a:ext>
            </a:extLst>
          </p:cNvPr>
          <p:cNvSpPr/>
          <p:nvPr/>
        </p:nvSpPr>
        <p:spPr>
          <a:xfrm>
            <a:off x="5657850" y="2600325"/>
            <a:ext cx="0" cy="371475"/>
          </a:xfrm>
          <a:prstGeom prst="line">
            <a:avLst/>
          </a:prstGeom>
          <a:noFill/>
          <a:ln w="6350">
            <a:solidFill>
              <a:srgbClr val="E4E1DA"/>
            </a:solidFill>
            <a:prstDash val="solid"/>
          </a:ln>
        </p:spPr>
        <p:txBody>
          <a:bodyPr/>
          <a:lstStyle/>
          <a:p>
            <a:endParaRPr lang="en-IN" sz="2700"/>
          </a:p>
        </p:txBody>
      </p:sp>
      <p:sp>
        <p:nvSpPr>
          <p:cNvPr id="39" name="Text 17">
            <a:extLst>
              <a:ext uri="{FF2B5EF4-FFF2-40B4-BE49-F238E27FC236}">
                <a16:creationId xmlns:a16="http://schemas.microsoft.com/office/drawing/2014/main" id="{BFF3A785-28EC-8B62-CF54-CD1285D06A4F}"/>
              </a:ext>
            </a:extLst>
          </p:cNvPr>
          <p:cNvSpPr/>
          <p:nvPr/>
        </p:nvSpPr>
        <p:spPr>
          <a:xfrm>
            <a:off x="571500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W1
</a:t>
            </a:r>
            <a:r>
              <a:rPr lang="en-US" sz="945" dirty="0">
                <a:solidFill>
                  <a:srgbClr val="9A99A2"/>
                </a:solidFill>
                <a:latin typeface="Inter" pitchFamily="34" charset="0"/>
                <a:ea typeface="Inter" pitchFamily="34" charset="-122"/>
                <a:cs typeface="Inter" pitchFamily="34" charset="-120"/>
              </a:rPr>
              <a:t>Jul 13</a:t>
            </a:r>
            <a:endParaRPr lang="en-US" sz="1050" dirty="0"/>
          </a:p>
        </p:txBody>
      </p:sp>
      <p:sp>
        <p:nvSpPr>
          <p:cNvPr id="41" name="Shape 18">
            <a:extLst>
              <a:ext uri="{FF2B5EF4-FFF2-40B4-BE49-F238E27FC236}">
                <a16:creationId xmlns:a16="http://schemas.microsoft.com/office/drawing/2014/main" id="{B7021ABC-2E43-A311-D809-A197F5119151}"/>
              </a:ext>
            </a:extLst>
          </p:cNvPr>
          <p:cNvSpPr/>
          <p:nvPr/>
        </p:nvSpPr>
        <p:spPr>
          <a:xfrm>
            <a:off x="6423660" y="2600325"/>
            <a:ext cx="0" cy="371475"/>
          </a:xfrm>
          <a:prstGeom prst="line">
            <a:avLst/>
          </a:prstGeom>
          <a:noFill/>
          <a:ln w="6350">
            <a:solidFill>
              <a:srgbClr val="E4E1DA"/>
            </a:solidFill>
            <a:prstDash val="solid"/>
          </a:ln>
        </p:spPr>
        <p:txBody>
          <a:bodyPr/>
          <a:lstStyle/>
          <a:p>
            <a:endParaRPr lang="en-IN" sz="2700"/>
          </a:p>
        </p:txBody>
      </p:sp>
      <p:sp>
        <p:nvSpPr>
          <p:cNvPr id="43" name="Text 19">
            <a:extLst>
              <a:ext uri="{FF2B5EF4-FFF2-40B4-BE49-F238E27FC236}">
                <a16:creationId xmlns:a16="http://schemas.microsoft.com/office/drawing/2014/main" id="{C80BB29D-3395-54E6-E322-1898FDEFB57F}"/>
              </a:ext>
            </a:extLst>
          </p:cNvPr>
          <p:cNvSpPr/>
          <p:nvPr/>
        </p:nvSpPr>
        <p:spPr>
          <a:xfrm>
            <a:off x="648081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W2
</a:t>
            </a:r>
            <a:r>
              <a:rPr lang="en-US" sz="945" dirty="0">
                <a:solidFill>
                  <a:srgbClr val="9A99A2"/>
                </a:solidFill>
                <a:latin typeface="Inter" pitchFamily="34" charset="0"/>
                <a:ea typeface="Inter" pitchFamily="34" charset="-122"/>
                <a:cs typeface="Inter" pitchFamily="34" charset="-120"/>
              </a:rPr>
              <a:t>Jul 20</a:t>
            </a:r>
            <a:endParaRPr lang="en-US" sz="1050" dirty="0"/>
          </a:p>
        </p:txBody>
      </p:sp>
      <p:sp>
        <p:nvSpPr>
          <p:cNvPr id="45" name="Shape 20">
            <a:extLst>
              <a:ext uri="{FF2B5EF4-FFF2-40B4-BE49-F238E27FC236}">
                <a16:creationId xmlns:a16="http://schemas.microsoft.com/office/drawing/2014/main" id="{9A0EE239-85B1-6E2B-DF33-3515920A2300}"/>
              </a:ext>
            </a:extLst>
          </p:cNvPr>
          <p:cNvSpPr/>
          <p:nvPr/>
        </p:nvSpPr>
        <p:spPr>
          <a:xfrm>
            <a:off x="7189470" y="2600325"/>
            <a:ext cx="0" cy="371475"/>
          </a:xfrm>
          <a:prstGeom prst="line">
            <a:avLst/>
          </a:prstGeom>
          <a:noFill/>
          <a:ln w="6350">
            <a:solidFill>
              <a:srgbClr val="E4E1DA"/>
            </a:solidFill>
            <a:prstDash val="solid"/>
          </a:ln>
        </p:spPr>
        <p:txBody>
          <a:bodyPr/>
          <a:lstStyle/>
          <a:p>
            <a:endParaRPr lang="en-IN" sz="2700"/>
          </a:p>
        </p:txBody>
      </p:sp>
      <p:sp>
        <p:nvSpPr>
          <p:cNvPr id="47" name="Text 21">
            <a:extLst>
              <a:ext uri="{FF2B5EF4-FFF2-40B4-BE49-F238E27FC236}">
                <a16:creationId xmlns:a16="http://schemas.microsoft.com/office/drawing/2014/main" id="{0C5A9320-7B87-981D-D9C6-17D11A3E6A6E}"/>
              </a:ext>
            </a:extLst>
          </p:cNvPr>
          <p:cNvSpPr/>
          <p:nvPr/>
        </p:nvSpPr>
        <p:spPr>
          <a:xfrm>
            <a:off x="724662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W3
</a:t>
            </a:r>
            <a:r>
              <a:rPr lang="en-US" sz="945" dirty="0">
                <a:solidFill>
                  <a:srgbClr val="9A99A2"/>
                </a:solidFill>
                <a:latin typeface="Inter" pitchFamily="34" charset="0"/>
                <a:ea typeface="Inter" pitchFamily="34" charset="-122"/>
                <a:cs typeface="Inter" pitchFamily="34" charset="-120"/>
              </a:rPr>
              <a:t>Jul 27</a:t>
            </a:r>
            <a:endParaRPr lang="en-US" sz="1050" dirty="0"/>
          </a:p>
        </p:txBody>
      </p:sp>
      <p:sp>
        <p:nvSpPr>
          <p:cNvPr id="49" name="Shape 22">
            <a:extLst>
              <a:ext uri="{FF2B5EF4-FFF2-40B4-BE49-F238E27FC236}">
                <a16:creationId xmlns:a16="http://schemas.microsoft.com/office/drawing/2014/main" id="{33805388-70DD-6272-A46B-1686895AF8E4}"/>
              </a:ext>
            </a:extLst>
          </p:cNvPr>
          <p:cNvSpPr/>
          <p:nvPr/>
        </p:nvSpPr>
        <p:spPr>
          <a:xfrm>
            <a:off x="7955280" y="2600325"/>
            <a:ext cx="0" cy="371475"/>
          </a:xfrm>
          <a:prstGeom prst="line">
            <a:avLst/>
          </a:prstGeom>
          <a:noFill/>
          <a:ln w="6350">
            <a:solidFill>
              <a:srgbClr val="E4E1DA"/>
            </a:solidFill>
            <a:prstDash val="solid"/>
          </a:ln>
        </p:spPr>
        <p:txBody>
          <a:bodyPr/>
          <a:lstStyle/>
          <a:p>
            <a:endParaRPr lang="en-IN" sz="2700"/>
          </a:p>
        </p:txBody>
      </p:sp>
      <p:sp>
        <p:nvSpPr>
          <p:cNvPr id="51" name="Text 23">
            <a:extLst>
              <a:ext uri="{FF2B5EF4-FFF2-40B4-BE49-F238E27FC236}">
                <a16:creationId xmlns:a16="http://schemas.microsoft.com/office/drawing/2014/main" id="{A8334765-FABC-566B-84F4-BCB66E20C1EE}"/>
              </a:ext>
            </a:extLst>
          </p:cNvPr>
          <p:cNvSpPr/>
          <p:nvPr/>
        </p:nvSpPr>
        <p:spPr>
          <a:xfrm>
            <a:off x="801243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W4
</a:t>
            </a:r>
            <a:r>
              <a:rPr lang="en-US" sz="945" dirty="0">
                <a:solidFill>
                  <a:srgbClr val="9A99A2"/>
                </a:solidFill>
                <a:latin typeface="Inter" pitchFamily="34" charset="0"/>
                <a:ea typeface="Inter" pitchFamily="34" charset="-122"/>
                <a:cs typeface="Inter" pitchFamily="34" charset="-120"/>
              </a:rPr>
              <a:t>Aug 3</a:t>
            </a:r>
            <a:endParaRPr lang="en-US" sz="1050" dirty="0"/>
          </a:p>
        </p:txBody>
      </p:sp>
      <p:sp>
        <p:nvSpPr>
          <p:cNvPr id="53" name="Shape 24">
            <a:extLst>
              <a:ext uri="{FF2B5EF4-FFF2-40B4-BE49-F238E27FC236}">
                <a16:creationId xmlns:a16="http://schemas.microsoft.com/office/drawing/2014/main" id="{EAC093E2-55C0-C39B-58E4-C9CD2B5DBE5D}"/>
              </a:ext>
            </a:extLst>
          </p:cNvPr>
          <p:cNvSpPr/>
          <p:nvPr/>
        </p:nvSpPr>
        <p:spPr>
          <a:xfrm>
            <a:off x="8721090" y="2600325"/>
            <a:ext cx="0" cy="371475"/>
          </a:xfrm>
          <a:prstGeom prst="line">
            <a:avLst/>
          </a:prstGeom>
          <a:noFill/>
          <a:ln w="6350">
            <a:solidFill>
              <a:srgbClr val="E4E1DA"/>
            </a:solidFill>
            <a:prstDash val="solid"/>
          </a:ln>
        </p:spPr>
        <p:txBody>
          <a:bodyPr/>
          <a:lstStyle/>
          <a:p>
            <a:endParaRPr lang="en-IN" sz="2700"/>
          </a:p>
        </p:txBody>
      </p:sp>
      <p:sp>
        <p:nvSpPr>
          <p:cNvPr id="55" name="Text 25">
            <a:extLst>
              <a:ext uri="{FF2B5EF4-FFF2-40B4-BE49-F238E27FC236}">
                <a16:creationId xmlns:a16="http://schemas.microsoft.com/office/drawing/2014/main" id="{8F93FA01-653C-3737-35ED-D4DD0EE29187}"/>
              </a:ext>
            </a:extLst>
          </p:cNvPr>
          <p:cNvSpPr/>
          <p:nvPr/>
        </p:nvSpPr>
        <p:spPr>
          <a:xfrm>
            <a:off x="877824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W5
</a:t>
            </a:r>
            <a:r>
              <a:rPr lang="en-US" sz="945" dirty="0">
                <a:solidFill>
                  <a:srgbClr val="9A99A2"/>
                </a:solidFill>
                <a:latin typeface="Inter" pitchFamily="34" charset="0"/>
                <a:ea typeface="Inter" pitchFamily="34" charset="-122"/>
                <a:cs typeface="Inter" pitchFamily="34" charset="-120"/>
              </a:rPr>
              <a:t>Aug 10</a:t>
            </a:r>
            <a:endParaRPr lang="en-US" sz="1050" dirty="0"/>
          </a:p>
        </p:txBody>
      </p:sp>
      <p:sp>
        <p:nvSpPr>
          <p:cNvPr id="57" name="Shape 26">
            <a:extLst>
              <a:ext uri="{FF2B5EF4-FFF2-40B4-BE49-F238E27FC236}">
                <a16:creationId xmlns:a16="http://schemas.microsoft.com/office/drawing/2014/main" id="{EDAEADAF-2C04-4DC6-D41E-E25EA6A6FBBC}"/>
              </a:ext>
            </a:extLst>
          </p:cNvPr>
          <p:cNvSpPr/>
          <p:nvPr/>
        </p:nvSpPr>
        <p:spPr>
          <a:xfrm>
            <a:off x="9486900" y="2600325"/>
            <a:ext cx="0" cy="371475"/>
          </a:xfrm>
          <a:prstGeom prst="line">
            <a:avLst/>
          </a:prstGeom>
          <a:noFill/>
          <a:ln w="6350">
            <a:solidFill>
              <a:srgbClr val="E4E1DA"/>
            </a:solidFill>
            <a:prstDash val="solid"/>
          </a:ln>
        </p:spPr>
        <p:txBody>
          <a:bodyPr/>
          <a:lstStyle/>
          <a:p>
            <a:endParaRPr lang="en-IN" sz="2700"/>
          </a:p>
        </p:txBody>
      </p:sp>
      <p:sp>
        <p:nvSpPr>
          <p:cNvPr id="59" name="Text 27">
            <a:extLst>
              <a:ext uri="{FF2B5EF4-FFF2-40B4-BE49-F238E27FC236}">
                <a16:creationId xmlns:a16="http://schemas.microsoft.com/office/drawing/2014/main" id="{F1AF7957-B41E-A8AF-6B57-1D2230FD0BF8}"/>
              </a:ext>
            </a:extLst>
          </p:cNvPr>
          <p:cNvSpPr/>
          <p:nvPr/>
        </p:nvSpPr>
        <p:spPr>
          <a:xfrm>
            <a:off x="954405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W6
</a:t>
            </a:r>
            <a:r>
              <a:rPr lang="en-US" sz="945" dirty="0">
                <a:solidFill>
                  <a:srgbClr val="9A99A2"/>
                </a:solidFill>
                <a:latin typeface="Inter" pitchFamily="34" charset="0"/>
                <a:ea typeface="Inter" pitchFamily="34" charset="-122"/>
                <a:cs typeface="Inter" pitchFamily="34" charset="-120"/>
              </a:rPr>
              <a:t>Aug 17</a:t>
            </a:r>
            <a:endParaRPr lang="en-US" sz="1050" dirty="0"/>
          </a:p>
        </p:txBody>
      </p:sp>
      <p:sp>
        <p:nvSpPr>
          <p:cNvPr id="61" name="Shape 28">
            <a:extLst>
              <a:ext uri="{FF2B5EF4-FFF2-40B4-BE49-F238E27FC236}">
                <a16:creationId xmlns:a16="http://schemas.microsoft.com/office/drawing/2014/main" id="{4BFFFB16-2C85-5C49-18EB-7D27B4BF9980}"/>
              </a:ext>
            </a:extLst>
          </p:cNvPr>
          <p:cNvSpPr/>
          <p:nvPr/>
        </p:nvSpPr>
        <p:spPr>
          <a:xfrm>
            <a:off x="10252710" y="2600325"/>
            <a:ext cx="0" cy="371475"/>
          </a:xfrm>
          <a:prstGeom prst="line">
            <a:avLst/>
          </a:prstGeom>
          <a:noFill/>
          <a:ln w="6350">
            <a:solidFill>
              <a:srgbClr val="E4E1DA"/>
            </a:solidFill>
            <a:prstDash val="solid"/>
          </a:ln>
        </p:spPr>
        <p:txBody>
          <a:bodyPr/>
          <a:lstStyle/>
          <a:p>
            <a:endParaRPr lang="en-IN" sz="2700"/>
          </a:p>
        </p:txBody>
      </p:sp>
      <p:sp>
        <p:nvSpPr>
          <p:cNvPr id="63" name="Text 29">
            <a:extLst>
              <a:ext uri="{FF2B5EF4-FFF2-40B4-BE49-F238E27FC236}">
                <a16:creationId xmlns:a16="http://schemas.microsoft.com/office/drawing/2014/main" id="{3B5C9035-802B-4E4C-6304-2D007018C86D}"/>
              </a:ext>
            </a:extLst>
          </p:cNvPr>
          <p:cNvSpPr/>
          <p:nvPr/>
        </p:nvSpPr>
        <p:spPr>
          <a:xfrm>
            <a:off x="1030986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W7
</a:t>
            </a:r>
            <a:r>
              <a:rPr lang="en-US" sz="945" dirty="0">
                <a:solidFill>
                  <a:srgbClr val="9A99A2"/>
                </a:solidFill>
                <a:latin typeface="Inter" pitchFamily="34" charset="0"/>
                <a:ea typeface="Inter" pitchFamily="34" charset="-122"/>
                <a:cs typeface="Inter" pitchFamily="34" charset="-120"/>
              </a:rPr>
              <a:t>Aug 24</a:t>
            </a:r>
            <a:endParaRPr lang="en-US" sz="1050" dirty="0"/>
          </a:p>
        </p:txBody>
      </p:sp>
      <p:sp>
        <p:nvSpPr>
          <p:cNvPr id="65" name="Shape 30">
            <a:extLst>
              <a:ext uri="{FF2B5EF4-FFF2-40B4-BE49-F238E27FC236}">
                <a16:creationId xmlns:a16="http://schemas.microsoft.com/office/drawing/2014/main" id="{9A7639AE-C539-2E2B-4508-EBEA64310948}"/>
              </a:ext>
            </a:extLst>
          </p:cNvPr>
          <p:cNvSpPr/>
          <p:nvPr/>
        </p:nvSpPr>
        <p:spPr>
          <a:xfrm>
            <a:off x="11018520" y="2600325"/>
            <a:ext cx="0" cy="371475"/>
          </a:xfrm>
          <a:prstGeom prst="line">
            <a:avLst/>
          </a:prstGeom>
          <a:noFill/>
          <a:ln w="6350">
            <a:solidFill>
              <a:srgbClr val="E4E1DA"/>
            </a:solidFill>
            <a:prstDash val="solid"/>
          </a:ln>
        </p:spPr>
        <p:txBody>
          <a:bodyPr/>
          <a:lstStyle/>
          <a:p>
            <a:endParaRPr lang="en-IN" sz="2700"/>
          </a:p>
        </p:txBody>
      </p:sp>
      <p:sp>
        <p:nvSpPr>
          <p:cNvPr id="67" name="Text 31">
            <a:extLst>
              <a:ext uri="{FF2B5EF4-FFF2-40B4-BE49-F238E27FC236}">
                <a16:creationId xmlns:a16="http://schemas.microsoft.com/office/drawing/2014/main" id="{38E434C8-045E-E0DC-AA4A-7497D756761E}"/>
              </a:ext>
            </a:extLst>
          </p:cNvPr>
          <p:cNvSpPr/>
          <p:nvPr/>
        </p:nvSpPr>
        <p:spPr>
          <a:xfrm>
            <a:off x="1107567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W8
</a:t>
            </a:r>
            <a:r>
              <a:rPr lang="en-US" sz="945" dirty="0">
                <a:solidFill>
                  <a:srgbClr val="9A99A2"/>
                </a:solidFill>
                <a:latin typeface="Inter" pitchFamily="34" charset="0"/>
                <a:ea typeface="Inter" pitchFamily="34" charset="-122"/>
                <a:cs typeface="Inter" pitchFamily="34" charset="-120"/>
              </a:rPr>
              <a:t>Aug 31</a:t>
            </a:r>
            <a:endParaRPr lang="en-US" sz="1050" dirty="0"/>
          </a:p>
        </p:txBody>
      </p:sp>
      <p:sp>
        <p:nvSpPr>
          <p:cNvPr id="69" name="Shape 32">
            <a:extLst>
              <a:ext uri="{FF2B5EF4-FFF2-40B4-BE49-F238E27FC236}">
                <a16:creationId xmlns:a16="http://schemas.microsoft.com/office/drawing/2014/main" id="{9671A5EE-C68A-F2B1-3A8B-65966114B542}"/>
              </a:ext>
            </a:extLst>
          </p:cNvPr>
          <p:cNvSpPr/>
          <p:nvPr/>
        </p:nvSpPr>
        <p:spPr>
          <a:xfrm>
            <a:off x="11784330" y="2600325"/>
            <a:ext cx="0" cy="371475"/>
          </a:xfrm>
          <a:prstGeom prst="line">
            <a:avLst/>
          </a:prstGeom>
          <a:noFill/>
          <a:ln w="6350">
            <a:solidFill>
              <a:srgbClr val="E4E1DA"/>
            </a:solidFill>
            <a:prstDash val="solid"/>
          </a:ln>
        </p:spPr>
        <p:txBody>
          <a:bodyPr/>
          <a:lstStyle/>
          <a:p>
            <a:endParaRPr lang="en-IN" sz="2700"/>
          </a:p>
        </p:txBody>
      </p:sp>
      <p:sp>
        <p:nvSpPr>
          <p:cNvPr id="71" name="Text 33">
            <a:extLst>
              <a:ext uri="{FF2B5EF4-FFF2-40B4-BE49-F238E27FC236}">
                <a16:creationId xmlns:a16="http://schemas.microsoft.com/office/drawing/2014/main" id="{399F6A6E-EE64-39D6-26B4-8DB86BA955D3}"/>
              </a:ext>
            </a:extLst>
          </p:cNvPr>
          <p:cNvSpPr/>
          <p:nvPr/>
        </p:nvSpPr>
        <p:spPr>
          <a:xfrm>
            <a:off x="1184148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W9
</a:t>
            </a:r>
            <a:r>
              <a:rPr lang="en-US" sz="945" dirty="0">
                <a:solidFill>
                  <a:srgbClr val="9A99A2"/>
                </a:solidFill>
                <a:latin typeface="Inter" pitchFamily="34" charset="0"/>
                <a:ea typeface="Inter" pitchFamily="34" charset="-122"/>
                <a:cs typeface="Inter" pitchFamily="34" charset="-120"/>
              </a:rPr>
              <a:t>Sep 7</a:t>
            </a:r>
            <a:endParaRPr lang="en-US" sz="1050" dirty="0"/>
          </a:p>
        </p:txBody>
      </p:sp>
      <p:sp>
        <p:nvSpPr>
          <p:cNvPr id="73" name="Shape 34">
            <a:extLst>
              <a:ext uri="{FF2B5EF4-FFF2-40B4-BE49-F238E27FC236}">
                <a16:creationId xmlns:a16="http://schemas.microsoft.com/office/drawing/2014/main" id="{AEEEBE6F-BDB5-D324-34F5-94CB82ABE3F2}"/>
              </a:ext>
            </a:extLst>
          </p:cNvPr>
          <p:cNvSpPr/>
          <p:nvPr/>
        </p:nvSpPr>
        <p:spPr>
          <a:xfrm>
            <a:off x="12550140" y="2600325"/>
            <a:ext cx="0" cy="371475"/>
          </a:xfrm>
          <a:prstGeom prst="line">
            <a:avLst/>
          </a:prstGeom>
          <a:noFill/>
          <a:ln w="6350">
            <a:solidFill>
              <a:srgbClr val="E4E1DA"/>
            </a:solidFill>
            <a:prstDash val="solid"/>
          </a:ln>
        </p:spPr>
        <p:txBody>
          <a:bodyPr/>
          <a:lstStyle/>
          <a:p>
            <a:endParaRPr lang="en-IN" sz="2700"/>
          </a:p>
        </p:txBody>
      </p:sp>
      <p:sp>
        <p:nvSpPr>
          <p:cNvPr id="75" name="Text 35">
            <a:extLst>
              <a:ext uri="{FF2B5EF4-FFF2-40B4-BE49-F238E27FC236}">
                <a16:creationId xmlns:a16="http://schemas.microsoft.com/office/drawing/2014/main" id="{CA412A02-83CC-858C-85AC-D05EC19120D5}"/>
              </a:ext>
            </a:extLst>
          </p:cNvPr>
          <p:cNvSpPr/>
          <p:nvPr/>
        </p:nvSpPr>
        <p:spPr>
          <a:xfrm>
            <a:off x="1260729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W10
</a:t>
            </a:r>
            <a:r>
              <a:rPr lang="en-US" sz="945" dirty="0">
                <a:solidFill>
                  <a:srgbClr val="9A99A2"/>
                </a:solidFill>
                <a:latin typeface="Inter" pitchFamily="34" charset="0"/>
                <a:ea typeface="Inter" pitchFamily="34" charset="-122"/>
                <a:cs typeface="Inter" pitchFamily="34" charset="-120"/>
              </a:rPr>
              <a:t>Sep 14</a:t>
            </a:r>
            <a:endParaRPr lang="en-US" sz="1050" dirty="0"/>
          </a:p>
        </p:txBody>
      </p:sp>
      <p:sp>
        <p:nvSpPr>
          <p:cNvPr id="77" name="Shape 36">
            <a:extLst>
              <a:ext uri="{FF2B5EF4-FFF2-40B4-BE49-F238E27FC236}">
                <a16:creationId xmlns:a16="http://schemas.microsoft.com/office/drawing/2014/main" id="{BFC60BD3-7709-4897-F584-C8C89541E11D}"/>
              </a:ext>
            </a:extLst>
          </p:cNvPr>
          <p:cNvSpPr/>
          <p:nvPr/>
        </p:nvSpPr>
        <p:spPr>
          <a:xfrm>
            <a:off x="13315950" y="2600325"/>
            <a:ext cx="0" cy="371475"/>
          </a:xfrm>
          <a:prstGeom prst="line">
            <a:avLst/>
          </a:prstGeom>
          <a:noFill/>
          <a:ln w="6350">
            <a:solidFill>
              <a:srgbClr val="E4E1DA"/>
            </a:solidFill>
            <a:prstDash val="solid"/>
          </a:ln>
        </p:spPr>
        <p:txBody>
          <a:bodyPr/>
          <a:lstStyle/>
          <a:p>
            <a:endParaRPr lang="en-IN" sz="2700"/>
          </a:p>
        </p:txBody>
      </p:sp>
      <p:sp>
        <p:nvSpPr>
          <p:cNvPr id="79" name="Text 37">
            <a:extLst>
              <a:ext uri="{FF2B5EF4-FFF2-40B4-BE49-F238E27FC236}">
                <a16:creationId xmlns:a16="http://schemas.microsoft.com/office/drawing/2014/main" id="{E2F86BAA-B76C-365B-1E22-A18B206FA8CA}"/>
              </a:ext>
            </a:extLst>
          </p:cNvPr>
          <p:cNvSpPr/>
          <p:nvPr/>
        </p:nvSpPr>
        <p:spPr>
          <a:xfrm>
            <a:off x="1337310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W11
</a:t>
            </a:r>
            <a:r>
              <a:rPr lang="en-US" sz="945" dirty="0">
                <a:solidFill>
                  <a:srgbClr val="9A99A2"/>
                </a:solidFill>
                <a:latin typeface="Inter" pitchFamily="34" charset="0"/>
                <a:ea typeface="Inter" pitchFamily="34" charset="-122"/>
                <a:cs typeface="Inter" pitchFamily="34" charset="-120"/>
              </a:rPr>
              <a:t>Sep 21</a:t>
            </a:r>
            <a:endParaRPr lang="en-US" sz="1050" dirty="0"/>
          </a:p>
        </p:txBody>
      </p:sp>
      <p:sp>
        <p:nvSpPr>
          <p:cNvPr id="81" name="Shape 38">
            <a:extLst>
              <a:ext uri="{FF2B5EF4-FFF2-40B4-BE49-F238E27FC236}">
                <a16:creationId xmlns:a16="http://schemas.microsoft.com/office/drawing/2014/main" id="{2FA859C6-66E8-61D8-A0D5-9E7753EFCB00}"/>
              </a:ext>
            </a:extLst>
          </p:cNvPr>
          <p:cNvSpPr/>
          <p:nvPr/>
        </p:nvSpPr>
        <p:spPr>
          <a:xfrm>
            <a:off x="14081760" y="2600325"/>
            <a:ext cx="0" cy="371475"/>
          </a:xfrm>
          <a:prstGeom prst="line">
            <a:avLst/>
          </a:prstGeom>
          <a:noFill/>
          <a:ln w="6350">
            <a:solidFill>
              <a:srgbClr val="E4E1DA"/>
            </a:solidFill>
            <a:prstDash val="solid"/>
          </a:ln>
        </p:spPr>
        <p:txBody>
          <a:bodyPr/>
          <a:lstStyle/>
          <a:p>
            <a:endParaRPr lang="en-IN" sz="2700"/>
          </a:p>
        </p:txBody>
      </p:sp>
      <p:sp>
        <p:nvSpPr>
          <p:cNvPr id="83" name="Text 39">
            <a:extLst>
              <a:ext uri="{FF2B5EF4-FFF2-40B4-BE49-F238E27FC236}">
                <a16:creationId xmlns:a16="http://schemas.microsoft.com/office/drawing/2014/main" id="{FCB4FF7D-BB9A-20C9-B655-780AF886E9A6}"/>
              </a:ext>
            </a:extLst>
          </p:cNvPr>
          <p:cNvSpPr/>
          <p:nvPr/>
        </p:nvSpPr>
        <p:spPr>
          <a:xfrm>
            <a:off x="1413891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W12
</a:t>
            </a:r>
            <a:r>
              <a:rPr lang="en-US" sz="945" dirty="0">
                <a:solidFill>
                  <a:srgbClr val="9A99A2"/>
                </a:solidFill>
                <a:latin typeface="Inter" pitchFamily="34" charset="0"/>
                <a:ea typeface="Inter" pitchFamily="34" charset="-122"/>
                <a:cs typeface="Inter" pitchFamily="34" charset="-120"/>
              </a:rPr>
              <a:t>Sep 28</a:t>
            </a:r>
            <a:endParaRPr lang="en-US" sz="1050" dirty="0"/>
          </a:p>
        </p:txBody>
      </p:sp>
      <p:sp>
        <p:nvSpPr>
          <p:cNvPr id="85" name="Shape 40">
            <a:extLst>
              <a:ext uri="{FF2B5EF4-FFF2-40B4-BE49-F238E27FC236}">
                <a16:creationId xmlns:a16="http://schemas.microsoft.com/office/drawing/2014/main" id="{B8F255F9-EF81-4472-AE19-FDC172B2A703}"/>
              </a:ext>
            </a:extLst>
          </p:cNvPr>
          <p:cNvSpPr/>
          <p:nvPr/>
        </p:nvSpPr>
        <p:spPr>
          <a:xfrm>
            <a:off x="14847570" y="2600325"/>
            <a:ext cx="0" cy="371475"/>
          </a:xfrm>
          <a:prstGeom prst="line">
            <a:avLst/>
          </a:prstGeom>
          <a:noFill/>
          <a:ln w="6350">
            <a:solidFill>
              <a:srgbClr val="E4E1DA"/>
            </a:solidFill>
            <a:prstDash val="solid"/>
          </a:ln>
        </p:spPr>
        <p:txBody>
          <a:bodyPr/>
          <a:lstStyle/>
          <a:p>
            <a:endParaRPr lang="en-IN" sz="2700"/>
          </a:p>
        </p:txBody>
      </p:sp>
      <p:sp>
        <p:nvSpPr>
          <p:cNvPr id="87" name="Text 41">
            <a:extLst>
              <a:ext uri="{FF2B5EF4-FFF2-40B4-BE49-F238E27FC236}">
                <a16:creationId xmlns:a16="http://schemas.microsoft.com/office/drawing/2014/main" id="{F75FF6B4-24B3-F887-6877-F86BD7C7C3A6}"/>
              </a:ext>
            </a:extLst>
          </p:cNvPr>
          <p:cNvSpPr/>
          <p:nvPr/>
        </p:nvSpPr>
        <p:spPr>
          <a:xfrm>
            <a:off x="1490472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W13
</a:t>
            </a:r>
            <a:r>
              <a:rPr lang="en-US" sz="945" dirty="0">
                <a:solidFill>
                  <a:srgbClr val="9A99A2"/>
                </a:solidFill>
                <a:latin typeface="Inter" pitchFamily="34" charset="0"/>
                <a:ea typeface="Inter" pitchFamily="34" charset="-122"/>
                <a:cs typeface="Inter" pitchFamily="34" charset="-120"/>
              </a:rPr>
              <a:t>Oct 5</a:t>
            </a:r>
            <a:endParaRPr lang="en-US" sz="1050" dirty="0"/>
          </a:p>
        </p:txBody>
      </p:sp>
      <p:sp>
        <p:nvSpPr>
          <p:cNvPr id="89" name="Shape 42">
            <a:extLst>
              <a:ext uri="{FF2B5EF4-FFF2-40B4-BE49-F238E27FC236}">
                <a16:creationId xmlns:a16="http://schemas.microsoft.com/office/drawing/2014/main" id="{72339A8D-2CA8-A999-CAF1-8BF86874FCB8}"/>
              </a:ext>
            </a:extLst>
          </p:cNvPr>
          <p:cNvSpPr/>
          <p:nvPr/>
        </p:nvSpPr>
        <p:spPr>
          <a:xfrm>
            <a:off x="15613380" y="2600325"/>
            <a:ext cx="0" cy="371475"/>
          </a:xfrm>
          <a:prstGeom prst="line">
            <a:avLst/>
          </a:prstGeom>
          <a:noFill/>
          <a:ln w="6350">
            <a:solidFill>
              <a:srgbClr val="E4E1DA"/>
            </a:solidFill>
            <a:prstDash val="solid"/>
          </a:ln>
        </p:spPr>
        <p:txBody>
          <a:bodyPr/>
          <a:lstStyle/>
          <a:p>
            <a:endParaRPr lang="en-IN" sz="2700"/>
          </a:p>
        </p:txBody>
      </p:sp>
      <p:sp>
        <p:nvSpPr>
          <p:cNvPr id="91" name="Text 43">
            <a:extLst>
              <a:ext uri="{FF2B5EF4-FFF2-40B4-BE49-F238E27FC236}">
                <a16:creationId xmlns:a16="http://schemas.microsoft.com/office/drawing/2014/main" id="{E4014BDD-A662-F975-0E85-2F1BD813C502}"/>
              </a:ext>
            </a:extLst>
          </p:cNvPr>
          <p:cNvSpPr/>
          <p:nvPr/>
        </p:nvSpPr>
        <p:spPr>
          <a:xfrm>
            <a:off x="1567053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W14
</a:t>
            </a:r>
            <a:r>
              <a:rPr lang="en-US" sz="945" dirty="0">
                <a:solidFill>
                  <a:srgbClr val="9A99A2"/>
                </a:solidFill>
                <a:latin typeface="Inter" pitchFamily="34" charset="0"/>
                <a:ea typeface="Inter" pitchFamily="34" charset="-122"/>
                <a:cs typeface="Inter" pitchFamily="34" charset="-120"/>
              </a:rPr>
              <a:t>Oct 12</a:t>
            </a:r>
            <a:endParaRPr lang="en-US" sz="1050" dirty="0"/>
          </a:p>
        </p:txBody>
      </p:sp>
      <p:sp>
        <p:nvSpPr>
          <p:cNvPr id="93" name="Shape 44">
            <a:extLst>
              <a:ext uri="{FF2B5EF4-FFF2-40B4-BE49-F238E27FC236}">
                <a16:creationId xmlns:a16="http://schemas.microsoft.com/office/drawing/2014/main" id="{2BD68025-3A1E-4296-A001-D1C985D463C9}"/>
              </a:ext>
            </a:extLst>
          </p:cNvPr>
          <p:cNvSpPr/>
          <p:nvPr/>
        </p:nvSpPr>
        <p:spPr>
          <a:xfrm>
            <a:off x="16379190" y="2600325"/>
            <a:ext cx="0" cy="371475"/>
          </a:xfrm>
          <a:prstGeom prst="line">
            <a:avLst/>
          </a:prstGeom>
          <a:noFill/>
          <a:ln w="6350">
            <a:solidFill>
              <a:srgbClr val="E4E1DA"/>
            </a:solidFill>
            <a:prstDash val="solid"/>
          </a:ln>
        </p:spPr>
        <p:txBody>
          <a:bodyPr/>
          <a:lstStyle/>
          <a:p>
            <a:endParaRPr lang="en-IN" sz="2700"/>
          </a:p>
        </p:txBody>
      </p:sp>
      <p:sp>
        <p:nvSpPr>
          <p:cNvPr id="95" name="Text 45">
            <a:extLst>
              <a:ext uri="{FF2B5EF4-FFF2-40B4-BE49-F238E27FC236}">
                <a16:creationId xmlns:a16="http://schemas.microsoft.com/office/drawing/2014/main" id="{7A36282C-A70F-FCAC-9D12-F33AF436D202}"/>
              </a:ext>
            </a:extLst>
          </p:cNvPr>
          <p:cNvSpPr/>
          <p:nvPr/>
        </p:nvSpPr>
        <p:spPr>
          <a:xfrm>
            <a:off x="16436340" y="2600325"/>
            <a:ext cx="708660" cy="371475"/>
          </a:xfrm>
          <a:prstGeom prst="rect">
            <a:avLst/>
          </a:prstGeom>
          <a:noFill/>
          <a:ln/>
        </p:spPr>
        <p:txBody>
          <a:bodyPr wrap="square" lIns="0" tIns="0" rIns="0" bIns="0" rtlCol="0" anchor="t"/>
          <a:lstStyle/>
          <a:p>
            <a:pPr>
              <a:lnSpc>
                <a:spcPct val="105000"/>
              </a:lnSpc>
            </a:pPr>
            <a:r>
              <a:rPr lang="en-US" sz="1050" dirty="0">
                <a:solidFill>
                  <a:srgbClr val="9A99A2"/>
                </a:solidFill>
                <a:latin typeface="Inter" pitchFamily="34" charset="0"/>
                <a:ea typeface="Inter" pitchFamily="34" charset="-122"/>
                <a:cs typeface="Inter" pitchFamily="34" charset="-120"/>
              </a:rPr>
              <a:t>W15
</a:t>
            </a:r>
            <a:r>
              <a:rPr lang="en-US" sz="945" dirty="0">
                <a:solidFill>
                  <a:srgbClr val="9A99A2"/>
                </a:solidFill>
                <a:latin typeface="Inter" pitchFamily="34" charset="0"/>
                <a:ea typeface="Inter" pitchFamily="34" charset="-122"/>
                <a:cs typeface="Inter" pitchFamily="34" charset="-120"/>
              </a:rPr>
              <a:t>Oct 19</a:t>
            </a:r>
            <a:endParaRPr lang="en-US" sz="1050" dirty="0"/>
          </a:p>
        </p:txBody>
      </p:sp>
      <p:sp>
        <p:nvSpPr>
          <p:cNvPr id="97" name="Shape 46">
            <a:extLst>
              <a:ext uri="{FF2B5EF4-FFF2-40B4-BE49-F238E27FC236}">
                <a16:creationId xmlns:a16="http://schemas.microsoft.com/office/drawing/2014/main" id="{9BAFDB4C-A9A6-FC93-D482-046FBC49B3F0}"/>
              </a:ext>
            </a:extLst>
          </p:cNvPr>
          <p:cNvSpPr/>
          <p:nvPr/>
        </p:nvSpPr>
        <p:spPr>
          <a:xfrm>
            <a:off x="5657850" y="2971800"/>
            <a:ext cx="11487150" cy="0"/>
          </a:xfrm>
          <a:prstGeom prst="line">
            <a:avLst/>
          </a:prstGeom>
          <a:noFill/>
          <a:ln w="9525">
            <a:solidFill>
              <a:srgbClr val="D3CFC6"/>
            </a:solidFill>
            <a:prstDash val="solid"/>
          </a:ln>
        </p:spPr>
        <p:txBody>
          <a:bodyPr/>
          <a:lstStyle/>
          <a:p>
            <a:endParaRPr lang="en-IN" sz="2700"/>
          </a:p>
        </p:txBody>
      </p:sp>
      <p:sp>
        <p:nvSpPr>
          <p:cNvPr id="99" name="Shape 47">
            <a:extLst>
              <a:ext uri="{FF2B5EF4-FFF2-40B4-BE49-F238E27FC236}">
                <a16:creationId xmlns:a16="http://schemas.microsoft.com/office/drawing/2014/main" id="{F8D31C30-A502-34B1-70D3-1AE59ABA618B}"/>
              </a:ext>
            </a:extLst>
          </p:cNvPr>
          <p:cNvSpPr/>
          <p:nvPr/>
        </p:nvSpPr>
        <p:spPr>
          <a:xfrm>
            <a:off x="5657850" y="3057525"/>
            <a:ext cx="0" cy="5857875"/>
          </a:xfrm>
          <a:prstGeom prst="line">
            <a:avLst/>
          </a:prstGeom>
          <a:noFill/>
          <a:ln w="6350">
            <a:solidFill>
              <a:srgbClr val="E4E1DA"/>
            </a:solidFill>
            <a:prstDash val="solid"/>
          </a:ln>
        </p:spPr>
        <p:txBody>
          <a:bodyPr/>
          <a:lstStyle/>
          <a:p>
            <a:endParaRPr lang="en-IN" sz="2700"/>
          </a:p>
        </p:txBody>
      </p:sp>
      <p:sp>
        <p:nvSpPr>
          <p:cNvPr id="101" name="Shape 48">
            <a:extLst>
              <a:ext uri="{FF2B5EF4-FFF2-40B4-BE49-F238E27FC236}">
                <a16:creationId xmlns:a16="http://schemas.microsoft.com/office/drawing/2014/main" id="{30EB8B34-2DBC-7370-B570-3A21CA63A72C}"/>
              </a:ext>
            </a:extLst>
          </p:cNvPr>
          <p:cNvSpPr/>
          <p:nvPr/>
        </p:nvSpPr>
        <p:spPr>
          <a:xfrm>
            <a:off x="6423660" y="3057525"/>
            <a:ext cx="0" cy="5857875"/>
          </a:xfrm>
          <a:prstGeom prst="line">
            <a:avLst/>
          </a:prstGeom>
          <a:noFill/>
          <a:ln w="6350">
            <a:solidFill>
              <a:srgbClr val="E4E1DA"/>
            </a:solidFill>
            <a:prstDash val="solid"/>
          </a:ln>
        </p:spPr>
        <p:txBody>
          <a:bodyPr/>
          <a:lstStyle/>
          <a:p>
            <a:endParaRPr lang="en-IN" sz="2700"/>
          </a:p>
        </p:txBody>
      </p:sp>
      <p:sp>
        <p:nvSpPr>
          <p:cNvPr id="103" name="Shape 49">
            <a:extLst>
              <a:ext uri="{FF2B5EF4-FFF2-40B4-BE49-F238E27FC236}">
                <a16:creationId xmlns:a16="http://schemas.microsoft.com/office/drawing/2014/main" id="{D4840274-5AA2-238A-6223-B9218E17B85A}"/>
              </a:ext>
            </a:extLst>
          </p:cNvPr>
          <p:cNvSpPr/>
          <p:nvPr/>
        </p:nvSpPr>
        <p:spPr>
          <a:xfrm>
            <a:off x="7189470" y="3057525"/>
            <a:ext cx="0" cy="5857875"/>
          </a:xfrm>
          <a:prstGeom prst="line">
            <a:avLst/>
          </a:prstGeom>
          <a:noFill/>
          <a:ln w="6350">
            <a:solidFill>
              <a:srgbClr val="E4E1DA"/>
            </a:solidFill>
            <a:prstDash val="solid"/>
          </a:ln>
        </p:spPr>
        <p:txBody>
          <a:bodyPr/>
          <a:lstStyle/>
          <a:p>
            <a:endParaRPr lang="en-IN" sz="2700"/>
          </a:p>
        </p:txBody>
      </p:sp>
      <p:sp>
        <p:nvSpPr>
          <p:cNvPr id="105" name="Shape 50">
            <a:extLst>
              <a:ext uri="{FF2B5EF4-FFF2-40B4-BE49-F238E27FC236}">
                <a16:creationId xmlns:a16="http://schemas.microsoft.com/office/drawing/2014/main" id="{FC05AA36-E0F9-658B-C0F4-B85125B9A878}"/>
              </a:ext>
            </a:extLst>
          </p:cNvPr>
          <p:cNvSpPr/>
          <p:nvPr/>
        </p:nvSpPr>
        <p:spPr>
          <a:xfrm>
            <a:off x="7955280" y="3057525"/>
            <a:ext cx="0" cy="5857875"/>
          </a:xfrm>
          <a:prstGeom prst="line">
            <a:avLst/>
          </a:prstGeom>
          <a:noFill/>
          <a:ln w="6350">
            <a:solidFill>
              <a:srgbClr val="E4E1DA"/>
            </a:solidFill>
            <a:prstDash val="solid"/>
          </a:ln>
        </p:spPr>
        <p:txBody>
          <a:bodyPr/>
          <a:lstStyle/>
          <a:p>
            <a:endParaRPr lang="en-IN" sz="2700"/>
          </a:p>
        </p:txBody>
      </p:sp>
      <p:sp>
        <p:nvSpPr>
          <p:cNvPr id="107" name="Shape 51">
            <a:extLst>
              <a:ext uri="{FF2B5EF4-FFF2-40B4-BE49-F238E27FC236}">
                <a16:creationId xmlns:a16="http://schemas.microsoft.com/office/drawing/2014/main" id="{5553FE03-C6CB-9CAE-4204-0EB074794E26}"/>
              </a:ext>
            </a:extLst>
          </p:cNvPr>
          <p:cNvSpPr/>
          <p:nvPr/>
        </p:nvSpPr>
        <p:spPr>
          <a:xfrm>
            <a:off x="8721090" y="3057525"/>
            <a:ext cx="0" cy="5857875"/>
          </a:xfrm>
          <a:prstGeom prst="line">
            <a:avLst/>
          </a:prstGeom>
          <a:noFill/>
          <a:ln w="6350">
            <a:solidFill>
              <a:srgbClr val="E4E1DA"/>
            </a:solidFill>
            <a:prstDash val="solid"/>
          </a:ln>
        </p:spPr>
        <p:txBody>
          <a:bodyPr/>
          <a:lstStyle/>
          <a:p>
            <a:endParaRPr lang="en-IN" sz="2700"/>
          </a:p>
        </p:txBody>
      </p:sp>
      <p:sp>
        <p:nvSpPr>
          <p:cNvPr id="109" name="Shape 52">
            <a:extLst>
              <a:ext uri="{FF2B5EF4-FFF2-40B4-BE49-F238E27FC236}">
                <a16:creationId xmlns:a16="http://schemas.microsoft.com/office/drawing/2014/main" id="{798AFBD2-FD56-DB70-917E-2DD3BBBB048F}"/>
              </a:ext>
            </a:extLst>
          </p:cNvPr>
          <p:cNvSpPr/>
          <p:nvPr/>
        </p:nvSpPr>
        <p:spPr>
          <a:xfrm>
            <a:off x="9486900" y="3057525"/>
            <a:ext cx="0" cy="5857875"/>
          </a:xfrm>
          <a:prstGeom prst="line">
            <a:avLst/>
          </a:prstGeom>
          <a:noFill/>
          <a:ln w="6350">
            <a:solidFill>
              <a:srgbClr val="E4E1DA"/>
            </a:solidFill>
            <a:prstDash val="solid"/>
          </a:ln>
        </p:spPr>
        <p:txBody>
          <a:bodyPr/>
          <a:lstStyle/>
          <a:p>
            <a:endParaRPr lang="en-IN" sz="2700"/>
          </a:p>
        </p:txBody>
      </p:sp>
      <p:sp>
        <p:nvSpPr>
          <p:cNvPr id="111" name="Shape 53">
            <a:extLst>
              <a:ext uri="{FF2B5EF4-FFF2-40B4-BE49-F238E27FC236}">
                <a16:creationId xmlns:a16="http://schemas.microsoft.com/office/drawing/2014/main" id="{7E425056-64D7-7387-DF14-6DD90E10E5D5}"/>
              </a:ext>
            </a:extLst>
          </p:cNvPr>
          <p:cNvSpPr/>
          <p:nvPr/>
        </p:nvSpPr>
        <p:spPr>
          <a:xfrm>
            <a:off x="10252710" y="3057525"/>
            <a:ext cx="0" cy="5857875"/>
          </a:xfrm>
          <a:prstGeom prst="line">
            <a:avLst/>
          </a:prstGeom>
          <a:noFill/>
          <a:ln w="6350">
            <a:solidFill>
              <a:srgbClr val="E4E1DA"/>
            </a:solidFill>
            <a:prstDash val="solid"/>
          </a:ln>
        </p:spPr>
        <p:txBody>
          <a:bodyPr/>
          <a:lstStyle/>
          <a:p>
            <a:endParaRPr lang="en-IN" sz="2700"/>
          </a:p>
        </p:txBody>
      </p:sp>
      <p:sp>
        <p:nvSpPr>
          <p:cNvPr id="113" name="Shape 54">
            <a:extLst>
              <a:ext uri="{FF2B5EF4-FFF2-40B4-BE49-F238E27FC236}">
                <a16:creationId xmlns:a16="http://schemas.microsoft.com/office/drawing/2014/main" id="{65B7423D-A66E-8841-79CF-B67DD0C3943F}"/>
              </a:ext>
            </a:extLst>
          </p:cNvPr>
          <p:cNvSpPr/>
          <p:nvPr/>
        </p:nvSpPr>
        <p:spPr>
          <a:xfrm>
            <a:off x="11018520" y="3057525"/>
            <a:ext cx="0" cy="5857875"/>
          </a:xfrm>
          <a:prstGeom prst="line">
            <a:avLst/>
          </a:prstGeom>
          <a:noFill/>
          <a:ln w="6350">
            <a:solidFill>
              <a:srgbClr val="E4E1DA"/>
            </a:solidFill>
            <a:prstDash val="solid"/>
          </a:ln>
        </p:spPr>
        <p:txBody>
          <a:bodyPr/>
          <a:lstStyle/>
          <a:p>
            <a:endParaRPr lang="en-IN" sz="2700"/>
          </a:p>
        </p:txBody>
      </p:sp>
      <p:sp>
        <p:nvSpPr>
          <p:cNvPr id="115" name="Shape 55">
            <a:extLst>
              <a:ext uri="{FF2B5EF4-FFF2-40B4-BE49-F238E27FC236}">
                <a16:creationId xmlns:a16="http://schemas.microsoft.com/office/drawing/2014/main" id="{F6B8E290-133E-F692-F377-914B10EDDE22}"/>
              </a:ext>
            </a:extLst>
          </p:cNvPr>
          <p:cNvSpPr/>
          <p:nvPr/>
        </p:nvSpPr>
        <p:spPr>
          <a:xfrm>
            <a:off x="11784330" y="3057525"/>
            <a:ext cx="0" cy="5857875"/>
          </a:xfrm>
          <a:prstGeom prst="line">
            <a:avLst/>
          </a:prstGeom>
          <a:noFill/>
          <a:ln w="6350">
            <a:solidFill>
              <a:srgbClr val="E4E1DA"/>
            </a:solidFill>
            <a:prstDash val="solid"/>
          </a:ln>
        </p:spPr>
        <p:txBody>
          <a:bodyPr/>
          <a:lstStyle/>
          <a:p>
            <a:endParaRPr lang="en-IN" sz="2700"/>
          </a:p>
        </p:txBody>
      </p:sp>
      <p:sp>
        <p:nvSpPr>
          <p:cNvPr id="117" name="Shape 56">
            <a:extLst>
              <a:ext uri="{FF2B5EF4-FFF2-40B4-BE49-F238E27FC236}">
                <a16:creationId xmlns:a16="http://schemas.microsoft.com/office/drawing/2014/main" id="{B5DB5E72-6E8E-92A3-8A75-0DCBB6405F32}"/>
              </a:ext>
            </a:extLst>
          </p:cNvPr>
          <p:cNvSpPr/>
          <p:nvPr/>
        </p:nvSpPr>
        <p:spPr>
          <a:xfrm>
            <a:off x="12550140" y="3057525"/>
            <a:ext cx="0" cy="5857875"/>
          </a:xfrm>
          <a:prstGeom prst="line">
            <a:avLst/>
          </a:prstGeom>
          <a:noFill/>
          <a:ln w="6350">
            <a:solidFill>
              <a:srgbClr val="E4E1DA"/>
            </a:solidFill>
            <a:prstDash val="solid"/>
          </a:ln>
        </p:spPr>
        <p:txBody>
          <a:bodyPr/>
          <a:lstStyle/>
          <a:p>
            <a:endParaRPr lang="en-IN" sz="2700"/>
          </a:p>
        </p:txBody>
      </p:sp>
      <p:sp>
        <p:nvSpPr>
          <p:cNvPr id="119" name="Shape 57">
            <a:extLst>
              <a:ext uri="{FF2B5EF4-FFF2-40B4-BE49-F238E27FC236}">
                <a16:creationId xmlns:a16="http://schemas.microsoft.com/office/drawing/2014/main" id="{7AE1764D-6626-404E-2CC6-371A98F7D869}"/>
              </a:ext>
            </a:extLst>
          </p:cNvPr>
          <p:cNvSpPr/>
          <p:nvPr/>
        </p:nvSpPr>
        <p:spPr>
          <a:xfrm>
            <a:off x="13315950" y="3057525"/>
            <a:ext cx="0" cy="5857875"/>
          </a:xfrm>
          <a:prstGeom prst="line">
            <a:avLst/>
          </a:prstGeom>
          <a:noFill/>
          <a:ln w="6350">
            <a:solidFill>
              <a:srgbClr val="E4E1DA"/>
            </a:solidFill>
            <a:prstDash val="solid"/>
          </a:ln>
        </p:spPr>
        <p:txBody>
          <a:bodyPr/>
          <a:lstStyle/>
          <a:p>
            <a:endParaRPr lang="en-IN" sz="2700"/>
          </a:p>
        </p:txBody>
      </p:sp>
      <p:sp>
        <p:nvSpPr>
          <p:cNvPr id="121" name="Shape 58">
            <a:extLst>
              <a:ext uri="{FF2B5EF4-FFF2-40B4-BE49-F238E27FC236}">
                <a16:creationId xmlns:a16="http://schemas.microsoft.com/office/drawing/2014/main" id="{1A19C30B-2FBC-6D79-588A-E67ED80986B6}"/>
              </a:ext>
            </a:extLst>
          </p:cNvPr>
          <p:cNvSpPr/>
          <p:nvPr/>
        </p:nvSpPr>
        <p:spPr>
          <a:xfrm>
            <a:off x="14081760" y="3057525"/>
            <a:ext cx="0" cy="5857875"/>
          </a:xfrm>
          <a:prstGeom prst="line">
            <a:avLst/>
          </a:prstGeom>
          <a:noFill/>
          <a:ln w="6350">
            <a:solidFill>
              <a:srgbClr val="E4E1DA"/>
            </a:solidFill>
            <a:prstDash val="solid"/>
          </a:ln>
        </p:spPr>
        <p:txBody>
          <a:bodyPr/>
          <a:lstStyle/>
          <a:p>
            <a:endParaRPr lang="en-IN" sz="2700"/>
          </a:p>
        </p:txBody>
      </p:sp>
      <p:sp>
        <p:nvSpPr>
          <p:cNvPr id="123" name="Shape 59">
            <a:extLst>
              <a:ext uri="{FF2B5EF4-FFF2-40B4-BE49-F238E27FC236}">
                <a16:creationId xmlns:a16="http://schemas.microsoft.com/office/drawing/2014/main" id="{DFD68257-08F0-7B01-EDB7-48D8D4BCC7D7}"/>
              </a:ext>
            </a:extLst>
          </p:cNvPr>
          <p:cNvSpPr/>
          <p:nvPr/>
        </p:nvSpPr>
        <p:spPr>
          <a:xfrm>
            <a:off x="14847570" y="3057525"/>
            <a:ext cx="0" cy="5857875"/>
          </a:xfrm>
          <a:prstGeom prst="line">
            <a:avLst/>
          </a:prstGeom>
          <a:noFill/>
          <a:ln w="6350">
            <a:solidFill>
              <a:srgbClr val="E4E1DA"/>
            </a:solidFill>
            <a:prstDash val="solid"/>
          </a:ln>
        </p:spPr>
        <p:txBody>
          <a:bodyPr/>
          <a:lstStyle/>
          <a:p>
            <a:endParaRPr lang="en-IN" sz="2700"/>
          </a:p>
        </p:txBody>
      </p:sp>
      <p:sp>
        <p:nvSpPr>
          <p:cNvPr id="125" name="Shape 60">
            <a:extLst>
              <a:ext uri="{FF2B5EF4-FFF2-40B4-BE49-F238E27FC236}">
                <a16:creationId xmlns:a16="http://schemas.microsoft.com/office/drawing/2014/main" id="{27FB9E35-4DEE-81A6-CCF5-BA65F7409588}"/>
              </a:ext>
            </a:extLst>
          </p:cNvPr>
          <p:cNvSpPr/>
          <p:nvPr/>
        </p:nvSpPr>
        <p:spPr>
          <a:xfrm>
            <a:off x="15613380" y="3057525"/>
            <a:ext cx="0" cy="5857875"/>
          </a:xfrm>
          <a:prstGeom prst="line">
            <a:avLst/>
          </a:prstGeom>
          <a:noFill/>
          <a:ln w="6350">
            <a:solidFill>
              <a:srgbClr val="E4E1DA"/>
            </a:solidFill>
            <a:prstDash val="solid"/>
          </a:ln>
        </p:spPr>
        <p:txBody>
          <a:bodyPr/>
          <a:lstStyle/>
          <a:p>
            <a:endParaRPr lang="en-IN" sz="2700"/>
          </a:p>
        </p:txBody>
      </p:sp>
      <p:sp>
        <p:nvSpPr>
          <p:cNvPr id="127" name="Shape 61">
            <a:extLst>
              <a:ext uri="{FF2B5EF4-FFF2-40B4-BE49-F238E27FC236}">
                <a16:creationId xmlns:a16="http://schemas.microsoft.com/office/drawing/2014/main" id="{AD9DC198-FFE4-DB67-B540-110C9F261361}"/>
              </a:ext>
            </a:extLst>
          </p:cNvPr>
          <p:cNvSpPr/>
          <p:nvPr/>
        </p:nvSpPr>
        <p:spPr>
          <a:xfrm>
            <a:off x="16379190" y="3057525"/>
            <a:ext cx="0" cy="5857875"/>
          </a:xfrm>
          <a:prstGeom prst="line">
            <a:avLst/>
          </a:prstGeom>
          <a:noFill/>
          <a:ln w="6350">
            <a:solidFill>
              <a:srgbClr val="E4E1DA"/>
            </a:solidFill>
            <a:prstDash val="solid"/>
          </a:ln>
        </p:spPr>
        <p:txBody>
          <a:bodyPr/>
          <a:lstStyle/>
          <a:p>
            <a:endParaRPr lang="en-IN" sz="2700"/>
          </a:p>
        </p:txBody>
      </p:sp>
      <p:sp>
        <p:nvSpPr>
          <p:cNvPr id="129" name="Shape 62">
            <a:extLst>
              <a:ext uri="{FF2B5EF4-FFF2-40B4-BE49-F238E27FC236}">
                <a16:creationId xmlns:a16="http://schemas.microsoft.com/office/drawing/2014/main" id="{0113ECE5-C6BE-DB50-51A8-FF701B272010}"/>
              </a:ext>
            </a:extLst>
          </p:cNvPr>
          <p:cNvSpPr/>
          <p:nvPr/>
        </p:nvSpPr>
        <p:spPr>
          <a:xfrm>
            <a:off x="17145000" y="3057525"/>
            <a:ext cx="0" cy="5857875"/>
          </a:xfrm>
          <a:prstGeom prst="line">
            <a:avLst/>
          </a:prstGeom>
          <a:noFill/>
          <a:ln w="6350">
            <a:solidFill>
              <a:srgbClr val="E4E1DA"/>
            </a:solidFill>
            <a:prstDash val="solid"/>
          </a:ln>
        </p:spPr>
        <p:txBody>
          <a:bodyPr/>
          <a:lstStyle/>
          <a:p>
            <a:endParaRPr lang="en-IN" sz="2700"/>
          </a:p>
        </p:txBody>
      </p:sp>
      <p:sp>
        <p:nvSpPr>
          <p:cNvPr id="131" name="Text 63">
            <a:extLst>
              <a:ext uri="{FF2B5EF4-FFF2-40B4-BE49-F238E27FC236}">
                <a16:creationId xmlns:a16="http://schemas.microsoft.com/office/drawing/2014/main" id="{64118EB2-3397-AF3A-B9E2-A6578B789A96}"/>
              </a:ext>
            </a:extLst>
          </p:cNvPr>
          <p:cNvSpPr/>
          <p:nvPr/>
        </p:nvSpPr>
        <p:spPr>
          <a:xfrm>
            <a:off x="800100" y="3057525"/>
            <a:ext cx="4714875" cy="285750"/>
          </a:xfrm>
          <a:prstGeom prst="rect">
            <a:avLst/>
          </a:prstGeom>
          <a:noFill/>
          <a:ln/>
        </p:spPr>
        <p:txBody>
          <a:bodyPr wrap="square" lIns="0" tIns="0" rIns="0" bIns="0" rtlCol="0" anchor="ctr"/>
          <a:lstStyle/>
          <a:p>
            <a:r>
              <a:rPr lang="en-US" sz="1350" b="1" kern="0" spc="75" dirty="0">
                <a:solidFill>
                  <a:srgbClr val="B23A54"/>
                </a:solidFill>
                <a:latin typeface="Inter" pitchFamily="34" charset="0"/>
                <a:ea typeface="Inter" pitchFamily="34" charset="-122"/>
                <a:cs typeface="Inter" pitchFamily="34" charset="-120"/>
              </a:rPr>
              <a:t>PHASE 1 · FOUNDATION &amp; ANALYSIS</a:t>
            </a:r>
            <a:endParaRPr lang="en-US" sz="1350" dirty="0"/>
          </a:p>
        </p:txBody>
      </p:sp>
      <p:sp>
        <p:nvSpPr>
          <p:cNvPr id="133" name="Shape 64">
            <a:extLst>
              <a:ext uri="{FF2B5EF4-FFF2-40B4-BE49-F238E27FC236}">
                <a16:creationId xmlns:a16="http://schemas.microsoft.com/office/drawing/2014/main" id="{4A3FCD8B-4C26-6726-F59A-AC432BF89DAC}"/>
              </a:ext>
            </a:extLst>
          </p:cNvPr>
          <p:cNvSpPr/>
          <p:nvPr/>
        </p:nvSpPr>
        <p:spPr>
          <a:xfrm>
            <a:off x="800101" y="3429000"/>
            <a:ext cx="16344899" cy="428625"/>
          </a:xfrm>
          <a:prstGeom prst="rect">
            <a:avLst/>
          </a:prstGeom>
          <a:solidFill>
            <a:srgbClr val="FAF9F7"/>
          </a:solidFill>
          <a:ln/>
        </p:spPr>
        <p:txBody>
          <a:bodyPr/>
          <a:lstStyle/>
          <a:p>
            <a:endParaRPr lang="en-IN" sz="2700"/>
          </a:p>
        </p:txBody>
      </p:sp>
      <p:sp>
        <p:nvSpPr>
          <p:cNvPr id="135" name="Text 65">
            <a:extLst>
              <a:ext uri="{FF2B5EF4-FFF2-40B4-BE49-F238E27FC236}">
                <a16:creationId xmlns:a16="http://schemas.microsoft.com/office/drawing/2014/main" id="{8C8EC91C-9D92-FC25-1928-052056D91421}"/>
              </a:ext>
            </a:extLst>
          </p:cNvPr>
          <p:cNvSpPr/>
          <p:nvPr/>
        </p:nvSpPr>
        <p:spPr>
          <a:xfrm>
            <a:off x="800100" y="3457575"/>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Researching problem statement</a:t>
            </a:r>
            <a:endParaRPr lang="en-US" sz="1425" dirty="0"/>
          </a:p>
        </p:txBody>
      </p:sp>
      <p:sp>
        <p:nvSpPr>
          <p:cNvPr id="137" name="Shape 66">
            <a:extLst>
              <a:ext uri="{FF2B5EF4-FFF2-40B4-BE49-F238E27FC236}">
                <a16:creationId xmlns:a16="http://schemas.microsoft.com/office/drawing/2014/main" id="{6B655FAE-CD81-43FD-EB5F-D08FF3AD63E1}"/>
              </a:ext>
            </a:extLst>
          </p:cNvPr>
          <p:cNvSpPr/>
          <p:nvPr/>
        </p:nvSpPr>
        <p:spPr>
          <a:xfrm>
            <a:off x="5657850" y="3500438"/>
            <a:ext cx="765810" cy="200025"/>
          </a:xfrm>
          <a:prstGeom prst="roundRect">
            <a:avLst>
              <a:gd name="adj" fmla="val 50000"/>
            </a:avLst>
          </a:prstGeom>
          <a:solidFill>
            <a:srgbClr val="6E1428"/>
          </a:solidFill>
          <a:ln/>
        </p:spPr>
        <p:txBody>
          <a:bodyPr/>
          <a:lstStyle/>
          <a:p>
            <a:endParaRPr lang="en-IN" sz="2700"/>
          </a:p>
        </p:txBody>
      </p:sp>
      <p:sp>
        <p:nvSpPr>
          <p:cNvPr id="139" name="Text 67">
            <a:extLst>
              <a:ext uri="{FF2B5EF4-FFF2-40B4-BE49-F238E27FC236}">
                <a16:creationId xmlns:a16="http://schemas.microsoft.com/office/drawing/2014/main" id="{DDD8550F-64A4-58B8-1605-9DCB7ABEC869}"/>
              </a:ext>
            </a:extLst>
          </p:cNvPr>
          <p:cNvSpPr/>
          <p:nvPr/>
        </p:nvSpPr>
        <p:spPr>
          <a:xfrm>
            <a:off x="800100" y="3886200"/>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Literature review (FIPS standards &amp; prior art)</a:t>
            </a:r>
            <a:endParaRPr lang="en-US" sz="1425" dirty="0"/>
          </a:p>
        </p:txBody>
      </p:sp>
      <p:sp>
        <p:nvSpPr>
          <p:cNvPr id="141" name="Shape 68">
            <a:extLst>
              <a:ext uri="{FF2B5EF4-FFF2-40B4-BE49-F238E27FC236}">
                <a16:creationId xmlns:a16="http://schemas.microsoft.com/office/drawing/2014/main" id="{B3B80CBA-9B84-96A0-FBBD-8450C1E85B71}"/>
              </a:ext>
            </a:extLst>
          </p:cNvPr>
          <p:cNvSpPr/>
          <p:nvPr/>
        </p:nvSpPr>
        <p:spPr>
          <a:xfrm>
            <a:off x="6423660" y="3929063"/>
            <a:ext cx="1531620" cy="200025"/>
          </a:xfrm>
          <a:prstGeom prst="roundRect">
            <a:avLst>
              <a:gd name="adj" fmla="val 50000"/>
            </a:avLst>
          </a:prstGeom>
          <a:solidFill>
            <a:srgbClr val="6E1428"/>
          </a:solidFill>
          <a:ln/>
        </p:spPr>
        <p:txBody>
          <a:bodyPr/>
          <a:lstStyle/>
          <a:p>
            <a:endParaRPr lang="en-IN" sz="2700"/>
          </a:p>
        </p:txBody>
      </p:sp>
      <p:sp>
        <p:nvSpPr>
          <p:cNvPr id="143" name="Shape 69">
            <a:extLst>
              <a:ext uri="{FF2B5EF4-FFF2-40B4-BE49-F238E27FC236}">
                <a16:creationId xmlns:a16="http://schemas.microsoft.com/office/drawing/2014/main" id="{DCBA2A66-1A79-8486-94CD-30A2D3180CD2}"/>
              </a:ext>
            </a:extLst>
          </p:cNvPr>
          <p:cNvSpPr/>
          <p:nvPr/>
        </p:nvSpPr>
        <p:spPr>
          <a:xfrm>
            <a:off x="800100" y="4286250"/>
            <a:ext cx="16344900" cy="428625"/>
          </a:xfrm>
          <a:prstGeom prst="rect">
            <a:avLst/>
          </a:prstGeom>
          <a:solidFill>
            <a:srgbClr val="FAF9F7"/>
          </a:solidFill>
          <a:ln/>
        </p:spPr>
        <p:txBody>
          <a:bodyPr/>
          <a:lstStyle/>
          <a:p>
            <a:endParaRPr lang="en-IN" sz="2700"/>
          </a:p>
        </p:txBody>
      </p:sp>
      <p:sp>
        <p:nvSpPr>
          <p:cNvPr id="145" name="Text 70">
            <a:extLst>
              <a:ext uri="{FF2B5EF4-FFF2-40B4-BE49-F238E27FC236}">
                <a16:creationId xmlns:a16="http://schemas.microsoft.com/office/drawing/2014/main" id="{B32BAD60-AE98-20C1-58E2-087AB5BFE3E4}"/>
              </a:ext>
            </a:extLst>
          </p:cNvPr>
          <p:cNvSpPr/>
          <p:nvPr/>
        </p:nvSpPr>
        <p:spPr>
          <a:xfrm>
            <a:off x="800100" y="4314825"/>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Requirement analysis (Zero-knowledge constraints)</a:t>
            </a:r>
            <a:endParaRPr lang="en-US" sz="1425" dirty="0"/>
          </a:p>
        </p:txBody>
      </p:sp>
      <p:sp>
        <p:nvSpPr>
          <p:cNvPr id="147" name="Shape 71">
            <a:extLst>
              <a:ext uri="{FF2B5EF4-FFF2-40B4-BE49-F238E27FC236}">
                <a16:creationId xmlns:a16="http://schemas.microsoft.com/office/drawing/2014/main" id="{4CEE0E98-7764-90C4-9B26-12415F45FE75}"/>
              </a:ext>
            </a:extLst>
          </p:cNvPr>
          <p:cNvSpPr/>
          <p:nvPr/>
        </p:nvSpPr>
        <p:spPr>
          <a:xfrm>
            <a:off x="7955280" y="4357688"/>
            <a:ext cx="765810" cy="200025"/>
          </a:xfrm>
          <a:prstGeom prst="roundRect">
            <a:avLst>
              <a:gd name="adj" fmla="val 50000"/>
            </a:avLst>
          </a:prstGeom>
          <a:solidFill>
            <a:srgbClr val="6E1428"/>
          </a:solidFill>
          <a:ln/>
        </p:spPr>
        <p:txBody>
          <a:bodyPr/>
          <a:lstStyle/>
          <a:p>
            <a:endParaRPr lang="en-IN" sz="2700"/>
          </a:p>
        </p:txBody>
      </p:sp>
      <p:sp>
        <p:nvSpPr>
          <p:cNvPr id="149" name="Text 72">
            <a:extLst>
              <a:ext uri="{FF2B5EF4-FFF2-40B4-BE49-F238E27FC236}">
                <a16:creationId xmlns:a16="http://schemas.microsoft.com/office/drawing/2014/main" id="{930B9322-345D-4EB3-29B9-5C2FBB5895A2}"/>
              </a:ext>
            </a:extLst>
          </p:cNvPr>
          <p:cNvSpPr/>
          <p:nvPr/>
        </p:nvSpPr>
        <p:spPr>
          <a:xfrm>
            <a:off x="800100" y="4743450"/>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Drafting Software Requirements Specification (SRS)</a:t>
            </a:r>
            <a:endParaRPr lang="en-US" sz="1425" dirty="0"/>
          </a:p>
        </p:txBody>
      </p:sp>
      <p:sp>
        <p:nvSpPr>
          <p:cNvPr id="151" name="Shape 73">
            <a:extLst>
              <a:ext uri="{FF2B5EF4-FFF2-40B4-BE49-F238E27FC236}">
                <a16:creationId xmlns:a16="http://schemas.microsoft.com/office/drawing/2014/main" id="{9416186E-EF24-ED61-4205-8A668719E5A9}"/>
              </a:ext>
            </a:extLst>
          </p:cNvPr>
          <p:cNvSpPr/>
          <p:nvPr/>
        </p:nvSpPr>
        <p:spPr>
          <a:xfrm>
            <a:off x="8721090" y="4786313"/>
            <a:ext cx="765810" cy="200025"/>
          </a:xfrm>
          <a:prstGeom prst="roundRect">
            <a:avLst>
              <a:gd name="adj" fmla="val 50000"/>
            </a:avLst>
          </a:prstGeom>
          <a:solidFill>
            <a:srgbClr val="6E1428"/>
          </a:solidFill>
          <a:ln/>
        </p:spPr>
        <p:txBody>
          <a:bodyPr/>
          <a:lstStyle/>
          <a:p>
            <a:endParaRPr lang="en-IN" sz="2700"/>
          </a:p>
        </p:txBody>
      </p:sp>
      <p:sp>
        <p:nvSpPr>
          <p:cNvPr id="153" name="Text 74">
            <a:extLst>
              <a:ext uri="{FF2B5EF4-FFF2-40B4-BE49-F238E27FC236}">
                <a16:creationId xmlns:a16="http://schemas.microsoft.com/office/drawing/2014/main" id="{49C6D50B-67E8-9D0E-72C1-C6BC66E45E74}"/>
              </a:ext>
            </a:extLst>
          </p:cNvPr>
          <p:cNvSpPr/>
          <p:nvPr/>
        </p:nvSpPr>
        <p:spPr>
          <a:xfrm>
            <a:off x="800100" y="5343525"/>
            <a:ext cx="4714875" cy="285750"/>
          </a:xfrm>
          <a:prstGeom prst="rect">
            <a:avLst/>
          </a:prstGeom>
          <a:noFill/>
          <a:ln/>
        </p:spPr>
        <p:txBody>
          <a:bodyPr wrap="square" lIns="0" tIns="0" rIns="0" bIns="0" rtlCol="0" anchor="ctr"/>
          <a:lstStyle/>
          <a:p>
            <a:r>
              <a:rPr lang="en-US" sz="1350" b="1" kern="0" spc="75" dirty="0">
                <a:solidFill>
                  <a:srgbClr val="6E1428"/>
                </a:solidFill>
                <a:latin typeface="Inter" pitchFamily="34" charset="0"/>
                <a:ea typeface="Inter" pitchFamily="34" charset="-122"/>
                <a:cs typeface="Inter" pitchFamily="34" charset="-120"/>
              </a:rPr>
              <a:t>PHASE 2 · EXECUTION &amp; TESTING</a:t>
            </a:r>
            <a:endParaRPr lang="en-US" sz="1350" dirty="0"/>
          </a:p>
        </p:txBody>
      </p:sp>
      <p:sp>
        <p:nvSpPr>
          <p:cNvPr id="155" name="Shape 75">
            <a:extLst>
              <a:ext uri="{FF2B5EF4-FFF2-40B4-BE49-F238E27FC236}">
                <a16:creationId xmlns:a16="http://schemas.microsoft.com/office/drawing/2014/main" id="{8FFFD020-3950-0D56-7550-A18EF514D990}"/>
              </a:ext>
            </a:extLst>
          </p:cNvPr>
          <p:cNvSpPr/>
          <p:nvPr/>
        </p:nvSpPr>
        <p:spPr>
          <a:xfrm>
            <a:off x="800101" y="5715000"/>
            <a:ext cx="16344899" cy="428625"/>
          </a:xfrm>
          <a:prstGeom prst="rect">
            <a:avLst/>
          </a:prstGeom>
          <a:solidFill>
            <a:srgbClr val="FAF9F7"/>
          </a:solidFill>
          <a:ln/>
        </p:spPr>
        <p:txBody>
          <a:bodyPr/>
          <a:lstStyle/>
          <a:p>
            <a:endParaRPr lang="en-IN" sz="2700"/>
          </a:p>
        </p:txBody>
      </p:sp>
      <p:sp>
        <p:nvSpPr>
          <p:cNvPr id="157" name="Text 76">
            <a:extLst>
              <a:ext uri="{FF2B5EF4-FFF2-40B4-BE49-F238E27FC236}">
                <a16:creationId xmlns:a16="http://schemas.microsoft.com/office/drawing/2014/main" id="{E50BBCED-3BDC-B8C5-CDEB-2628D60CC6DA}"/>
              </a:ext>
            </a:extLst>
          </p:cNvPr>
          <p:cNvSpPr/>
          <p:nvPr/>
        </p:nvSpPr>
        <p:spPr>
          <a:xfrm>
            <a:off x="800100" y="5743575"/>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Architecture &amp; Public Key Directory schema</a:t>
            </a:r>
            <a:endParaRPr lang="en-US" sz="1425" dirty="0"/>
          </a:p>
        </p:txBody>
      </p:sp>
      <p:sp>
        <p:nvSpPr>
          <p:cNvPr id="159" name="Shape 77">
            <a:extLst>
              <a:ext uri="{FF2B5EF4-FFF2-40B4-BE49-F238E27FC236}">
                <a16:creationId xmlns:a16="http://schemas.microsoft.com/office/drawing/2014/main" id="{79FEED5A-1B2B-9FBB-FAA0-AB61918A59AB}"/>
              </a:ext>
            </a:extLst>
          </p:cNvPr>
          <p:cNvSpPr/>
          <p:nvPr/>
        </p:nvSpPr>
        <p:spPr>
          <a:xfrm>
            <a:off x="9486900" y="5786438"/>
            <a:ext cx="1531620" cy="200025"/>
          </a:xfrm>
          <a:prstGeom prst="roundRect">
            <a:avLst>
              <a:gd name="adj" fmla="val 50000"/>
            </a:avLst>
          </a:prstGeom>
          <a:solidFill>
            <a:srgbClr val="6E1428"/>
          </a:solidFill>
          <a:ln/>
        </p:spPr>
        <p:txBody>
          <a:bodyPr/>
          <a:lstStyle/>
          <a:p>
            <a:endParaRPr lang="en-IN" sz="2700"/>
          </a:p>
        </p:txBody>
      </p:sp>
      <p:sp>
        <p:nvSpPr>
          <p:cNvPr id="161" name="Text 78">
            <a:extLst>
              <a:ext uri="{FF2B5EF4-FFF2-40B4-BE49-F238E27FC236}">
                <a16:creationId xmlns:a16="http://schemas.microsoft.com/office/drawing/2014/main" id="{00302A60-02BD-205E-9B6F-D1F70F6B8A6D}"/>
              </a:ext>
            </a:extLst>
          </p:cNvPr>
          <p:cNvSpPr/>
          <p:nvPr/>
        </p:nvSpPr>
        <p:spPr>
          <a:xfrm>
            <a:off x="800100" y="6172200"/>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Backend &amp; crypto integration (ML-KEM &amp; ML-DSA)</a:t>
            </a:r>
            <a:endParaRPr lang="en-US" sz="1425" dirty="0"/>
          </a:p>
        </p:txBody>
      </p:sp>
      <p:sp>
        <p:nvSpPr>
          <p:cNvPr id="163" name="Shape 79">
            <a:extLst>
              <a:ext uri="{FF2B5EF4-FFF2-40B4-BE49-F238E27FC236}">
                <a16:creationId xmlns:a16="http://schemas.microsoft.com/office/drawing/2014/main" id="{F0776522-1B23-CD83-C9AF-F5A020EA0DB6}"/>
              </a:ext>
            </a:extLst>
          </p:cNvPr>
          <p:cNvSpPr/>
          <p:nvPr/>
        </p:nvSpPr>
        <p:spPr>
          <a:xfrm>
            <a:off x="11018520" y="6215063"/>
            <a:ext cx="3063240" cy="200025"/>
          </a:xfrm>
          <a:prstGeom prst="roundRect">
            <a:avLst>
              <a:gd name="adj" fmla="val 50000"/>
            </a:avLst>
          </a:prstGeom>
          <a:solidFill>
            <a:srgbClr val="6E1428"/>
          </a:solidFill>
          <a:ln/>
        </p:spPr>
        <p:txBody>
          <a:bodyPr/>
          <a:lstStyle/>
          <a:p>
            <a:endParaRPr lang="en-IN" sz="2700"/>
          </a:p>
        </p:txBody>
      </p:sp>
      <p:sp>
        <p:nvSpPr>
          <p:cNvPr id="165" name="Shape 80">
            <a:extLst>
              <a:ext uri="{FF2B5EF4-FFF2-40B4-BE49-F238E27FC236}">
                <a16:creationId xmlns:a16="http://schemas.microsoft.com/office/drawing/2014/main" id="{9C2F2B0D-E2E3-7BAC-B4EF-C90B7E1D3434}"/>
              </a:ext>
            </a:extLst>
          </p:cNvPr>
          <p:cNvSpPr/>
          <p:nvPr/>
        </p:nvSpPr>
        <p:spPr>
          <a:xfrm>
            <a:off x="800100" y="6572250"/>
            <a:ext cx="16344900" cy="428625"/>
          </a:xfrm>
          <a:prstGeom prst="rect">
            <a:avLst/>
          </a:prstGeom>
          <a:solidFill>
            <a:srgbClr val="FAF9F7"/>
          </a:solidFill>
          <a:ln/>
        </p:spPr>
        <p:txBody>
          <a:bodyPr/>
          <a:lstStyle/>
          <a:p>
            <a:endParaRPr lang="en-IN" sz="2700"/>
          </a:p>
        </p:txBody>
      </p:sp>
      <p:sp>
        <p:nvSpPr>
          <p:cNvPr id="167" name="Text 81">
            <a:extLst>
              <a:ext uri="{FF2B5EF4-FFF2-40B4-BE49-F238E27FC236}">
                <a16:creationId xmlns:a16="http://schemas.microsoft.com/office/drawing/2014/main" id="{56DE7D21-3EBF-DA64-8526-5D2B96F492F2}"/>
              </a:ext>
            </a:extLst>
          </p:cNvPr>
          <p:cNvSpPr/>
          <p:nvPr/>
        </p:nvSpPr>
        <p:spPr>
          <a:xfrm>
            <a:off x="800100" y="6600825"/>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Frontend UI &amp; on-device storage implementation</a:t>
            </a:r>
            <a:endParaRPr lang="en-US" sz="1425" dirty="0"/>
          </a:p>
        </p:txBody>
      </p:sp>
      <p:sp>
        <p:nvSpPr>
          <p:cNvPr id="169" name="Shape 82">
            <a:extLst>
              <a:ext uri="{FF2B5EF4-FFF2-40B4-BE49-F238E27FC236}">
                <a16:creationId xmlns:a16="http://schemas.microsoft.com/office/drawing/2014/main" id="{4FF6DAD2-E202-7A5B-8C3F-9A4D99A9E472}"/>
              </a:ext>
            </a:extLst>
          </p:cNvPr>
          <p:cNvSpPr/>
          <p:nvPr/>
        </p:nvSpPr>
        <p:spPr>
          <a:xfrm>
            <a:off x="11784330" y="6643688"/>
            <a:ext cx="2297430" cy="200025"/>
          </a:xfrm>
          <a:prstGeom prst="roundRect">
            <a:avLst>
              <a:gd name="adj" fmla="val 50000"/>
            </a:avLst>
          </a:prstGeom>
          <a:solidFill>
            <a:srgbClr val="6E1428"/>
          </a:solidFill>
          <a:ln/>
        </p:spPr>
        <p:txBody>
          <a:bodyPr/>
          <a:lstStyle/>
          <a:p>
            <a:endParaRPr lang="en-IN" sz="2700"/>
          </a:p>
        </p:txBody>
      </p:sp>
      <p:sp>
        <p:nvSpPr>
          <p:cNvPr id="171" name="Text 83">
            <a:extLst>
              <a:ext uri="{FF2B5EF4-FFF2-40B4-BE49-F238E27FC236}">
                <a16:creationId xmlns:a16="http://schemas.microsoft.com/office/drawing/2014/main" id="{139072A5-08F6-AF05-D624-9D07134D4338}"/>
              </a:ext>
            </a:extLst>
          </p:cNvPr>
          <p:cNvSpPr/>
          <p:nvPr/>
        </p:nvSpPr>
        <p:spPr>
          <a:xfrm>
            <a:off x="800100" y="7029450"/>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System integration</a:t>
            </a:r>
            <a:endParaRPr lang="en-US" sz="1425" dirty="0"/>
          </a:p>
        </p:txBody>
      </p:sp>
      <p:sp>
        <p:nvSpPr>
          <p:cNvPr id="173" name="Shape 84">
            <a:extLst>
              <a:ext uri="{FF2B5EF4-FFF2-40B4-BE49-F238E27FC236}">
                <a16:creationId xmlns:a16="http://schemas.microsoft.com/office/drawing/2014/main" id="{D256B349-81F2-AF6B-5677-439593C630B3}"/>
              </a:ext>
            </a:extLst>
          </p:cNvPr>
          <p:cNvSpPr/>
          <p:nvPr/>
        </p:nvSpPr>
        <p:spPr>
          <a:xfrm>
            <a:off x="13315950" y="7072313"/>
            <a:ext cx="1531620" cy="200025"/>
          </a:xfrm>
          <a:prstGeom prst="roundRect">
            <a:avLst>
              <a:gd name="adj" fmla="val 50000"/>
            </a:avLst>
          </a:prstGeom>
          <a:solidFill>
            <a:srgbClr val="6E1428"/>
          </a:solidFill>
          <a:ln/>
        </p:spPr>
        <p:txBody>
          <a:bodyPr/>
          <a:lstStyle/>
          <a:p>
            <a:endParaRPr lang="en-IN" sz="2700"/>
          </a:p>
        </p:txBody>
      </p:sp>
      <p:sp>
        <p:nvSpPr>
          <p:cNvPr id="175" name="Shape 85">
            <a:extLst>
              <a:ext uri="{FF2B5EF4-FFF2-40B4-BE49-F238E27FC236}">
                <a16:creationId xmlns:a16="http://schemas.microsoft.com/office/drawing/2014/main" id="{937CD166-576C-0CAC-1875-40B55AC2C0B4}"/>
              </a:ext>
            </a:extLst>
          </p:cNvPr>
          <p:cNvSpPr/>
          <p:nvPr/>
        </p:nvSpPr>
        <p:spPr>
          <a:xfrm>
            <a:off x="800100" y="7429500"/>
            <a:ext cx="16344900" cy="428625"/>
          </a:xfrm>
          <a:prstGeom prst="rect">
            <a:avLst/>
          </a:prstGeom>
          <a:solidFill>
            <a:srgbClr val="FAF9F7"/>
          </a:solidFill>
          <a:ln/>
        </p:spPr>
        <p:txBody>
          <a:bodyPr/>
          <a:lstStyle/>
          <a:p>
            <a:endParaRPr lang="en-IN" sz="2700" dirty="0"/>
          </a:p>
        </p:txBody>
      </p:sp>
      <p:sp>
        <p:nvSpPr>
          <p:cNvPr id="177" name="Text 86">
            <a:extLst>
              <a:ext uri="{FF2B5EF4-FFF2-40B4-BE49-F238E27FC236}">
                <a16:creationId xmlns:a16="http://schemas.microsoft.com/office/drawing/2014/main" id="{0F4BD2D1-3B23-9DA2-1474-F2C958C47E89}"/>
              </a:ext>
            </a:extLst>
          </p:cNvPr>
          <p:cNvSpPr/>
          <p:nvPr/>
        </p:nvSpPr>
        <p:spPr>
          <a:xfrm>
            <a:off x="800100" y="7458075"/>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Unit &amp; integration testing</a:t>
            </a:r>
            <a:endParaRPr lang="en-US" sz="1425" dirty="0"/>
          </a:p>
        </p:txBody>
      </p:sp>
      <p:sp>
        <p:nvSpPr>
          <p:cNvPr id="179" name="Shape 87">
            <a:extLst>
              <a:ext uri="{FF2B5EF4-FFF2-40B4-BE49-F238E27FC236}">
                <a16:creationId xmlns:a16="http://schemas.microsoft.com/office/drawing/2014/main" id="{E09015D4-D1C2-05CD-1AF9-3C82E6C2AAE1}"/>
              </a:ext>
            </a:extLst>
          </p:cNvPr>
          <p:cNvSpPr/>
          <p:nvPr/>
        </p:nvSpPr>
        <p:spPr>
          <a:xfrm>
            <a:off x="14081760" y="7500938"/>
            <a:ext cx="1531620" cy="200025"/>
          </a:xfrm>
          <a:prstGeom prst="roundRect">
            <a:avLst>
              <a:gd name="adj" fmla="val 50000"/>
            </a:avLst>
          </a:prstGeom>
          <a:solidFill>
            <a:srgbClr val="6E1428"/>
          </a:solidFill>
          <a:ln/>
        </p:spPr>
        <p:txBody>
          <a:bodyPr/>
          <a:lstStyle/>
          <a:p>
            <a:endParaRPr lang="en-IN" sz="2700"/>
          </a:p>
        </p:txBody>
      </p:sp>
      <p:sp>
        <p:nvSpPr>
          <p:cNvPr id="181" name="Text 88">
            <a:extLst>
              <a:ext uri="{FF2B5EF4-FFF2-40B4-BE49-F238E27FC236}">
                <a16:creationId xmlns:a16="http://schemas.microsoft.com/office/drawing/2014/main" id="{363319D9-B900-C2F0-CEC3-BDA1F00B7946}"/>
              </a:ext>
            </a:extLst>
          </p:cNvPr>
          <p:cNvSpPr/>
          <p:nvPr/>
        </p:nvSpPr>
        <p:spPr>
          <a:xfrm>
            <a:off x="800100" y="7886700"/>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UAT, performance testing &amp; fixes</a:t>
            </a:r>
            <a:endParaRPr lang="en-US" sz="1425" dirty="0"/>
          </a:p>
        </p:txBody>
      </p:sp>
      <p:sp>
        <p:nvSpPr>
          <p:cNvPr id="183" name="Shape 89">
            <a:extLst>
              <a:ext uri="{FF2B5EF4-FFF2-40B4-BE49-F238E27FC236}">
                <a16:creationId xmlns:a16="http://schemas.microsoft.com/office/drawing/2014/main" id="{C08ACD9E-B14E-AC56-7CA5-4ECD619EC818}"/>
              </a:ext>
            </a:extLst>
          </p:cNvPr>
          <p:cNvSpPr/>
          <p:nvPr/>
        </p:nvSpPr>
        <p:spPr>
          <a:xfrm>
            <a:off x="14847570" y="7929563"/>
            <a:ext cx="1531620" cy="200025"/>
          </a:xfrm>
          <a:prstGeom prst="roundRect">
            <a:avLst>
              <a:gd name="adj" fmla="val 50000"/>
            </a:avLst>
          </a:prstGeom>
          <a:solidFill>
            <a:srgbClr val="6E1428"/>
          </a:solidFill>
          <a:ln/>
        </p:spPr>
        <p:txBody>
          <a:bodyPr/>
          <a:lstStyle/>
          <a:p>
            <a:endParaRPr lang="en-IN" sz="2700"/>
          </a:p>
        </p:txBody>
      </p:sp>
      <p:sp>
        <p:nvSpPr>
          <p:cNvPr id="185" name="Shape 90">
            <a:extLst>
              <a:ext uri="{FF2B5EF4-FFF2-40B4-BE49-F238E27FC236}">
                <a16:creationId xmlns:a16="http://schemas.microsoft.com/office/drawing/2014/main" id="{7D1E081F-53A4-599F-9A4B-F1324BCFDD2D}"/>
              </a:ext>
            </a:extLst>
          </p:cNvPr>
          <p:cNvSpPr/>
          <p:nvPr/>
        </p:nvSpPr>
        <p:spPr>
          <a:xfrm>
            <a:off x="800101" y="8286750"/>
            <a:ext cx="16344899" cy="428625"/>
          </a:xfrm>
          <a:prstGeom prst="rect">
            <a:avLst/>
          </a:prstGeom>
          <a:solidFill>
            <a:srgbClr val="FAF9F7"/>
          </a:solidFill>
          <a:ln/>
        </p:spPr>
        <p:txBody>
          <a:bodyPr/>
          <a:lstStyle/>
          <a:p>
            <a:endParaRPr lang="en-IN" sz="2700"/>
          </a:p>
        </p:txBody>
      </p:sp>
      <p:sp>
        <p:nvSpPr>
          <p:cNvPr id="187" name="Text 91">
            <a:extLst>
              <a:ext uri="{FF2B5EF4-FFF2-40B4-BE49-F238E27FC236}">
                <a16:creationId xmlns:a16="http://schemas.microsoft.com/office/drawing/2014/main" id="{2FE834A3-DF1E-29AC-A704-B32B5A027045}"/>
              </a:ext>
            </a:extLst>
          </p:cNvPr>
          <p:cNvSpPr/>
          <p:nvPr/>
        </p:nvSpPr>
        <p:spPr>
          <a:xfrm>
            <a:off x="800100" y="8315325"/>
            <a:ext cx="4629150" cy="371475"/>
          </a:xfrm>
          <a:prstGeom prst="rect">
            <a:avLst/>
          </a:prstGeom>
          <a:noFill/>
          <a:ln/>
        </p:spPr>
        <p:txBody>
          <a:bodyPr wrap="square" lIns="0" tIns="0" rIns="0" bIns="0" rtlCol="0" anchor="ctr"/>
          <a:lstStyle/>
          <a:p>
            <a:r>
              <a:rPr lang="en-US" sz="1425" dirty="0">
                <a:solidFill>
                  <a:srgbClr val="1A1A2E"/>
                </a:solidFill>
                <a:latin typeface="Inter" pitchFamily="34" charset="0"/>
                <a:ea typeface="Inter" pitchFamily="34" charset="-122"/>
                <a:cs typeface="Inter" pitchFamily="34" charset="-120"/>
              </a:rPr>
              <a:t>Deployment &amp; documentation</a:t>
            </a:r>
            <a:endParaRPr lang="en-US" sz="1425" dirty="0"/>
          </a:p>
        </p:txBody>
      </p:sp>
      <p:sp>
        <p:nvSpPr>
          <p:cNvPr id="189" name="Shape 92">
            <a:extLst>
              <a:ext uri="{FF2B5EF4-FFF2-40B4-BE49-F238E27FC236}">
                <a16:creationId xmlns:a16="http://schemas.microsoft.com/office/drawing/2014/main" id="{62AB7F04-C7E7-D8DC-0F5D-4CC2AE2FB092}"/>
              </a:ext>
            </a:extLst>
          </p:cNvPr>
          <p:cNvSpPr/>
          <p:nvPr/>
        </p:nvSpPr>
        <p:spPr>
          <a:xfrm>
            <a:off x="16379190" y="8358188"/>
            <a:ext cx="765810" cy="200025"/>
          </a:xfrm>
          <a:prstGeom prst="roundRect">
            <a:avLst>
              <a:gd name="adj" fmla="val 50000"/>
            </a:avLst>
          </a:prstGeom>
          <a:solidFill>
            <a:srgbClr val="6E1428"/>
          </a:solidFill>
          <a:ln/>
        </p:spPr>
        <p:txBody>
          <a:bodyPr/>
          <a:lstStyle/>
          <a:p>
            <a:endParaRPr lang="en-IN" sz="2700"/>
          </a:p>
        </p:txBody>
      </p:sp>
      <p:sp>
        <p:nvSpPr>
          <p:cNvPr id="191" name="Shape 93">
            <a:extLst>
              <a:ext uri="{FF2B5EF4-FFF2-40B4-BE49-F238E27FC236}">
                <a16:creationId xmlns:a16="http://schemas.microsoft.com/office/drawing/2014/main" id="{A6931ECD-6708-0610-DA8A-FC9A5C0A7A16}"/>
              </a:ext>
            </a:extLst>
          </p:cNvPr>
          <p:cNvSpPr/>
          <p:nvPr/>
        </p:nvSpPr>
        <p:spPr>
          <a:xfrm>
            <a:off x="800100" y="9201150"/>
            <a:ext cx="16687800" cy="0"/>
          </a:xfrm>
          <a:prstGeom prst="line">
            <a:avLst/>
          </a:prstGeom>
          <a:noFill/>
          <a:ln w="9525">
            <a:solidFill>
              <a:srgbClr val="E4E1DA"/>
            </a:solidFill>
            <a:prstDash val="solid"/>
          </a:ln>
        </p:spPr>
        <p:txBody>
          <a:bodyPr/>
          <a:lstStyle/>
          <a:p>
            <a:endParaRPr lang="en-IN" sz="2700"/>
          </a:p>
        </p:txBody>
      </p:sp>
      <p:sp>
        <p:nvSpPr>
          <p:cNvPr id="193" name="Text 94">
            <a:extLst>
              <a:ext uri="{FF2B5EF4-FFF2-40B4-BE49-F238E27FC236}">
                <a16:creationId xmlns:a16="http://schemas.microsoft.com/office/drawing/2014/main" id="{76618C2A-4247-1BFB-3778-A4FEE95FC9BF}"/>
              </a:ext>
            </a:extLst>
          </p:cNvPr>
          <p:cNvSpPr/>
          <p:nvPr/>
        </p:nvSpPr>
        <p:spPr>
          <a:xfrm>
            <a:off x="800100" y="9286875"/>
            <a:ext cx="10858500" cy="257175"/>
          </a:xfrm>
          <a:prstGeom prst="rect">
            <a:avLst/>
          </a:prstGeom>
          <a:noFill/>
          <a:ln/>
        </p:spPr>
        <p:txBody>
          <a:bodyPr wrap="square" lIns="0" tIns="0" rIns="0" bIns="0" rtlCol="0" anchor="ctr"/>
          <a:lstStyle/>
          <a:p>
            <a:r>
              <a:rPr lang="en-US" sz="1200" dirty="0">
                <a:solidFill>
                  <a:srgbClr val="9A99A2"/>
                </a:solidFill>
                <a:latin typeface="Inter" pitchFamily="34" charset="0"/>
                <a:ea typeface="Inter" pitchFamily="34" charset="-122"/>
                <a:cs typeface="Inter" pitchFamily="34" charset="-120"/>
              </a:rPr>
              <a:t>SVKM's NMIMS — School of Technology Management &amp; Engineering, Dept. of Computer Science</a:t>
            </a:r>
            <a:endParaRPr lang="en-US" sz="1200" dirty="0"/>
          </a:p>
        </p:txBody>
      </p:sp>
      <p:sp>
        <p:nvSpPr>
          <p:cNvPr id="195" name="Text 95">
            <a:extLst>
              <a:ext uri="{FF2B5EF4-FFF2-40B4-BE49-F238E27FC236}">
                <a16:creationId xmlns:a16="http://schemas.microsoft.com/office/drawing/2014/main" id="{02995EF4-382E-FB6B-4DAB-8066D49368A2}"/>
              </a:ext>
            </a:extLst>
          </p:cNvPr>
          <p:cNvSpPr/>
          <p:nvPr/>
        </p:nvSpPr>
        <p:spPr>
          <a:xfrm>
            <a:off x="11658600" y="9286875"/>
            <a:ext cx="5829300" cy="257175"/>
          </a:xfrm>
          <a:prstGeom prst="rect">
            <a:avLst/>
          </a:prstGeom>
          <a:noFill/>
          <a:ln/>
        </p:spPr>
        <p:txBody>
          <a:bodyPr wrap="square" lIns="0" tIns="0" rIns="0" bIns="0" rtlCol="0" anchor="ctr"/>
          <a:lstStyle/>
          <a:p>
            <a:pPr algn="r"/>
            <a:r>
              <a:rPr lang="en-US" sz="1200" dirty="0">
                <a:solidFill>
                  <a:srgbClr val="9A99A2"/>
                </a:solidFill>
                <a:latin typeface="Inter" pitchFamily="34" charset="0"/>
                <a:ea typeface="Inter" pitchFamily="34" charset="-122"/>
                <a:cs typeface="Inter" pitchFamily="34" charset="-120"/>
              </a:rPr>
              <a:t>Qmail: A Post-Quantum-Secure Email Platform</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476250"/>
            <a:ext cx="32191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2" dirty="0">
                <a:solidFill>
                  <a:srgbClr val="7A1F2B"/>
                </a:solidFill>
                <a:latin typeface="Georgia" pitchFamily="34" charset="0"/>
                <a:ea typeface="Georgia" pitchFamily="34" charset="-122"/>
                <a:cs typeface="Georgia" pitchFamily="34" charset="-120"/>
              </a:rPr>
              <a:t>14</a:t>
            </a:r>
            <a:endParaRPr lang="en-US" sz="1800" dirty="0"/>
          </a:p>
        </p:txBody>
      </p:sp>
      <p:sp>
        <p:nvSpPr>
          <p:cNvPr id="3" name="Text 1"/>
          <p:cNvSpPr/>
          <p:nvPr/>
        </p:nvSpPr>
        <p:spPr>
          <a:xfrm>
            <a:off x="1388715" y="476250"/>
            <a:ext cx="1907560"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80" dirty="0">
                <a:solidFill>
                  <a:srgbClr val="6B6B6B"/>
                </a:solidFill>
                <a:latin typeface="Georgia" pitchFamily="34" charset="0"/>
                <a:ea typeface="Georgia" pitchFamily="34" charset="-122"/>
                <a:cs typeface="Georgia" pitchFamily="34" charset="-120"/>
              </a:rPr>
              <a:t>REFERENCES</a:t>
            </a:r>
            <a:endParaRPr lang="en-US" sz="1800" dirty="0"/>
          </a:p>
        </p:txBody>
      </p:sp>
      <p:sp>
        <p:nvSpPr>
          <p:cNvPr id="4" name="Shape 2"/>
          <p:cNvSpPr/>
          <p:nvPr/>
        </p:nvSpPr>
        <p:spPr>
          <a:xfrm>
            <a:off x="3275261" y="600075"/>
            <a:ext cx="14022139" cy="9525"/>
          </a:xfrm>
          <a:prstGeom prst="rect">
            <a:avLst/>
          </a:prstGeom>
          <a:solidFill>
            <a:srgbClr val="A89C8C"/>
          </a:solidFill>
          <a:ln/>
        </p:spPr>
        <p:txBody>
          <a:bodyPr/>
          <a:lstStyle/>
          <a:p>
            <a:endParaRPr lang="en-US"/>
          </a:p>
        </p:txBody>
      </p:sp>
      <p:sp>
        <p:nvSpPr>
          <p:cNvPr id="5" name="Text 3"/>
          <p:cNvSpPr/>
          <p:nvPr/>
        </p:nvSpPr>
        <p:spPr>
          <a:xfrm>
            <a:off x="990600" y="942975"/>
            <a:ext cx="7395314" cy="6096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3750" b="1" dirty="0">
                <a:solidFill>
                  <a:srgbClr val="1A1A1A"/>
                </a:solidFill>
                <a:latin typeface="Georgia" pitchFamily="34" charset="0"/>
                <a:ea typeface="Georgia" pitchFamily="34" charset="-122"/>
                <a:cs typeface="Georgia" pitchFamily="34" charset="-120"/>
              </a:rPr>
              <a:t>References</a:t>
            </a:r>
            <a:endParaRPr lang="en-US" sz="3750" dirty="0"/>
          </a:p>
        </p:txBody>
      </p:sp>
      <p:sp>
        <p:nvSpPr>
          <p:cNvPr id="6" name="Shape 4"/>
          <p:cNvSpPr/>
          <p:nvPr/>
        </p:nvSpPr>
        <p:spPr>
          <a:xfrm>
            <a:off x="990600" y="1647825"/>
            <a:ext cx="857250" cy="28575"/>
          </a:xfrm>
          <a:prstGeom prst="rect">
            <a:avLst/>
          </a:prstGeom>
          <a:solidFill>
            <a:srgbClr val="7A1F2B"/>
          </a:solidFill>
          <a:ln/>
        </p:spPr>
        <p:txBody>
          <a:bodyPr/>
          <a:lstStyle/>
          <a:p>
            <a:endParaRPr lang="en-US"/>
          </a:p>
        </p:txBody>
      </p:sp>
      <p:sp>
        <p:nvSpPr>
          <p:cNvPr id="7" name="Shape 5"/>
          <p:cNvSpPr/>
          <p:nvPr/>
        </p:nvSpPr>
        <p:spPr>
          <a:xfrm>
            <a:off x="990600" y="2855268"/>
            <a:ext cx="7848600" cy="19050"/>
          </a:xfrm>
          <a:prstGeom prst="rect">
            <a:avLst/>
          </a:prstGeom>
          <a:solidFill>
            <a:srgbClr val="7A1F2B"/>
          </a:solidFill>
          <a:ln/>
        </p:spPr>
        <p:txBody>
          <a:bodyPr/>
          <a:lstStyle/>
          <a:p>
            <a:endParaRPr lang="en-US"/>
          </a:p>
        </p:txBody>
      </p:sp>
      <p:sp>
        <p:nvSpPr>
          <p:cNvPr id="8" name="Text 6"/>
          <p:cNvSpPr/>
          <p:nvPr/>
        </p:nvSpPr>
        <p:spPr>
          <a:xfrm>
            <a:off x="990600" y="2521893"/>
            <a:ext cx="8084058"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66" dirty="0">
                <a:solidFill>
                  <a:srgbClr val="591520"/>
                </a:solidFill>
                <a:latin typeface="Georgia" pitchFamily="34" charset="0"/>
                <a:ea typeface="Georgia" pitchFamily="34" charset="-122"/>
                <a:cs typeface="Georgia" pitchFamily="34" charset="-120"/>
              </a:rPr>
              <a:t>RESEARCH AND STANDARDS</a:t>
            </a:r>
            <a:endParaRPr lang="en-US" sz="1650" dirty="0"/>
          </a:p>
        </p:txBody>
      </p:sp>
      <p:sp>
        <p:nvSpPr>
          <p:cNvPr id="9" name="Text 7"/>
          <p:cNvSpPr/>
          <p:nvPr/>
        </p:nvSpPr>
        <p:spPr>
          <a:xfrm>
            <a:off x="899071" y="3026718"/>
            <a:ext cx="8016329" cy="6357640"/>
          </a:xfrm>
          <a:prstGeom prst="rect">
            <a:avLst/>
          </a:prstGeom>
          <a:noFill/>
          <a:ln/>
        </p:spPr>
        <p:txBody>
          <a:bodyPr wrap="square" lIns="25400" tIns="25400" rIns="25400" bIns="25400" rtlCol="0" anchor="t">
            <a:normAutofit/>
          </a:bodyPr>
          <a:lstStyle/>
          <a:p>
            <a:pPr marL="342900" indent="-342900" algn="l">
              <a:lnSpc>
                <a:spcPct val="142222"/>
              </a:lnSpc>
              <a:buSzPct val="100000"/>
              <a:buFont typeface="+mj-lt"/>
              <a:buAutoNum type="arabicPeriod"/>
              <a:tabLst>
                <a:tab pos="342900" algn="l"/>
              </a:tabLst>
            </a:pPr>
            <a:r>
              <a:rPr lang="en-US" sz="1800" dirty="0">
                <a:solidFill>
                  <a:srgbClr val="1A1A1A"/>
                </a:solidFill>
                <a:latin typeface="Georgia" pitchFamily="34" charset="0"/>
                <a:ea typeface="Georgia" pitchFamily="34" charset="-122"/>
                <a:cs typeface="Georgia" pitchFamily="34" charset="-120"/>
              </a:rPr>
              <a:t>NIST, FIPS 203, 204, and 205, the ML-KEM, ML-DSA, and SLH-DSA standards, Aug 2024.</a:t>
            </a:r>
            <a:endParaRPr lang="en-US" sz="1800" dirty="0"/>
          </a:p>
          <a:p>
            <a:pPr marL="342900" indent="-342900" algn="l">
              <a:lnSpc>
                <a:spcPct val="142222"/>
              </a:lnSpc>
              <a:buSzPct val="100000"/>
              <a:buFont typeface="+mj-lt"/>
              <a:buAutoNum type="arabicPeriod" startAt="2"/>
              <a:tabLst>
                <a:tab pos="342900" algn="l"/>
              </a:tabLst>
            </a:pPr>
            <a:r>
              <a:rPr lang="en-US" sz="1800" dirty="0">
                <a:solidFill>
                  <a:srgbClr val="1A1A1A"/>
                </a:solidFill>
                <a:latin typeface="Georgia" pitchFamily="34" charset="0"/>
                <a:ea typeface="Georgia" pitchFamily="34" charset="-122"/>
                <a:cs typeface="Georgia" pitchFamily="34" charset="-120"/>
              </a:rPr>
              <a:t>IETF, RFC 9980, Post-Quantum Cryptography in OpenPGP, June 2026.</a:t>
            </a:r>
            <a:endParaRPr lang="en-US" sz="1800" dirty="0"/>
          </a:p>
          <a:p>
            <a:pPr marL="342900" indent="-342900" algn="l">
              <a:lnSpc>
                <a:spcPct val="142222"/>
              </a:lnSpc>
              <a:buSzPct val="100000"/>
              <a:buFont typeface="+mj-lt"/>
              <a:buAutoNum type="arabicPeriod" startAt="3"/>
              <a:tabLst>
                <a:tab pos="342900" algn="l"/>
              </a:tabLst>
            </a:pPr>
            <a:r>
              <a:rPr lang="en-US" sz="1800" dirty="0">
                <a:solidFill>
                  <a:srgbClr val="1A1A1A"/>
                </a:solidFill>
                <a:latin typeface="Georgia" pitchFamily="34" charset="0"/>
                <a:ea typeface="Georgia" pitchFamily="34" charset="-122"/>
                <a:cs typeface="Georgia" pitchFamily="34" charset="-120"/>
              </a:rPr>
              <a:t>ACM Digital Library, Quantum-resistant End-to-End Secure Messaging and Email Communication.</a:t>
            </a:r>
            <a:endParaRPr lang="en-US" sz="1800" dirty="0"/>
          </a:p>
          <a:p>
            <a:pPr marL="342900" indent="-342900" algn="l">
              <a:lnSpc>
                <a:spcPct val="142222"/>
              </a:lnSpc>
              <a:buSzPct val="100000"/>
              <a:buFont typeface="+mj-lt"/>
              <a:buAutoNum type="arabicPeriod" startAt="4"/>
              <a:tabLst>
                <a:tab pos="342900" algn="l"/>
              </a:tabLst>
            </a:pPr>
            <a:r>
              <a:rPr lang="en-US" sz="1800" dirty="0">
                <a:solidFill>
                  <a:srgbClr val="1A1A1A"/>
                </a:solidFill>
                <a:latin typeface="Georgia" pitchFamily="34" charset="0"/>
                <a:ea typeface="Georgia" pitchFamily="34" charset="-122"/>
                <a:cs typeface="Georgia" pitchFamily="34" charset="-120"/>
              </a:rPr>
              <a:t>Technoarete, Post Quantum Based Secure Email System, 2025.</a:t>
            </a:r>
            <a:endParaRPr lang="en-US" sz="1800" dirty="0"/>
          </a:p>
          <a:p>
            <a:pPr marL="342900" indent="-342900" algn="l">
              <a:lnSpc>
                <a:spcPct val="142222"/>
              </a:lnSpc>
              <a:buSzPct val="100000"/>
              <a:buFont typeface="+mj-lt"/>
              <a:buAutoNum type="arabicPeriod" startAt="5"/>
              <a:tabLst>
                <a:tab pos="342900" algn="l"/>
              </a:tabLst>
            </a:pPr>
            <a:r>
              <a:rPr lang="en-US" sz="1800" dirty="0">
                <a:solidFill>
                  <a:srgbClr val="1A1A1A"/>
                </a:solidFill>
                <a:latin typeface="Georgia" pitchFamily="34" charset="0"/>
                <a:ea typeface="Georgia" pitchFamily="34" charset="-122"/>
                <a:cs typeface="Georgia" pitchFamily="34" charset="-120"/>
              </a:rPr>
              <a:t>International Journal of Creative Research Thoughts (IJCRT), Secure Post Quantum Based Email System, 2025.</a:t>
            </a:r>
            <a:endParaRPr lang="en-US" sz="1800" dirty="0"/>
          </a:p>
          <a:p>
            <a:pPr marL="342900" indent="-342900" algn="l">
              <a:lnSpc>
                <a:spcPct val="142222"/>
              </a:lnSpc>
              <a:buSzPct val="100000"/>
              <a:buFont typeface="+mj-lt"/>
              <a:buAutoNum type="arabicPeriod" startAt="6"/>
              <a:tabLst>
                <a:tab pos="342900" algn="l"/>
              </a:tabLst>
            </a:pPr>
            <a:r>
              <a:rPr lang="en-US" sz="1800" dirty="0">
                <a:solidFill>
                  <a:srgbClr val="1A1A1A"/>
                </a:solidFill>
                <a:latin typeface="Georgia" pitchFamily="34" charset="0"/>
                <a:ea typeface="Georgia" pitchFamily="34" charset="-122"/>
                <a:cs typeface="Georgia" pitchFamily="34" charset="-120"/>
              </a:rPr>
              <a:t>IACR ePrint 2025/1668, Post-Quantum Cryptography in Practice: A Literature Review.</a:t>
            </a:r>
            <a:endParaRPr lang="en-US" sz="1800" dirty="0"/>
          </a:p>
          <a:p>
            <a:pPr marL="342900" indent="-342900" algn="l">
              <a:lnSpc>
                <a:spcPct val="142222"/>
              </a:lnSpc>
              <a:buSzPct val="100000"/>
              <a:buFont typeface="+mj-lt"/>
              <a:buAutoNum type="arabicPeriod" startAt="7"/>
              <a:tabLst>
                <a:tab pos="342900" algn="l"/>
              </a:tabLst>
            </a:pPr>
            <a:r>
              <a:rPr lang="en-US" sz="1800" dirty="0">
                <a:solidFill>
                  <a:srgbClr val="1A1A1A"/>
                </a:solidFill>
                <a:latin typeface="Georgia" pitchFamily="34" charset="0"/>
                <a:ea typeface="Georgia" pitchFamily="34" charset="-122"/>
                <a:cs typeface="Georgia" pitchFamily="34" charset="-120"/>
              </a:rPr>
              <a:t>Castryck &amp; Decru, An efficient key recovery attack on SIDH, 2022 (the SIKE break).</a:t>
            </a:r>
            <a:endParaRPr lang="en-US" sz="1800" dirty="0"/>
          </a:p>
          <a:p>
            <a:pPr marL="342900" indent="-342900" algn="l">
              <a:lnSpc>
                <a:spcPct val="142222"/>
              </a:lnSpc>
              <a:buSzPct val="100000"/>
              <a:buFont typeface="+mj-lt"/>
              <a:buAutoNum type="arabicPeriod" startAt="8"/>
              <a:tabLst>
                <a:tab pos="342900" algn="l"/>
              </a:tabLst>
            </a:pPr>
            <a:r>
              <a:rPr lang="en-US" sz="1800" dirty="0">
                <a:solidFill>
                  <a:srgbClr val="1A1A1A"/>
                </a:solidFill>
                <a:latin typeface="Georgia" pitchFamily="34" charset="0"/>
                <a:ea typeface="Georgia" pitchFamily="34" charset="-122"/>
                <a:cs typeface="Georgia" pitchFamily="34" charset="-120"/>
              </a:rPr>
              <a:t>Gidney &amp; Ekerå, How to factor 2048-bit RSA integers in 8 hours using 20 million noisy qubits, 2021.</a:t>
            </a:r>
            <a:endParaRPr lang="en-US" sz="1800" dirty="0"/>
          </a:p>
        </p:txBody>
      </p:sp>
      <p:sp>
        <p:nvSpPr>
          <p:cNvPr id="10" name="Shape 8"/>
          <p:cNvSpPr/>
          <p:nvPr/>
        </p:nvSpPr>
        <p:spPr>
          <a:xfrm>
            <a:off x="9448800" y="2855268"/>
            <a:ext cx="7848600" cy="19050"/>
          </a:xfrm>
          <a:prstGeom prst="rect">
            <a:avLst/>
          </a:prstGeom>
          <a:solidFill>
            <a:srgbClr val="7A1F2B"/>
          </a:solidFill>
          <a:ln/>
        </p:spPr>
        <p:txBody>
          <a:bodyPr/>
          <a:lstStyle/>
          <a:p>
            <a:endParaRPr lang="en-US"/>
          </a:p>
        </p:txBody>
      </p:sp>
      <p:sp>
        <p:nvSpPr>
          <p:cNvPr id="11" name="Text 9"/>
          <p:cNvSpPr/>
          <p:nvPr/>
        </p:nvSpPr>
        <p:spPr>
          <a:xfrm>
            <a:off x="9448800" y="2521893"/>
            <a:ext cx="8084058"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66" dirty="0">
                <a:solidFill>
                  <a:srgbClr val="591520"/>
                </a:solidFill>
                <a:latin typeface="Georgia" pitchFamily="34" charset="0"/>
                <a:ea typeface="Georgia" pitchFamily="34" charset="-122"/>
                <a:cs typeface="Georgia" pitchFamily="34" charset="-120"/>
              </a:rPr>
              <a:t>IMPLEMENTATION AND FEASIBILITY SOURCES</a:t>
            </a:r>
            <a:endParaRPr lang="en-US" sz="1650" dirty="0"/>
          </a:p>
        </p:txBody>
      </p:sp>
      <p:sp>
        <p:nvSpPr>
          <p:cNvPr id="12" name="Text 10"/>
          <p:cNvSpPr/>
          <p:nvPr/>
        </p:nvSpPr>
        <p:spPr>
          <a:xfrm>
            <a:off x="9357271" y="3026718"/>
            <a:ext cx="8016329" cy="2746474"/>
          </a:xfrm>
          <a:prstGeom prst="rect">
            <a:avLst/>
          </a:prstGeom>
          <a:noFill/>
          <a:ln/>
        </p:spPr>
        <p:txBody>
          <a:bodyPr wrap="square" lIns="25400" tIns="25400" rIns="25400" bIns="25400" rtlCol="0" anchor="t">
            <a:normAutofit/>
          </a:bodyPr>
          <a:lstStyle/>
          <a:p>
            <a:pPr marL="342900" indent="-342900" algn="l">
              <a:lnSpc>
                <a:spcPct val="142222"/>
              </a:lnSpc>
              <a:buSzPct val="100000"/>
              <a:buFont typeface="+mj-lt"/>
              <a:buAutoNum type="arabicPeriod"/>
              <a:tabLst>
                <a:tab pos="342900" algn="l"/>
              </a:tabLst>
            </a:pPr>
            <a:r>
              <a:rPr lang="en-US" sz="1800" dirty="0">
                <a:solidFill>
                  <a:srgbClr val="1A1A1A"/>
                </a:solidFill>
                <a:latin typeface="Georgia" pitchFamily="34" charset="0"/>
                <a:ea typeface="Georgia" pitchFamily="34" charset="-122"/>
                <a:cs typeface="Georgia" pitchFamily="34" charset="-120"/>
              </a:rPr>
              <a:t>Open Quantum Safe Project, liboqs and liboqs-js, Linux Foundation / PQCA, MIT License.</a:t>
            </a:r>
            <a:endParaRPr lang="en-US" sz="1800" dirty="0"/>
          </a:p>
          <a:p>
            <a:pPr marL="342900" indent="-342900" algn="l">
              <a:lnSpc>
                <a:spcPct val="142222"/>
              </a:lnSpc>
              <a:buSzPct val="100000"/>
              <a:buFont typeface="+mj-lt"/>
              <a:buAutoNum type="arabicPeriod" startAt="2"/>
              <a:tabLst>
                <a:tab pos="342900" algn="l"/>
              </a:tabLst>
            </a:pPr>
            <a:r>
              <a:rPr lang="en-US" sz="1800" dirty="0">
                <a:solidFill>
                  <a:srgbClr val="1A1A1A"/>
                </a:solidFill>
                <a:latin typeface="Georgia" pitchFamily="34" charset="0"/>
                <a:ea typeface="Georgia" pitchFamily="34" charset="-122"/>
                <a:cs typeface="Georgia" pitchFamily="34" charset="-120"/>
              </a:rPr>
              <a:t>CISA and NCSC (UK), guidance on harvest-now-decrypt-later and PQC migration planning.</a:t>
            </a:r>
            <a:endParaRPr lang="en-US" sz="1800" dirty="0"/>
          </a:p>
          <a:p>
            <a:pPr marL="342900" indent="-342900" algn="l">
              <a:lnSpc>
                <a:spcPct val="142222"/>
              </a:lnSpc>
              <a:buSzPct val="100000"/>
              <a:buFont typeface="+mj-lt"/>
              <a:buAutoNum type="arabicPeriod" startAt="3"/>
              <a:tabLst>
                <a:tab pos="342900" algn="l"/>
              </a:tabLst>
            </a:pPr>
            <a:r>
              <a:rPr lang="en-US" sz="1800" dirty="0">
                <a:solidFill>
                  <a:srgbClr val="1A1A1A"/>
                </a:solidFill>
                <a:latin typeface="Georgia" pitchFamily="34" charset="0"/>
                <a:ea typeface="Georgia" pitchFamily="34" charset="-122"/>
                <a:cs typeface="Georgia" pitchFamily="34" charset="-120"/>
              </a:rPr>
              <a:t>Supabase pricing and limits documentation.</a:t>
            </a:r>
            <a:endParaRPr lang="en-US" sz="1800" dirty="0"/>
          </a:p>
          <a:p>
            <a:pPr marL="342900" indent="-342900" algn="l">
              <a:lnSpc>
                <a:spcPct val="142222"/>
              </a:lnSpc>
              <a:buSzPct val="100000"/>
              <a:buFont typeface="+mj-lt"/>
              <a:buAutoNum type="arabicPeriod" startAt="4"/>
              <a:tabLst>
                <a:tab pos="342900" algn="l"/>
              </a:tabLst>
            </a:pPr>
            <a:r>
              <a:rPr lang="en-US" sz="1800" dirty="0">
                <a:solidFill>
                  <a:srgbClr val="1A1A1A"/>
                </a:solidFill>
                <a:latin typeface="Georgia" pitchFamily="34" charset="0"/>
                <a:ea typeface="Georgia" pitchFamily="34" charset="-122"/>
                <a:cs typeface="Georgia" pitchFamily="34" charset="-120"/>
              </a:rPr>
              <a:t>React Native 0.84 release notes (Hermes WASM support).</a:t>
            </a:r>
            <a:endParaRPr lang="en-US" sz="1800" dirty="0"/>
          </a:p>
        </p:txBody>
      </p:sp>
      <p:pic>
        <p:nvPicPr>
          <p:cNvPr id="13" name="Image 0" descr="preencoded.png"/>
          <p:cNvPicPr>
            <a:picLocks noChangeAspect="1"/>
          </p:cNvPicPr>
          <p:nvPr/>
        </p:nvPicPr>
        <p:blipFill>
          <a:blip r:embed="rId3"/>
          <a:stretch>
            <a:fillRect/>
          </a:stretch>
        </p:blipFill>
        <p:spPr>
          <a:xfrm>
            <a:off x="17068800" y="9801225"/>
            <a:ext cx="228600" cy="2571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2873</Words>
  <Application>Microsoft Office PowerPoint</Application>
  <PresentationFormat>Custom</PresentationFormat>
  <Paragraphs>278</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Georgia</vt:lpstr>
      <vt:lpstr>Inter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ROUNAK NEEMA - 70552300046</cp:lastModifiedBy>
  <cp:revision>3</cp:revision>
  <dcterms:created xsi:type="dcterms:W3CDTF">2026-08-07T09:48:40Z</dcterms:created>
  <dcterms:modified xsi:type="dcterms:W3CDTF">2026-08-08T09:06:04Z</dcterms:modified>
</cp:coreProperties>
</file>