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1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4" d="100"/>
          <a:sy n="114" d="100"/>
        </p:scale>
        <p:origin x="158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Start (offset, hidden)</c:v>
                </c:pt>
              </c:strCache>
            </c:strRef>
          </c:tx>
          <c:spPr>
            <a:solidFill>
              <a:srgbClr val="EEECE1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SCS Engine &amp; Unit Tests</c:v>
                </c:pt>
                <c:pt idx="1">
                  <c:v>Interceptor + Demo App</c:v>
                </c:pt>
                <c:pt idx="2">
                  <c:v>SecureReveal Vault</c:v>
                </c:pt>
                <c:pt idx="3">
                  <c:v>SecretLineage + K8s Check</c:v>
                </c:pt>
                <c:pt idx="4">
                  <c:v>Benchmarking vs. Gitleaks</c:v>
                </c:pt>
                <c:pt idx="5">
                  <c:v>Demo Polish &amp; Report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2</c:v>
                </c:pt>
                <c:pt idx="2">
                  <c:v>3.5</c:v>
                </c:pt>
                <c:pt idx="3">
                  <c:v>5</c:v>
                </c:pt>
                <c:pt idx="4">
                  <c:v>6.5</c:v>
                </c:pt>
                <c:pt idx="5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7B-A745-BDAB-D5B8A2499A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Duration (weeks)</c:v>
                </c:pt>
              </c:strCache>
            </c:strRef>
          </c:tx>
          <c:spPr>
            <a:solidFill>
              <a:srgbClr val="1F497D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SCS Engine &amp; Unit Tests</c:v>
                </c:pt>
                <c:pt idx="1">
                  <c:v>Interceptor + Demo App</c:v>
                </c:pt>
                <c:pt idx="2">
                  <c:v>SecureReveal Vault</c:v>
                </c:pt>
                <c:pt idx="3">
                  <c:v>SecretLineage + K8s Check</c:v>
                </c:pt>
                <c:pt idx="4">
                  <c:v>Benchmarking vs. Gitleaks</c:v>
                </c:pt>
                <c:pt idx="5">
                  <c:v>Demo Polish &amp; Report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</c:v>
                </c:pt>
                <c:pt idx="1">
                  <c:v>1.5</c:v>
                </c:pt>
                <c:pt idx="2">
                  <c:v>1.5</c:v>
                </c:pt>
                <c:pt idx="3">
                  <c:v>1.5</c:v>
                </c:pt>
                <c:pt idx="4">
                  <c:v>1.5</c:v>
                </c:pt>
                <c:pt idx="5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D7B-A745-BDAB-D5B8A2499A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A2A2A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.5"/>
          <c:min val="0"/>
        </c:scaling>
        <c:delete val="0"/>
        <c:axPos val="b"/>
        <c:majorGridlines>
          <c:spPr>
            <a:ln w="9525" cap="flat">
              <a:solidFill>
                <a:srgbClr val="D9D6C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b="0" i="0" u="none" strike="noStrike">
                    <a:solidFill>
                      <a:srgbClr val="000000"/>
                    </a:solidFill>
                    <a:latin typeface="Arial"/>
                  </a:rPr>
                  <a:t>Weeks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2A2A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0148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6" y="182880"/>
            <a:ext cx="9144000" cy="6858000"/>
          </a:xfrm>
          <a:prstGeom prst="rect">
            <a:avLst/>
          </a:prstGeom>
          <a:solidFill>
            <a:srgbClr val="EEECE1"/>
          </a:solidFill>
          <a:ln w="25400">
            <a:solidFill>
              <a:srgbClr val="1F49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7160" y="137160"/>
            <a:ext cx="8869680" cy="6583680"/>
          </a:xfrm>
          <a:prstGeom prst="rect">
            <a:avLst/>
          </a:prstGeom>
          <a:ln w="9525">
            <a:solidFill>
              <a:srgbClr val="1F49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877389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Presentation 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1275806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“LOGSHIELD”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1968137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B6B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Context-Aware Pre-Ingestion Secret Protection Framework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6B6B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Kubernetes Container Log Streams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26604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886" y="2953077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Prince Roy (E257)</a:t>
            </a:r>
            <a:endParaRPr lang="en-US" sz="15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Arnab Chowdhury (E232)</a:t>
            </a:r>
            <a:endParaRPr lang="en-US" sz="15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Rounak Neema (E244)</a:t>
            </a:r>
          </a:p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Manas Sandeep Borse (E257)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0" y="4224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 the Guidance of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0" y="449405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Dr. Rudrani Ingale</a:t>
            </a:r>
            <a:endParaRPr lang="en-US" sz="1500" u="sng" dirty="0"/>
          </a:p>
        </p:txBody>
      </p:sp>
      <p:pic>
        <p:nvPicPr>
          <p:cNvPr id="11" name="Image 0" descr="nmim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4892040"/>
            <a:ext cx="1188720" cy="9601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0" y="598932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MPSTME, Shirpur Campus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2026-27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4124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C3B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PHASE 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 of Project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Survey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Solution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Software and Hardware Requirements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Development Timeline (Gantt Chart)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LogShield — Phase 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C3B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 OF PROJECT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Primary Objective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046720" cy="1737360"/>
          </a:xfrm>
          <a:prstGeom prst="roundRect">
            <a:avLst>
              <a:gd name="adj" fmla="val 4211"/>
            </a:avLst>
          </a:prstGeom>
          <a:solidFill>
            <a:srgbClr val="F7F6EF"/>
          </a:solidFill>
          <a:ln w="12700">
            <a:solidFill>
              <a:srgbClr val="D9D6C6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737360"/>
            <a:ext cx="7406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i="1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design and evaluate a runtime framework that intercepts application log messages before they leave a container, detects accidentally-logged credentials using a multi-factor confidence score, and prevents them from ever reaching a centralized logging platform - while still preserving a controlled, audited path to recover a value if a genuine investigation requires it.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520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this objective matters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Credential leakage through debug logging is a persistent, well-documented cause of real-world breaches, not a hypothetical risk.</a:t>
            </a:r>
            <a:endParaRPr lang="en-US" sz="1500" dirty="0"/>
          </a:p>
          <a:p>
            <a:pPr marL="342900" indent="-342900" algn="just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Once a secret reaches a log aggregator it is copied into buffers, indexes, exports, and backups - deletion after discovery cannot undo the exposure window.</a:t>
            </a:r>
            <a:endParaRPr lang="en-US" sz="1500" dirty="0"/>
          </a:p>
          <a:p>
            <a:pPr marL="342900" indent="-342900" algn="just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tools each protect one stage of the pipeline (code, storage, or vault) - none protect the exact moment of egress from the application itself.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LogShield — Phase 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4124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C3B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 OF PROJECT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Specific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a multi-factor Secret Confidence Score (SCS) that combines regex, entropy, variable-name proximity, token structure, log context, and encoding signals into one measurable score.</a:t>
            </a:r>
            <a:endParaRPr lang="en-US" sz="1550" dirty="0"/>
          </a:p>
          <a:p>
            <a:pPr marL="342900" indent="-342900" algn="just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a pod-level interceptor that reads raw log lines before the log shipper does, with no network dependency for the masking decision itself.</a:t>
            </a:r>
            <a:endParaRPr lang="en-US" sz="1550" dirty="0"/>
          </a:p>
          <a:p>
            <a:pPr marL="342900" indent="-342900" algn="just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 an encrypted vault (SecureReveal) that stores masked values under a reference ID, with role-gated, fully audited retrieval and configurable retention.</a:t>
            </a:r>
            <a:endParaRPr lang="en-US" sz="1550" dirty="0"/>
          </a:p>
          <a:p>
            <a:pPr marL="342900" indent="-342900" algn="just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 a privacy-preserving fingerprinting layer (SecretLineage) that tracks credential reuse across pods and namespaces without ever storing plaintext.</a:t>
            </a:r>
            <a:endParaRPr lang="en-US" sz="1550" dirty="0"/>
          </a:p>
          <a:p>
            <a:pPr marL="342900" indent="-342900" algn="just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Benchmark the framework's precision, recall, F1-score, and per-line latency against an established static baseline (Gitleaks) on a labeled dataset.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LogShield — Phase 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C3B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 OF PROJECT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Outcomes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874520" cy="3566160"/>
          </a:xfrm>
          <a:prstGeom prst="roundRect">
            <a:avLst>
              <a:gd name="adj" fmla="val 3902"/>
            </a:avLst>
          </a:prstGeom>
          <a:solidFill>
            <a:srgbClr val="F7F6EF"/>
          </a:solidFill>
          <a:ln w="12700">
            <a:solidFill>
              <a:srgbClr val="D9D6C6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17830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Detection quality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16459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High-precision masking with a demonstrably low false-mask rate compared to single-factor baselines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42032" y="1645920"/>
            <a:ext cx="1874520" cy="3566160"/>
          </a:xfrm>
          <a:prstGeom prst="roundRect">
            <a:avLst>
              <a:gd name="adj" fmla="val 3902"/>
            </a:avLst>
          </a:prstGeom>
          <a:solidFill>
            <a:srgbClr val="F7F6EF"/>
          </a:solidFill>
          <a:ln w="12700">
            <a:solidFill>
              <a:srgbClr val="D9D6C6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51760" y="17830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Operational safety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51760" y="2606040"/>
            <a:ext cx="16459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Zero secrets reach the log backend during controlled demonstration scenarios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35424" y="1645920"/>
            <a:ext cx="1874520" cy="3566160"/>
          </a:xfrm>
          <a:prstGeom prst="roundRect">
            <a:avLst>
              <a:gd name="adj" fmla="val 3902"/>
            </a:avLst>
          </a:prstGeom>
          <a:solidFill>
            <a:srgbClr val="F7F6EF"/>
          </a:solidFill>
          <a:ln w="12700">
            <a:solidFill>
              <a:srgbClr val="D9D6C6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45152" y="17830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Recoverability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45152" y="2606040"/>
            <a:ext cx="16459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working, audited retrieval path — nothing is destroyed irreversibly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28816" y="1645920"/>
            <a:ext cx="1874520" cy="3566160"/>
          </a:xfrm>
          <a:prstGeom prst="roundRect">
            <a:avLst>
              <a:gd name="adj" fmla="val 3902"/>
            </a:avLst>
          </a:prstGeom>
          <a:solidFill>
            <a:srgbClr val="F7F6EF"/>
          </a:solidFill>
          <a:ln w="12700">
            <a:solidFill>
              <a:srgbClr val="D9D6C6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38544" y="17830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Governance visibility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38544" y="2606040"/>
            <a:ext cx="16459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ranked secret-sprawl report showing reused, unregistered, or long-lived credentials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" y="5239512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Success is measured, not assumed — every outcome above maps to a metric captured during evaluation (Slide: Software &amp; Hardware Requirements → benchmarking plan).</a:t>
            </a:r>
            <a:endParaRPr lang="en-US" sz="1300" b="1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LogShield — Phase 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124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C3B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SURVEY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Survey Scope and Methodology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Reviewed two categories of prior work: (1) established industry tools currently used for secret protection, and (2) peer-reviewed / archival research on secret detection and leakage.</a:t>
            </a:r>
            <a:endParaRPr lang="en-US" sz="1600" dirty="0"/>
          </a:p>
          <a:p>
            <a:pPr marL="342900" indent="-342900" algn="just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Tools were evaluated on where in the pipeline they operate before deployment (source code), after collection (log backend), or at storage (vault).</a:t>
            </a:r>
            <a:endParaRPr lang="en-US" sz="1600" dirty="0"/>
          </a:p>
          <a:p>
            <a:pPr marL="342900" indent="-342900" algn="just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papers were evaluated on detection technique, evaluation methodology, and whether they address runtime log streams specifically as opposed to static source code.</a:t>
            </a:r>
            <a:endParaRPr lang="en-US" sz="1600" dirty="0"/>
          </a:p>
          <a:p>
            <a:pPr marL="342900" indent="-342900" algn="just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survey deliberately looked for the gap: is there any prior system that unifies detection, recovery, and lineage tracking at the point of log egress?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LogShield — Phase 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C3B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SURVEY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Industry Tools Reviewed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846849"/>
              </p:ext>
            </p:extLst>
          </p:nvPr>
        </p:nvGraphicFramePr>
        <p:xfrm>
          <a:off x="548640" y="1537499"/>
          <a:ext cx="8229600" cy="4029891"/>
        </p:xfrm>
        <a:graphic>
          <a:graphicData uri="http://schemas.openxmlformats.org/drawingml/2006/table">
            <a:tbl>
              <a:tblPr lastRow="1"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3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Tools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Where it operates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Limitation for this problem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Gitleaks / TruffleHog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Git history, pre-commit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Static only — cannot see secrets generated at runtime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GitHub Secret Scanning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Pushed commits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Same limitation — source code, not live logs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Datadog Sensitive Data Scanner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After ingestion into Datadog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Secret has already left the application by the time it runs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AWS CloudWatch Logs data protection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After logs reach CloudWatch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Masks on read/export — the raw value was already stored once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HashiCorp Vault / AWS Secrets Manager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Storage for intentional secrets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Assumes a secret was never accidentally printed in the first place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LogShield — Phase I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4124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C3B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SURVEY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Research Literature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8551293"/>
              </p:ext>
            </p:extLst>
          </p:nvPr>
        </p:nvGraphicFramePr>
        <p:xfrm>
          <a:off x="548640" y="1756954"/>
          <a:ext cx="8229600" cy="3755571"/>
        </p:xfrm>
        <a:graphic>
          <a:graphicData uri="http://schemas.openxmlformats.org/drawingml/2006/table">
            <a:tbl>
              <a:tblPr lastRow="1"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3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Source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Contribution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Gap relative to this project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Meli et al., “How Bad Can It Git?”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Foundational study of secret leakage in public Git repositories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Scope limited to committed source code, not live application logs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Basak et al., arXiv:2307.00714 (ESEM 2023)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Comparative precision/recall study of existing secret-detection tools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Establishes the precision/recall gap this project's SCS model targets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arXiv:2410.23657 (MSR 2026)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LLM-based secret leak detection in software issue reports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Different input medium (issue text), not streaming runtime logs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GitGuardian, confidence scorer (2024)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Multi-factor confidence scoring for static GitHub scanning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Same scoring philosophy, applied only to static code — this project applies a superset of factors to the live log-stream context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LogShield — Phase I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4124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C3B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SURVEY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Gap Identified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046720" cy="4206240"/>
          </a:xfrm>
          <a:prstGeom prst="roundRect">
            <a:avLst>
              <a:gd name="adj" fmla="val 1739"/>
            </a:avLst>
          </a:prstGeom>
          <a:solidFill>
            <a:srgbClr val="F7F6EF"/>
          </a:solidFill>
          <a:ln w="12700">
            <a:solidFill>
              <a:srgbClr val="D9D6C6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7406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55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reviewed tool or paper protects sensitive data at the point of log egress from a running container. Every existing approach operates either strictly before deployment (static code) or strictly after the value has already left the application (post-ingestion scanning, storage vaults). Confidence-scoring techniques exist, but only for static code review — none have been formally applied, measured, and evaluated in the live, streaming, low-latency context of container log output.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68680" y="3931920"/>
            <a:ext cx="7406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8C3B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project's contribution is therefore not a new detection algorithm, but a new architectural placement for existing techniques — plus the recovery and lineage layers that placement makes possible.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LogShield — Phase 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C3B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Developers routinely print environment variables, request bodies, and configuration dumps to logs while debugging - a normal and necessary practice.</a:t>
            </a:r>
            <a:endParaRPr lang="en-US" sz="1650" dirty="0"/>
          </a:p>
          <a:p>
            <a:pPr marL="342900" indent="-342900" algn="just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debugging output frequently includes DATABASE_PASSWORD, AWS_SECRET_ACCESS_KEY, JWT_SECRET, and similar values, printed unintentionally.</a:t>
            </a:r>
            <a:endParaRPr lang="en-US" sz="1650" dirty="0"/>
          </a:p>
          <a:p>
            <a:pPr marL="342900" indent="-342900" algn="just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log lines are automatically forwarded to centralized platforms (Grafana, CloudWatch, Elasticsearch) and may remain accessible for months or years.</a:t>
            </a:r>
            <a:endParaRPr lang="en-US" sz="1650" dirty="0"/>
          </a:p>
          <a:p>
            <a:pPr marL="342900" indent="-342900" algn="just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Once a secret reaches the logging platform, it may already exist in dashboards, exports, replicas, and backups the original team does not fully control.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7F6EF"/>
          </a:solidFill>
          <a:ln w="12700">
            <a:solidFill>
              <a:srgbClr val="D9D6C6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55321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question: how can sensitive information be protected before it ever leaves the application?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LogShield — Phase 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C3B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Existing Approaches Fall Short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7F6EF"/>
          </a:solidFill>
          <a:ln w="12700">
            <a:solidFill>
              <a:srgbClr val="D9D6C6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C3B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Before Deployment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2240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Source-code scanners (Gitleaks) catch hardcoded secrets but cannot see values generated only at runtime.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46120" y="160020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7F6EF"/>
          </a:solidFill>
          <a:ln w="12700">
            <a:solidFill>
              <a:srgbClr val="D9D6C6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83280" y="17830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C3B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After Collection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383280" y="2286000"/>
            <a:ext cx="2240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Log-platform scanners (Datadog, CloudWatch) run after the secret has already reached and been stored by the backend.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0" y="160020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7F6EF"/>
          </a:solidFill>
          <a:ln w="12700">
            <a:solidFill>
              <a:srgbClr val="D9D6C6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80760" y="17830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C3B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Storage-Only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80760" y="2286000"/>
            <a:ext cx="2240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Vaults (HashiCorp Vault) protect secrets deliberately placed there — not values that leaked into stdout by accident.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994660" y="2971800"/>
            <a:ext cx="320040" cy="274320"/>
          </a:xfrm>
          <a:prstGeom prst="rightArrow">
            <a:avLst/>
          </a:prstGeom>
          <a:solidFill>
            <a:srgbClr val="1F49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701061" y="2971800"/>
            <a:ext cx="320040" cy="274320"/>
          </a:xfrm>
          <a:prstGeom prst="rightArrow">
            <a:avLst/>
          </a:prstGeom>
          <a:solidFill>
            <a:srgbClr val="1F49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5010912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i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existing approach protects a different stage — none protect the moment the log line is actually written.</a:t>
            </a:r>
            <a:endParaRPr lang="en-US" sz="1450" b="1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LogShield — Phase 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124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C3B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Formal 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8046720" cy="1828800"/>
          </a:xfrm>
          <a:prstGeom prst="roundRect">
            <a:avLst>
              <a:gd name="adj" fmla="val 4000"/>
            </a:avLst>
          </a:prstGeom>
          <a:solidFill>
            <a:srgbClr val="F7F6EF"/>
          </a:solidFill>
          <a:ln w="12700">
            <a:solidFill>
              <a:srgbClr val="D9D6C6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7498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i="1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There is currently no framework that intercepts sensitive information at the pod-level trust boundary - before it reaches the log shipper - while also providing controlled recovery and cross-service reuse visibility for the values it protects.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703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Question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50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what extent does a multi-factor Secret Confidence Score, applied at the pod-level log interception boundary, improve precision and recall of secret detection in live container log streams compared to single-factor baseline approaches - and what is the latency cost of that improvement?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LogShield — Phase 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4124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C3B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7F6EF"/>
          </a:solidFill>
          <a:ln w="12700">
            <a:solidFill>
              <a:srgbClr val="D9D6C6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Container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487168" y="1874520"/>
            <a:ext cx="365760" cy="274320"/>
          </a:xfrm>
          <a:prstGeom prst="rightArrow">
            <a:avLst/>
          </a:prstGeom>
          <a:solidFill>
            <a:srgbClr val="1F49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71800" y="1280160"/>
            <a:ext cx="32918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71800" y="1371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LogShield Sidecar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154680" y="1783080"/>
            <a:ext cx="2926080" cy="566928"/>
          </a:xfrm>
          <a:prstGeom prst="roundRect">
            <a:avLst>
              <a:gd name="adj" fmla="val 12903"/>
            </a:avLst>
          </a:prstGeom>
          <a:solidFill>
            <a:srgbClr val="F7F6EF"/>
          </a:solidFill>
          <a:ln w="12700">
            <a:solidFill>
              <a:srgbClr val="D9D6C6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154680" y="178308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LogMask (SCS engine)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54680" y="2496312"/>
            <a:ext cx="2926080" cy="566928"/>
          </a:xfrm>
          <a:prstGeom prst="roundRect">
            <a:avLst>
              <a:gd name="adj" fmla="val 12903"/>
            </a:avLst>
          </a:prstGeom>
          <a:solidFill>
            <a:srgbClr val="F7F6EF"/>
          </a:solidFill>
          <a:ln w="12700">
            <a:solidFill>
              <a:srgbClr val="D9D6C6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54680" y="2496312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SecureReveal (vault)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154680" y="3209544"/>
            <a:ext cx="2926080" cy="566928"/>
          </a:xfrm>
          <a:prstGeom prst="roundRect">
            <a:avLst>
              <a:gd name="adj" fmla="val 12903"/>
            </a:avLst>
          </a:prstGeom>
          <a:solidFill>
            <a:srgbClr val="F7F6EF"/>
          </a:solidFill>
          <a:ln w="12700">
            <a:solidFill>
              <a:srgbClr val="D9D6C6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154680" y="3209544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SecretLineage (fingerprint)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73368" y="1874520"/>
            <a:ext cx="365760" cy="274320"/>
          </a:xfrm>
          <a:prstGeom prst="rightArrow">
            <a:avLst/>
          </a:prstGeom>
          <a:solidFill>
            <a:srgbClr val="1F49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858000" y="15544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7F6EF"/>
          </a:solidFill>
          <a:ln w="12700">
            <a:solidFill>
              <a:srgbClr val="D9D6C6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0" y="1554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Fluent Bit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(shipper)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589520" y="2542032"/>
            <a:ext cx="320040" cy="365760"/>
          </a:xfrm>
          <a:prstGeom prst="downArrow">
            <a:avLst/>
          </a:prstGeom>
          <a:solidFill>
            <a:srgbClr val="1F49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46520" y="2944368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F7F6EF"/>
          </a:solidFill>
          <a:ln w="12700">
            <a:solidFill>
              <a:srgbClr val="D9D6C6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92732" y="2944368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Grafana / CloudWatch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Elasticsearch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20624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Interception happens inside the pod, over a shared-volume named pipe - never a network hop - so masking never depends on network availability.</a:t>
            </a:r>
            <a:endParaRPr lang="en-US" sz="1450" dirty="0"/>
          </a:p>
          <a:p>
            <a:pPr marL="342900" indent="-342900" algn="just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Only the sanitized line ever reaches Fluent Bit; the raw value is never transmitted outside the pod boundary.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LogShield — Phase 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124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C3B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1 — LogMask (Detection Engine)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candidate token extracted from a log line is scored by six independent, weighted factors, combined into one Secret Confidence Score (SCS, 0–100).</a:t>
            </a:r>
            <a:endParaRPr lang="en-US" sz="1450" dirty="0"/>
          </a:p>
          <a:p>
            <a:pPr marL="342900" indent="-342900" algn="just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Regex pattern match (known credential formats: AWS keys, JWTs, PEM blocks)</a:t>
            </a:r>
            <a:endParaRPr lang="en-US" sz="1450" dirty="0"/>
          </a:p>
          <a:p>
            <a:pPr marL="342900" indent="-342900" algn="just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Shannon entropy (distinguishes random keys from readable text)</a:t>
            </a:r>
            <a:endParaRPr lang="en-US" sz="1450" dirty="0"/>
          </a:p>
          <a:p>
            <a:pPr marL="342900" indent="-342900" algn="just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Variable-name proximity (PASSWORD=, API_KEY= score higher than ORDER_ID=)</a:t>
            </a:r>
            <a:endParaRPr lang="en-US" sz="1450" dirty="0"/>
          </a:p>
          <a:p>
            <a:pPr marL="342900" indent="-342900" algn="just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Token structure (hex blobs, bcrypt-style prefixes)</a:t>
            </a:r>
            <a:endParaRPr lang="en-US" sz="1450" dirty="0"/>
          </a:p>
          <a:p>
            <a:pPr marL="342900" indent="-342900" algn="just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Log-line context (DEBUG level, presence of "dump"/"config"/"env")</a:t>
            </a:r>
            <a:endParaRPr lang="en-US" sz="1450" dirty="0"/>
          </a:p>
          <a:p>
            <a:pPr marL="342900" indent="-342900" algn="just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Encoding indicators (decodable Base64 of meaningful length)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349240"/>
            <a:ext cx="8046720" cy="960120"/>
          </a:xfrm>
          <a:prstGeom prst="roundRect">
            <a:avLst>
              <a:gd name="adj" fmla="val 7619"/>
            </a:avLst>
          </a:prstGeom>
          <a:solidFill>
            <a:srgbClr val="F7F6EF"/>
          </a:solidFill>
          <a:ln w="12700">
            <a:solidFill>
              <a:srgbClr val="D9D6C6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548640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Policy: SCS ≥ 80 → mask.  SCS 50–79 → flag (kept visible, logged for audit).  SCS &lt; 50 → pass through unchanged.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LogShield — Phase 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C3B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2 — SecureReveal (Vault &amp; Recovery)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masked value is never destroyed - it is encrypted and stored under a unique reference ID (e.g. SEC-001284), and only the reference appears in the log.</a:t>
            </a:r>
            <a:endParaRPr lang="en-US" sz="1550" dirty="0"/>
          </a:p>
          <a:p>
            <a:pPr marL="342900" indent="-342900" algn="just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Retrieval requires authentication, an authorization check (deferred to existing RBAC - this project does not reinvent identity), and a stated reason.</a:t>
            </a:r>
            <a:endParaRPr lang="en-US" sz="1550" dirty="0"/>
          </a:p>
          <a:p>
            <a:pPr marL="342900" indent="-342900" algn="just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retrieval attempt - successful or denied - is written to an audit log before the authorization check runs, so denials remain traceable.</a:t>
            </a:r>
            <a:endParaRPr lang="en-US" sz="1550" dirty="0"/>
          </a:p>
          <a:p>
            <a:pPr marL="342900" indent="-342900" algn="just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Values expire automatically after a configurable retention period (default 30 days), so nothing is retained indefinitely by default.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5349240"/>
            <a:ext cx="8046720" cy="960120"/>
          </a:xfrm>
          <a:prstGeom prst="roundRect">
            <a:avLst>
              <a:gd name="adj" fmla="val 7619"/>
            </a:avLst>
          </a:prstGeom>
          <a:solidFill>
            <a:srgbClr val="F7F6EF"/>
          </a:solidFill>
          <a:ln w="12700">
            <a:solidFill>
              <a:srgbClr val="D9D6C6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548640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8C3B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principle: recoverable-but-governed, not permanently deleted and not silently readable.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LogShield — Phase 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C3B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3 — SecretLineage (Reuse Tracking)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detected secret is fingerprinted with a keyed HMAC-SHA256 - the lineage store never contains the plaintext value or a reversible hash.</a:t>
            </a:r>
            <a:endParaRPr lang="en-US" sz="1550" dirty="0"/>
          </a:p>
          <a:p>
            <a:pPr marL="342900" indent="-342900" algn="just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Fingerprints are compared across pods and namespaces to detect the same credential appearing in multiple places ("secret sprawl").</a:t>
            </a:r>
            <a:endParaRPr lang="en-US" sz="1550" dirty="0"/>
          </a:p>
          <a:p>
            <a:pPr marL="342900" indent="-342900" algn="just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detected credential is cross-checked against the Kubernetes Secret API to flag whether it is a managed, registered Secret or an orphaned, hardcoded value.</a:t>
            </a:r>
            <a:endParaRPr lang="en-US" sz="1550" dirty="0"/>
          </a:p>
          <a:p>
            <a:pPr marL="342900" indent="-342900" algn="just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is a ranked Secret Sprawl Report: risk = pod-count × credential-age × (unregistered penalty).</a:t>
            </a:r>
            <a:endParaRPr lang="en-US" sz="155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1D9B589-4921-6868-71C6-618127AD078E}"/>
              </a:ext>
            </a:extLst>
          </p:cNvPr>
          <p:cNvGrpSpPr/>
          <p:nvPr/>
        </p:nvGrpSpPr>
        <p:grpSpPr>
          <a:xfrm>
            <a:off x="548640" y="4489704"/>
            <a:ext cx="8046720" cy="960120"/>
            <a:chOff x="548640" y="5349240"/>
            <a:chExt cx="8046720" cy="960120"/>
          </a:xfrm>
        </p:grpSpPr>
        <p:sp>
          <p:nvSpPr>
            <p:cNvPr id="5" name="Shape 3"/>
            <p:cNvSpPr/>
            <p:nvPr/>
          </p:nvSpPr>
          <p:spPr>
            <a:xfrm>
              <a:off x="548640" y="5349240"/>
              <a:ext cx="8046720" cy="960120"/>
            </a:xfrm>
            <a:prstGeom prst="roundRect">
              <a:avLst>
                <a:gd name="adj" fmla="val 7619"/>
              </a:avLst>
            </a:prstGeom>
            <a:solidFill>
              <a:srgbClr val="F7F6EF"/>
            </a:solidFill>
            <a:ln w="12700">
              <a:solidFill>
                <a:srgbClr val="D9D6C6"/>
              </a:solidFill>
              <a:prstDash val="solid"/>
            </a:ln>
            <a:effectLst>
              <a:outerShdw blurRad="76200" dist="25400" dir="5400000" algn="bl" rotWithShape="0">
                <a:srgbClr val="000000">
                  <a:alpha val="15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777240" y="5486400"/>
              <a:ext cx="7589520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50" b="1" i="1" dirty="0"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Example finding: a database password seen in 8 pods, unregistered, first seen 340 days ago → flagged Critical.</a:t>
              </a:r>
              <a:endParaRPr lang="en-US" sz="1350" b="1" dirty="0"/>
            </a:p>
          </p:txBody>
        </p:sp>
      </p:grpSp>
      <p:sp>
        <p:nvSpPr>
          <p:cNvPr id="7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LogShield — Phase 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E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C3B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This Approach, Specifically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4417276"/>
              </p:ext>
            </p:extLst>
          </p:nvPr>
        </p:nvGraphicFramePr>
        <p:xfrm>
          <a:off x="548640" y="1642574"/>
          <a:ext cx="8229600" cy="4111455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8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Common mistake in existing tools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How LogShield avoids it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Regex-only or entropy-only detection → high false positives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Six weighted factors must agree; no single signal is a standalone gate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Protection applied after the secret already left the app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Interception happens inside the pod, before the shipper ever sees the line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Binary mask/no-mask decision destroys debugging value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 middle FLAG tier (SCS 50–79) preserves the line while still auditing it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Permanent, irreversible deletion of the value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Encrypted, TTL-bound, audited recovery via SecureReveal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 visibility into whether a secret is reused or legitimate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SecretLineage cross-references the Kubernetes Secret registry directly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LogShield — Phase I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4124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E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C3B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REQUIREMENTS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Software Requirements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8192754"/>
              </p:ext>
            </p:extLst>
          </p:nvPr>
        </p:nvGraphicFramePr>
        <p:xfrm>
          <a:off x="457200" y="1326995"/>
          <a:ext cx="8229600" cy="5063546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49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Category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Choice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Purpose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Sidecar language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Python 3.11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SCS engine, interceptor, vault, lineage tracker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Container orchestration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Kubernetes (Minikube / Kind for development)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Pod/sidecar deployment, Secret registry lookup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Log shipper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Fluent Bit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Forwards sanitized lines to the log backend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Encryption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`cryptography` (Fernet, AES-128-CBC + HMAC)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SecureReveal vault encryption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Storage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SQLite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Lightweight vault and lineage storage, no external dependency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Log backend (demo)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Grafana + Loki, or Elasticsearch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Visualize masked vs. unmasked logs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Baseline comparison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Gitleaks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Precision/recall benchmark against an established tool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Demo environment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Docker Compose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Reproducible local demonstration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LogShield — Phase I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4124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E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C3B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REQUIREMENTS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Hardware Requirements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4169731"/>
              </p:ext>
            </p:extLst>
          </p:nvPr>
        </p:nvGraphicFramePr>
        <p:xfrm>
          <a:off x="548640" y="1485565"/>
          <a:ext cx="8229600" cy="3630837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18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Environment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Minimum Specification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Development machine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Quad-core CPU, 16 GB RAM, 20 GB free disk (runs Minikube + Docker Compose comfortably)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Kubernetes cluster (demo)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3-node local cluster; 2 vCPU / 4 GB RAM per node is sufficient for the sidecar workload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Benchmarking runs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Same development machine; no GPU required — SCS scoring is CPU-bound, lightweight arithmetic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Network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 external network dependency for the core masking path (by design) — internet access needed only for image pulls and the Kubernetes API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5120639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i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specialized hardware is required - this keeps the project fully reproducible on a standard student laptops.</a:t>
            </a:r>
            <a:endParaRPr lang="en-US" sz="1350" b="1" dirty="0"/>
          </a:p>
        </p:txBody>
      </p:sp>
      <p:sp>
        <p:nvSpPr>
          <p:cNvPr id="6" name="Text 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LogShield — Phase I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4124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E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C3B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TIMELINE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Development Timeline (Gantt Chart)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17320"/>
          <a:ext cx="822960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LogShield — Phase I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4124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E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C3B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TIMELINE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Milestones and Deliverables</a:t>
            </a:r>
            <a:endParaRPr lang="en-US" sz="2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3622964"/>
              </p:ext>
            </p:extLst>
          </p:nvPr>
        </p:nvGraphicFramePr>
        <p:xfrm>
          <a:off x="457200" y="1463040"/>
          <a:ext cx="8229600" cy="456977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49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Week(s)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Milestone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Deliverable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1–2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SCS engine complete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Scoring module passing unit tests on a hand-labeled log set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2–3.5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End-to-end interception working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Demo app + sidecar masking secrets live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3.5–5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Recovery path working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SecureReveal vault + CLI retrieval with audit logging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5–6.5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Lineage tracking working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Secret Sprawl Report generated from a multi-pod test run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6.5–8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Evaluation complete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Precision/recall/F1/latency results vs. Gitleaks baseline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8–9.5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Final delivery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Polished demo, Phase-I report, and this presentation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LogShield — Phase I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4124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E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C3B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Meli, M., McNiece, M. R., &amp; Reaves, B. "How Bad Can It Git? Characterizing Secret Leakage in Public GitHub Repositories." NDSS, 2019.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Basak, S., et al. "A Comparative Study of Software Secrets Reporting by Secret Detection Tools." arXiv:2307.00714, ESEM 2023.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"Secret Leak Detection in Software Issue Reports using LLMs." arXiv:2410.23657, MSR 2026.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GitGuardian. "Good Samaritan Confidence Scorer" — confidence scoring methodology for static secret scanning, 2024.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CVE-2025-12969 — Fluent Bit `in_forward` authentication bypass, published Nov 2025.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CVE-2025-12978 — Fluent Bit tag-manipulation / record-routing flaw, published Nov 2025.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GitGuardian. State of Secrets Sprawl Report, 2026 edition.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LogShield — Phase 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2398</Words>
  <Application>Microsoft Macintosh PowerPoint</Application>
  <PresentationFormat>On-screen Show (4:3)</PresentationFormat>
  <Paragraphs>310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MANAS SANDEEP BORSE - 70552300059</cp:lastModifiedBy>
  <cp:revision>2</cp:revision>
  <dcterms:created xsi:type="dcterms:W3CDTF">2026-08-06T20:23:52Z</dcterms:created>
  <dcterms:modified xsi:type="dcterms:W3CDTF">2026-08-07T06:21:27Z</dcterms:modified>
</cp:coreProperties>
</file>